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577" r:id="rId5"/>
    <p:sldId id="323" r:id="rId6"/>
    <p:sldId id="565" r:id="rId7"/>
    <p:sldId id="551" r:id="rId8"/>
    <p:sldId id="554" r:id="rId9"/>
    <p:sldId id="572" r:id="rId10"/>
    <p:sldId id="289" r:id="rId11"/>
    <p:sldId id="573" r:id="rId12"/>
    <p:sldId id="541" r:id="rId13"/>
    <p:sldId id="271" r:id="rId14"/>
    <p:sldId id="569" r:id="rId15"/>
    <p:sldId id="578" r:id="rId16"/>
    <p:sldId id="568" r:id="rId17"/>
    <p:sldId id="273" r:id="rId18"/>
    <p:sldId id="550" r:id="rId19"/>
    <p:sldId id="547" r:id="rId20"/>
    <p:sldId id="320" r:id="rId21"/>
    <p:sldId id="291" r:id="rId22"/>
    <p:sldId id="575" r:id="rId23"/>
    <p:sldId id="552" r:id="rId24"/>
    <p:sldId id="576" r:id="rId25"/>
    <p:sldId id="564" r:id="rId26"/>
    <p:sldId id="563" r:id="rId27"/>
    <p:sldId id="256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49A"/>
    <a:srgbClr val="E94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3F0C6-4336-4E01-815F-4DB5BCF65B13}" v="2" dt="2026-10-05T19:12:35.287"/>
    <p1510:client id="{CE710984-1B2E-414E-8582-F7CE2A7AC539}" v="6" dt="2026-10-05T19:41:23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Stüker" userId="d009d297cc9197ea" providerId="LiveId" clId="{3F8D13FA-782D-46A8-9A20-0EDD290AD0B4}"/>
    <pc:docChg chg="undo redo custSel addSld delSld modSld sldOrd">
      <pc:chgData name="Vitor Stüker" userId="d009d297cc9197ea" providerId="LiveId" clId="{3F8D13FA-782D-46A8-9A20-0EDD290AD0B4}" dt="2026-10-05T19:46:51.481" v="209" actId="20577"/>
      <pc:docMkLst>
        <pc:docMk/>
      </pc:docMkLst>
      <pc:sldChg chg="add del">
        <pc:chgData name="Vitor Stüker" userId="d009d297cc9197ea" providerId="LiveId" clId="{3F8D13FA-782D-46A8-9A20-0EDD290AD0B4}" dt="2026-10-05T19:12:35.284" v="117"/>
        <pc:sldMkLst>
          <pc:docMk/>
          <pc:sldMk cId="3382422540" sldId="256"/>
        </pc:sldMkLst>
      </pc:sldChg>
      <pc:sldChg chg="modSp mod">
        <pc:chgData name="Vitor Stüker" userId="d009d297cc9197ea" providerId="LiveId" clId="{3F8D13FA-782D-46A8-9A20-0EDD290AD0B4}" dt="2026-10-05T19:26:06.095" v="142" actId="20577"/>
        <pc:sldMkLst>
          <pc:docMk/>
          <pc:sldMk cId="1784980829" sldId="289"/>
        </pc:sldMkLst>
        <pc:spChg chg="mod">
          <ac:chgData name="Vitor Stüker" userId="d009d297cc9197ea" providerId="LiveId" clId="{3F8D13FA-782D-46A8-9A20-0EDD290AD0B4}" dt="2026-10-05T19:26:06.095" v="142" actId="20577"/>
          <ac:spMkLst>
            <pc:docMk/>
            <pc:sldMk cId="1784980829" sldId="289"/>
            <ac:spMk id="11" creationId="{D465D8A9-B77D-7046-967A-68C9ED40E2E2}"/>
          </ac:spMkLst>
        </pc:spChg>
      </pc:sldChg>
      <pc:sldChg chg="addSp delSp modSp mod">
        <pc:chgData name="Vitor Stüker" userId="d009d297cc9197ea" providerId="LiveId" clId="{3F8D13FA-782D-46A8-9A20-0EDD290AD0B4}" dt="2026-10-05T19:35:14.946" v="163" actId="1076"/>
        <pc:sldMkLst>
          <pc:docMk/>
          <pc:sldMk cId="1721493029" sldId="291"/>
        </pc:sldMkLst>
        <pc:picChg chg="add del">
          <ac:chgData name="Vitor Stüker" userId="d009d297cc9197ea" providerId="LiveId" clId="{3F8D13FA-782D-46A8-9A20-0EDD290AD0B4}" dt="2026-10-05T19:35:11.418" v="162" actId="478"/>
          <ac:picMkLst>
            <pc:docMk/>
            <pc:sldMk cId="1721493029" sldId="291"/>
            <ac:picMk id="2" creationId="{8324E991-4EFD-E710-092F-018527C3B67A}"/>
          </ac:picMkLst>
        </pc:picChg>
        <pc:picChg chg="add mod">
          <ac:chgData name="Vitor Stüker" userId="d009d297cc9197ea" providerId="LiveId" clId="{3F8D13FA-782D-46A8-9A20-0EDD290AD0B4}" dt="2026-10-05T19:35:14.946" v="163" actId="1076"/>
          <ac:picMkLst>
            <pc:docMk/>
            <pc:sldMk cId="1721493029" sldId="291"/>
            <ac:picMk id="5" creationId="{E4ABE198-524A-7417-6A83-ABCE320087A4}"/>
          </ac:picMkLst>
        </pc:picChg>
      </pc:sldChg>
      <pc:sldChg chg="addSp delSp modSp mod">
        <pc:chgData name="Vitor Stüker" userId="d009d297cc9197ea" providerId="LiveId" clId="{3F8D13FA-782D-46A8-9A20-0EDD290AD0B4}" dt="2026-10-05T19:44:34.327" v="207" actId="14100"/>
        <pc:sldMkLst>
          <pc:docMk/>
          <pc:sldMk cId="3281281804" sldId="547"/>
        </pc:sldMkLst>
        <pc:spChg chg="add mod">
          <ac:chgData name="Vitor Stüker" userId="d009d297cc9197ea" providerId="LiveId" clId="{3F8D13FA-782D-46A8-9A20-0EDD290AD0B4}" dt="2026-10-05T19:44:20.609" v="201" actId="478"/>
          <ac:spMkLst>
            <pc:docMk/>
            <pc:sldMk cId="3281281804" sldId="547"/>
            <ac:spMk id="4" creationId="{E80044FF-C9DC-39BB-936D-B0DE5412D840}"/>
          </ac:spMkLst>
        </pc:spChg>
        <pc:picChg chg="del">
          <ac:chgData name="Vitor Stüker" userId="d009d297cc9197ea" providerId="LiveId" clId="{3F8D13FA-782D-46A8-9A20-0EDD290AD0B4}" dt="2026-10-05T19:44:20.609" v="201" actId="478"/>
          <ac:picMkLst>
            <pc:docMk/>
            <pc:sldMk cId="3281281804" sldId="547"/>
            <ac:picMk id="6" creationId="{1BEAB1B8-7368-7C45-21F5-09C71F34701C}"/>
          </ac:picMkLst>
        </pc:picChg>
        <pc:picChg chg="add mod">
          <ac:chgData name="Vitor Stüker" userId="d009d297cc9197ea" providerId="LiveId" clId="{3F8D13FA-782D-46A8-9A20-0EDD290AD0B4}" dt="2026-10-05T19:44:34.327" v="207" actId="14100"/>
          <ac:picMkLst>
            <pc:docMk/>
            <pc:sldMk cId="3281281804" sldId="547"/>
            <ac:picMk id="12" creationId="{0320F852-B4B9-6601-0025-166CC9CA1AFA}"/>
          </ac:picMkLst>
        </pc:picChg>
      </pc:sldChg>
      <pc:sldChg chg="delSp modSp mod">
        <pc:chgData name="Vitor Stüker" userId="d009d297cc9197ea" providerId="LiveId" clId="{3F8D13FA-782D-46A8-9A20-0EDD290AD0B4}" dt="2026-10-05T19:27:39.730" v="147" actId="1076"/>
        <pc:sldMkLst>
          <pc:docMk/>
          <pc:sldMk cId="705687463" sldId="551"/>
        </pc:sldMkLst>
        <pc:spChg chg="del">
          <ac:chgData name="Vitor Stüker" userId="d009d297cc9197ea" providerId="LiveId" clId="{3F8D13FA-782D-46A8-9A20-0EDD290AD0B4}" dt="2026-10-05T19:27:34.145" v="145" actId="478"/>
          <ac:spMkLst>
            <pc:docMk/>
            <pc:sldMk cId="705687463" sldId="551"/>
            <ac:spMk id="2" creationId="{296B543B-C97C-A32D-7C36-E323810833DB}"/>
          </ac:spMkLst>
        </pc:spChg>
        <pc:spChg chg="mod">
          <ac:chgData name="Vitor Stüker" userId="d009d297cc9197ea" providerId="LiveId" clId="{3F8D13FA-782D-46A8-9A20-0EDD290AD0B4}" dt="2026-10-05T19:27:39.730" v="147" actId="1076"/>
          <ac:spMkLst>
            <pc:docMk/>
            <pc:sldMk cId="705687463" sldId="551"/>
            <ac:spMk id="6" creationId="{2177DE09-57B6-F77A-326E-683592D3200F}"/>
          </ac:spMkLst>
        </pc:spChg>
      </pc:sldChg>
      <pc:sldChg chg="modSp mod">
        <pc:chgData name="Vitor Stüker" userId="d009d297cc9197ea" providerId="LiveId" clId="{3F8D13FA-782D-46A8-9A20-0EDD290AD0B4}" dt="2026-10-05T19:31:56.175" v="157" actId="14100"/>
        <pc:sldMkLst>
          <pc:docMk/>
          <pc:sldMk cId="2003544158" sldId="554"/>
        </pc:sldMkLst>
        <pc:spChg chg="mod">
          <ac:chgData name="Vitor Stüker" userId="d009d297cc9197ea" providerId="LiveId" clId="{3F8D13FA-782D-46A8-9A20-0EDD290AD0B4}" dt="2026-10-05T19:31:56.175" v="157" actId="14100"/>
          <ac:spMkLst>
            <pc:docMk/>
            <pc:sldMk cId="2003544158" sldId="554"/>
            <ac:spMk id="10" creationId="{22EE5678-68AE-9B9E-7289-4F4A51C17A10}"/>
          </ac:spMkLst>
        </pc:spChg>
      </pc:sldChg>
      <pc:sldChg chg="modSp mod">
        <pc:chgData name="Vitor Stüker" userId="d009d297cc9197ea" providerId="LiveId" clId="{3F8D13FA-782D-46A8-9A20-0EDD290AD0B4}" dt="2026-10-05T19:41:41.141" v="200" actId="404"/>
        <pc:sldMkLst>
          <pc:docMk/>
          <pc:sldMk cId="1202668490" sldId="571"/>
        </pc:sldMkLst>
        <pc:spChg chg="mod">
          <ac:chgData name="Vitor Stüker" userId="d009d297cc9197ea" providerId="LiveId" clId="{3F8D13FA-782D-46A8-9A20-0EDD290AD0B4}" dt="2026-10-05T19:41:41.141" v="200" actId="404"/>
          <ac:spMkLst>
            <pc:docMk/>
            <pc:sldMk cId="1202668490" sldId="571"/>
            <ac:spMk id="21" creationId="{4BE244A4-F15B-07CB-F8C1-A03AE373EC6D}"/>
          </ac:spMkLst>
        </pc:spChg>
      </pc:sldChg>
      <pc:sldChg chg="addSp delSp modSp mod">
        <pc:chgData name="Vitor Stüker" userId="d009d297cc9197ea" providerId="LiveId" clId="{3F8D13FA-782D-46A8-9A20-0EDD290AD0B4}" dt="2026-10-05T19:18:25.164" v="127" actId="14100"/>
        <pc:sldMkLst>
          <pc:docMk/>
          <pc:sldMk cId="1107417328" sldId="572"/>
        </pc:sldMkLst>
        <pc:picChg chg="del">
          <ac:chgData name="Vitor Stüker" userId="d009d297cc9197ea" providerId="LiveId" clId="{3F8D13FA-782D-46A8-9A20-0EDD290AD0B4}" dt="2026-10-05T19:18:02.735" v="119" actId="478"/>
          <ac:picMkLst>
            <pc:docMk/>
            <pc:sldMk cId="1107417328" sldId="572"/>
            <ac:picMk id="5" creationId="{17FD1A9B-0C0D-B364-774F-AB8BA30874FE}"/>
          </ac:picMkLst>
        </pc:picChg>
        <pc:picChg chg="add mod modCrop">
          <ac:chgData name="Vitor Stüker" userId="d009d297cc9197ea" providerId="LiveId" clId="{3F8D13FA-782D-46A8-9A20-0EDD290AD0B4}" dt="2026-10-05T19:18:25.164" v="127" actId="14100"/>
          <ac:picMkLst>
            <pc:docMk/>
            <pc:sldMk cId="1107417328" sldId="572"/>
            <ac:picMk id="8" creationId="{EE02E37C-C750-DDEE-50B7-2702E270E67B}"/>
          </ac:picMkLst>
        </pc:picChg>
      </pc:sldChg>
      <pc:sldChg chg="del">
        <pc:chgData name="Vitor Stüker" userId="d009d297cc9197ea" providerId="LiveId" clId="{3F8D13FA-782D-46A8-9A20-0EDD290AD0B4}" dt="2026-10-05T19:12:38.428" v="118" actId="47"/>
        <pc:sldMkLst>
          <pc:docMk/>
          <pc:sldMk cId="2951179012" sldId="574"/>
        </pc:sldMkLst>
      </pc:sldChg>
      <pc:sldChg chg="modSp mod">
        <pc:chgData name="Vitor Stüker" userId="d009d297cc9197ea" providerId="LiveId" clId="{3F8D13FA-782D-46A8-9A20-0EDD290AD0B4}" dt="2026-10-05T19:46:51.481" v="209" actId="20577"/>
        <pc:sldMkLst>
          <pc:docMk/>
          <pc:sldMk cId="3739489430" sldId="575"/>
        </pc:sldMkLst>
        <pc:spChg chg="mod">
          <ac:chgData name="Vitor Stüker" userId="d009d297cc9197ea" providerId="LiveId" clId="{3F8D13FA-782D-46A8-9A20-0EDD290AD0B4}" dt="2026-10-05T19:46:51.481" v="209" actId="20577"/>
          <ac:spMkLst>
            <pc:docMk/>
            <pc:sldMk cId="3739489430" sldId="575"/>
            <ac:spMk id="9" creationId="{469C1200-DF9F-5702-6385-33EDED7FCC84}"/>
          </ac:spMkLst>
        </pc:spChg>
      </pc:sldChg>
      <pc:sldChg chg="modSp mod">
        <pc:chgData name="Vitor Stüker" userId="d009d297cc9197ea" providerId="LiveId" clId="{3F8D13FA-782D-46A8-9A20-0EDD290AD0B4}" dt="2026-10-05T19:26:23.104" v="144" actId="14100"/>
        <pc:sldMkLst>
          <pc:docMk/>
          <pc:sldMk cId="3892018796" sldId="576"/>
        </pc:sldMkLst>
        <pc:spChg chg="mod">
          <ac:chgData name="Vitor Stüker" userId="d009d297cc9197ea" providerId="LiveId" clId="{3F8D13FA-782D-46A8-9A20-0EDD290AD0B4}" dt="2026-10-05T19:26:23.104" v="144" actId="14100"/>
          <ac:spMkLst>
            <pc:docMk/>
            <pc:sldMk cId="3892018796" sldId="576"/>
            <ac:spMk id="4" creationId="{11A3B5B3-71DA-FA10-F83C-C85D067FF4F3}"/>
          </ac:spMkLst>
        </pc:spChg>
      </pc:sldChg>
      <pc:sldChg chg="add">
        <pc:chgData name="Vitor Stüker" userId="d009d297cc9197ea" providerId="LiveId" clId="{3F8D13FA-782D-46A8-9A20-0EDD290AD0B4}" dt="2026-10-05T19:12:28.816" v="115"/>
        <pc:sldMkLst>
          <pc:docMk/>
          <pc:sldMk cId="3979393245" sldId="5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ukerVitor/tcc_2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9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A3B-E999-13EA-0600-1E97BEE1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785EF0AD-F7E4-D1AC-7E7B-FC1208BC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9CB1DD-7146-6972-D4C2-97BD6942DD9B}"/>
              </a:ext>
            </a:extLst>
          </p:cNvPr>
          <p:cNvSpPr txBox="1"/>
          <p:nvPr/>
        </p:nvSpPr>
        <p:spPr>
          <a:xfrm>
            <a:off x="936063" y="946002"/>
            <a:ext cx="1054401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problema: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2D1737-769A-5F6D-9BD5-4FAA83D5A488}"/>
              </a:ext>
            </a:extLst>
          </p:cNvPr>
          <p:cNvSpPr txBox="1"/>
          <p:nvPr/>
        </p:nvSpPr>
        <p:spPr>
          <a:xfrm>
            <a:off x="1441624" y="3016800"/>
            <a:ext cx="2924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 texto jurídico é informação pública, mas nem sempre é compreensível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D3A3439-0518-914A-BCC1-1C511638FD35}"/>
              </a:ext>
            </a:extLst>
          </p:cNvPr>
          <p:cNvSpPr/>
          <p:nvPr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86FEB2-BEE6-B305-9814-2A71563C0D0B}"/>
              </a:ext>
            </a:extLst>
          </p:cNvPr>
          <p:cNvSpPr/>
          <p:nvPr/>
        </p:nvSpPr>
        <p:spPr>
          <a:xfrm>
            <a:off x="5773271" y="3387232"/>
            <a:ext cx="4562141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2636F84-17B1-6418-A3CE-6A625E374B44}"/>
              </a:ext>
            </a:extLst>
          </p:cNvPr>
          <p:cNvSpPr/>
          <p:nvPr/>
        </p:nvSpPr>
        <p:spPr>
          <a:xfrm>
            <a:off x="6222365" y="3784591"/>
            <a:ext cx="4113048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DADA8D-D77C-D560-F1AE-0E50C4D0935F}"/>
              </a:ext>
            </a:extLst>
          </p:cNvPr>
          <p:cNvSpPr txBox="1"/>
          <p:nvPr/>
        </p:nvSpPr>
        <p:spPr>
          <a:xfrm>
            <a:off x="5208201" y="3037712"/>
            <a:ext cx="4976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barreira não é só digital. É cognitiva.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4E488B-7C89-D5A4-510F-42ECFF396336}"/>
              </a:ext>
            </a:extLst>
          </p:cNvPr>
          <p:cNvSpPr txBox="1"/>
          <p:nvPr/>
        </p:nvSpPr>
        <p:spPr>
          <a:xfrm>
            <a:off x="6208071" y="3463077"/>
            <a:ext cx="3976756" cy="307777"/>
          </a:xfrm>
          <a:prstGeom prst="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Vocabulário técnico e expressões arcaicas.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A162A0-B419-1124-792C-DC4DC69D5CA8}"/>
              </a:ext>
            </a:extLst>
          </p:cNvPr>
          <p:cNvSpPr txBox="1"/>
          <p:nvPr/>
        </p:nvSpPr>
        <p:spPr>
          <a:xfrm>
            <a:off x="6703626" y="3888155"/>
            <a:ext cx="34812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Frases longas e alta carga de memória. 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18CD3B1-6F4C-FF4C-1E1D-82A5BEF1B4C1}"/>
              </a:ext>
            </a:extLst>
          </p:cNvPr>
          <p:cNvSpPr/>
          <p:nvPr/>
        </p:nvSpPr>
        <p:spPr>
          <a:xfrm>
            <a:off x="6868506" y="4236130"/>
            <a:ext cx="3481201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DF9C872-4946-9E8C-2980-3B40F2C61B5E}"/>
              </a:ext>
            </a:extLst>
          </p:cNvPr>
          <p:cNvSpPr txBox="1"/>
          <p:nvPr/>
        </p:nvSpPr>
        <p:spPr>
          <a:xfrm>
            <a:off x="6913672" y="4258155"/>
            <a:ext cx="348120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Dependência de intermediários para entender direitos e riscos.</a:t>
            </a:r>
          </a:p>
        </p:txBody>
      </p:sp>
      <p:sp>
        <p:nvSpPr>
          <p:cNvPr id="2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96BA541-753F-4425-B061-7B01B1BC6799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43208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0F2BC14-09EE-85CA-13CF-52CD4821C1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59427" y="564881"/>
            <a:ext cx="4081513" cy="1577593"/>
          </a:xfrm>
        </p:spPr>
        <p:txBody>
          <a:bodyPr/>
          <a:lstStyle/>
          <a:p>
            <a:r>
              <a:rPr lang="pt-BR" sz="4000" dirty="0"/>
              <a:t>Questão de pesquisa e objetivos: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5B70C-5522-183C-55A4-77325C931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9425" y="2286000"/>
            <a:ext cx="5175209" cy="896112"/>
          </a:xfrm>
        </p:spPr>
        <p:txBody>
          <a:bodyPr/>
          <a:lstStyle/>
          <a:p>
            <a:r>
              <a:rPr lang="pt-BR" sz="1800" spc="0" dirty="0"/>
              <a:t>Como usar Processamento de Linguagem Natural (NLP) para simplificar textos jurídicos brasileiros e ampliar a acessibilidade cognitiva?</a:t>
            </a:r>
          </a:p>
          <a:p>
            <a:endParaRPr lang="pt-BR" spc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E85C8-42BF-A924-82A5-55DC7F90E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426" y="3310128"/>
            <a:ext cx="5094527" cy="2743200"/>
          </a:xfrm>
        </p:spPr>
        <p:txBody>
          <a:bodyPr/>
          <a:lstStyle/>
          <a:p>
            <a:r>
              <a:rPr lang="pt-BR" sz="1800" dirty="0"/>
              <a:t>• Fundamentar o problema em acessibilidade, linguagem simples e Simplificação Automática de Textos (ATS).</a:t>
            </a:r>
          </a:p>
          <a:p>
            <a:endParaRPr lang="pt-BR" sz="1800" dirty="0"/>
          </a:p>
          <a:p>
            <a:r>
              <a:rPr lang="pt-BR" sz="1800" dirty="0"/>
              <a:t>• Construir um protótipo local-</a:t>
            </a:r>
            <a:r>
              <a:rPr lang="pt-BR" sz="1800" dirty="0" err="1"/>
              <a:t>first</a:t>
            </a:r>
            <a:r>
              <a:rPr lang="pt-BR" sz="1800" dirty="0"/>
              <a:t> para HTML e PDF.</a:t>
            </a:r>
          </a:p>
          <a:p>
            <a:endParaRPr lang="pt-BR" sz="1800" dirty="0"/>
          </a:p>
          <a:p>
            <a:r>
              <a:rPr lang="pt-BR" sz="1800" dirty="0"/>
              <a:t>• Avaliar compreensão percebida, usabilidade e utilidade.</a:t>
            </a:r>
          </a:p>
          <a:p>
            <a:endParaRPr lang="pt-B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1C4B8D2-D038-4355-BDD1-5DFFDD72D7AB}"/>
              </a:ext>
            </a:extLst>
          </p:cNvPr>
          <p:cNvSpPr/>
          <p:nvPr/>
        </p:nvSpPr>
        <p:spPr>
          <a:xfrm>
            <a:off x="759425" y="6215305"/>
            <a:ext cx="4601468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Foco: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à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  <a:endParaRPr lang="en-US" sz="1600" dirty="0"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</p:txBody>
      </p:sp>
      <p:sp>
        <p:nvSpPr>
          <p:cNvPr id="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642FA126-0025-4A97-B352-2674248D518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6197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44421AE6-8520-F202-5C7B-D462EB73A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6383" y="3868386"/>
            <a:ext cx="2819400" cy="1082290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jargão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termos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técnicos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expressões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pouco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frequentes</a:t>
            </a:r>
            <a:endParaRPr lang="en-US" sz="18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FF184B7-0ECC-C829-7F60-3F7953742C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42968" y="3036329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lexical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FC17DDD-D222-C156-57B5-C692775DF3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3258" y="4443667"/>
            <a:ext cx="2819400" cy="1010076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frases</a:t>
            </a:r>
            <a:r>
              <a:rPr lang="en-US" sz="1800" dirty="0">
                <a:solidFill>
                  <a:srgbClr val="172033"/>
                </a:solidFill>
              </a:rPr>
              <a:t> longas, </a:t>
            </a:r>
            <a:r>
              <a:rPr lang="en-US" sz="1800" dirty="0" err="1">
                <a:solidFill>
                  <a:srgbClr val="172033"/>
                </a:solidFill>
              </a:rPr>
              <a:t>voz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passiva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múltiplas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subordinadas</a:t>
            </a:r>
            <a:endParaRPr lang="en-US" sz="1800" dirty="0"/>
          </a:p>
          <a:p>
            <a:endParaRPr lang="pt-BR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3B73C2C-E192-9A1F-09FA-1FDFB81A21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6300" y="3658325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sintática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5421787-CDAA-E7CD-19DF-87CEE21B948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4825" y="3122148"/>
            <a:ext cx="2819400" cy="1139609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condições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exceções</a:t>
            </a:r>
            <a:r>
              <a:rPr lang="en-US" sz="1800" dirty="0">
                <a:solidFill>
                  <a:srgbClr val="172033"/>
                </a:solidFill>
              </a:rPr>
              <a:t> e </a:t>
            </a:r>
            <a:r>
              <a:rPr lang="en-US" sz="1800" dirty="0" err="1">
                <a:solidFill>
                  <a:srgbClr val="172033"/>
                </a:solidFill>
              </a:rPr>
              <a:t>referências</a:t>
            </a:r>
            <a:r>
              <a:rPr lang="en-US" sz="1800" dirty="0">
                <a:solidFill>
                  <a:srgbClr val="172033"/>
                </a:solidFill>
              </a:rPr>
              <a:t> no </a:t>
            </a:r>
            <a:r>
              <a:rPr lang="en-US" sz="1800" dirty="0" err="1">
                <a:solidFill>
                  <a:srgbClr val="172033"/>
                </a:solidFill>
              </a:rPr>
              <a:t>mesmo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parágrafo</a:t>
            </a:r>
            <a:endParaRPr lang="en-US" sz="1800" dirty="0"/>
          </a:p>
          <a:p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989210C-D0E7-9A80-F952-F32D042EA2F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algn="ctr"/>
            <a:r>
              <a:rPr lang="pt-BR" dirty="0"/>
              <a:t>Alta densidade informacional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77DE09-57B6-F77A-326E-683592D320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7765" y="853027"/>
            <a:ext cx="7287935" cy="1118045"/>
          </a:xfrm>
        </p:spPr>
        <p:txBody>
          <a:bodyPr/>
          <a:lstStyle/>
          <a:p>
            <a:r>
              <a:rPr lang="pt-BR" sz="2800" dirty="0"/>
              <a:t>O que torna o legalês difícil de processar?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1D34AC-CA12-7A33-4DB6-806F1D3F0E22}"/>
              </a:ext>
            </a:extLst>
          </p:cNvPr>
          <p:cNvSpPr txBox="1"/>
          <p:nvPr/>
        </p:nvSpPr>
        <p:spPr>
          <a:xfrm>
            <a:off x="2730968" y="6067946"/>
            <a:ext cx="6730064" cy="37457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Requisito técnico: simplificar sem apagar sentido jurídico essencial.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9A6C19A7-F6FF-44F2-86A1-BF3763996DA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70568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2EE5678-68AE-9B9E-7289-4F4A51C17A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201" y="630966"/>
            <a:ext cx="10581631" cy="863095"/>
          </a:xfrm>
        </p:spPr>
        <p:txBody>
          <a:bodyPr/>
          <a:lstStyle/>
          <a:p>
            <a:r>
              <a:rPr lang="pt-BR" sz="2400" spc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Três Fundamentos que guiaram o </a:t>
            </a:r>
            <a:r>
              <a:rPr lang="pt-BR" sz="2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  <a:p>
            <a:r>
              <a:rPr lang="en-US" sz="1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Legal Accessibility and Simplification for Cognitive Aid System</a:t>
            </a:r>
            <a:endParaRPr lang="pt-BR" sz="14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003F745-E9E2-44BC-49C3-BC4A22FD0A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136" y="1900012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790202A-3125-83F8-45AB-013C154F39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750" y="2079727"/>
            <a:ext cx="1691884" cy="754301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Acessibilidade Cognitiva</a:t>
            </a:r>
            <a:r>
              <a:rPr lang="pt-BR" sz="1800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	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E8F583E-4286-7E21-CF9E-E95D1EC913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57586" y="2022025"/>
            <a:ext cx="3193880" cy="1287107"/>
          </a:xfrm>
        </p:spPr>
        <p:txBody>
          <a:bodyPr/>
          <a:lstStyle/>
          <a:p>
            <a:r>
              <a:rPr lang="pt-BR" sz="1800" dirty="0"/>
              <a:t>Informação compreensível para diferentes perfis cognitivos. 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66D82B5-43E2-EB7D-3FA0-5360122B2E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9692" y="1789450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C06426-2100-0B6B-41A9-127D0D0648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264354" y="1969165"/>
            <a:ext cx="1489788" cy="621148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Linguagem</a:t>
            </a:r>
          </a:p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Simples</a:t>
            </a:r>
            <a:r>
              <a:rPr lang="pt-BR" b="1" dirty="0"/>
              <a:t>	</a:t>
            </a:r>
          </a:p>
          <a:p>
            <a:endParaRPr lang="pt-BR" dirty="0"/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0EA2E561-7F92-0D4B-4BCC-3D2216B9C67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18316" y="1900012"/>
            <a:ext cx="2998715" cy="1197116"/>
          </a:xfrm>
        </p:spPr>
        <p:txBody>
          <a:bodyPr/>
          <a:lstStyle/>
          <a:p>
            <a:r>
              <a:rPr lang="pt-BR" sz="1800" dirty="0"/>
              <a:t>Clareza, frases mais diretas, vocabulário acessível e estrutura visível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F2A2BD90-6DAD-FDAA-8BC5-EDDCFD28D7B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3136" y="3987125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D9D6C292-15D7-19BA-ADDA-BBF4B92F2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167717" y="4056004"/>
            <a:ext cx="1691884" cy="623719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ATS + Transformers</a:t>
            </a:r>
            <a:r>
              <a:rPr lang="pt-BR" dirty="0"/>
              <a:t>	</a:t>
            </a:r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A58676B7-F31B-D79D-1FF7-9595B1066EF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757585" y="3987125"/>
            <a:ext cx="3193881" cy="1287108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Transformar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texto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complexo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em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versão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mais</a:t>
            </a:r>
            <a:r>
              <a:rPr lang="en-US" sz="1800" dirty="0">
                <a:solidFill>
                  <a:srgbClr val="172033"/>
                </a:solidFill>
              </a:rPr>
              <a:t> simples, </a:t>
            </a:r>
            <a:r>
              <a:rPr lang="en-US" sz="1800" dirty="0" err="1">
                <a:solidFill>
                  <a:srgbClr val="172033"/>
                </a:solidFill>
              </a:rPr>
              <a:t>preservando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sentido</a:t>
            </a:r>
            <a:r>
              <a:rPr lang="en-US" sz="1800" dirty="0">
                <a:solidFill>
                  <a:srgbClr val="172033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FFB0BA0C-D897-4EA8-8CC4-2A31B870E8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14309" y="4367863"/>
            <a:ext cx="4640212" cy="737967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Meta: Criar uma camada de leitura entre o documento jurídico e a compreensão inicial.</a:t>
            </a:r>
          </a:p>
        </p:txBody>
      </p:sp>
      <p:sp>
        <p:nvSpPr>
          <p:cNvPr id="2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D6A8CFBE-D293-4695-8C07-436F3CC0CFCD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00354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623DFF7-786D-F592-A294-1D0A942972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32004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Trabalhos relacionados: síntese comparativa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0490073-28CE-7BF4-990E-CD5046A89194}"/>
              </a:ext>
            </a:extLst>
          </p:cNvPr>
          <p:cNvSpPr/>
          <p:nvPr/>
        </p:nvSpPr>
        <p:spPr>
          <a:xfrm>
            <a:off x="1417320" y="5468112"/>
            <a:ext cx="8595360" cy="713232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LASCAS leva essa agenda a um fluxo completo (PDF/HTML, validação e interface), com arquitetura híbrida, local-first e avaliação com pessoas.</a:t>
            </a:r>
          </a:p>
        </p:txBody>
      </p:sp>
      <p:graphicFrame>
        <p:nvGraphicFramePr>
          <p:cNvPr id="101" name="Tabela trabalhos relacionados"/>
          <p:cNvGraphicFramePr>
            <a:graphicFrameLocks noGrp="1"/>
          </p:cNvGraphicFramePr>
          <p:nvPr/>
        </p:nvGraphicFramePr>
        <p:xfrm>
          <a:off x="457200" y="1170432"/>
          <a:ext cx="10652760" cy="4069080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Estudo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O que mostrou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Como se conecta ao LASCAS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94D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Garimella et al. (2022)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Contratos em inglês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Falta um léxico jurídico; métricas automáticas não acompanham o julgamento humano; especialistas divergem sobre quanto detalhe manter.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Glossário jurídico, avaliação com pessoas e três níveis de simplificação.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Alves et al. (2023)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Ementas do TRF5 e do STF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ATS melhora a legibilidade em português; testar LLMs fica como trabalho futuro.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Aplica um LLM local a documentos jurídicos completos em português.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Athugodage et al. (2024)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Textos jurídicos russos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tamanho dos documentos é o maior obstáculo: filtram e cortam textos longos; avaliam com juristas e leigos.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Divide o documento em blocos em vez de cortar; também avalia com participantes da área jurídica e de fora dela.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Toivonen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Design jurídico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Acessibilidade exige comunicação centrada no usuário, linguagem clara e IA responsável, com privacidade e autonomia.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usuário escolhe o nível, o processamento é local e o original fica sempre à vista.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Zimina-Poirot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IA generativa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 IA simplifica bem, mas não percebe implicações jurídicas; precisa de revisão humana e ferramentas de verificação.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 o essencial e mostra o original ao lado; no benchmark, a saída também perdeu parte da fundamentação.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D71B8B4-965B-4070-9396-28B2E9AAFDB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074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07C0-2B49-6797-0E4F-40D0CD00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0356E1-FC7F-701B-C858-94001CBA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20953" cy="721178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63176A-5B60-2002-3CF2-001D4BCB5988}"/>
              </a:ext>
            </a:extLst>
          </p:cNvPr>
          <p:cNvSpPr txBox="1"/>
          <p:nvPr/>
        </p:nvSpPr>
        <p:spPr>
          <a:xfrm>
            <a:off x="6236869" y="698876"/>
            <a:ext cx="4855673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é o LASCAS?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D1F72B-37BA-3CA6-B3E5-2525008CE75B}"/>
              </a:ext>
            </a:extLst>
          </p:cNvPr>
          <p:cNvSpPr txBox="1"/>
          <p:nvPr/>
        </p:nvSpPr>
        <p:spPr>
          <a:xfrm>
            <a:off x="5326686" y="4021426"/>
            <a:ext cx="61593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Executa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no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computador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usuário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reduz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dependência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serviço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externo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Combina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 com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regras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integridade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A interface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deixa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texto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original.</a:t>
            </a:r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8C804B-32ED-B3D4-093C-3FF3DDD768DC}"/>
              </a:ext>
            </a:extLst>
          </p:cNvPr>
          <p:cNvSpPr txBox="1"/>
          <p:nvPr/>
        </p:nvSpPr>
        <p:spPr>
          <a:xfrm>
            <a:off x="5657046" y="1359747"/>
            <a:ext cx="6015318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900" dirty="0">
                <a:solidFill>
                  <a:schemeClr val="accent4">
                    <a:lumMod val="50000"/>
                  </a:schemeClr>
                </a:solidFill>
                <a:latin typeface="Roboto Black"/>
                <a:ea typeface="Roboto Black"/>
                <a:cs typeface="Roboto Black"/>
              </a:rPr>
              <a:t>PROTÓTIPO LOCAL-FIRST PARA SIMPLIFICAR TEXTOS JURÍDICOS BRASILEIROS EM HTML OU PDF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7E3564F-2E5C-9FDA-D7D5-DDDD1446BCFF}"/>
              </a:ext>
            </a:extLst>
          </p:cNvPr>
          <p:cNvSpPr/>
          <p:nvPr/>
        </p:nvSpPr>
        <p:spPr>
          <a:xfrm>
            <a:off x="5384058" y="2571554"/>
            <a:ext cx="1165988" cy="96949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Entrada HTML / PDF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6B70695-2BBD-185D-4EA4-8F890FBFFAB1}"/>
              </a:ext>
            </a:extLst>
          </p:cNvPr>
          <p:cNvSpPr/>
          <p:nvPr/>
        </p:nvSpPr>
        <p:spPr>
          <a:xfrm>
            <a:off x="7051461" y="2530370"/>
            <a:ext cx="1165988" cy="9873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API local</a:t>
            </a:r>
          </a:p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Node + Express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65D8A9-B77D-7046-967A-68C9ED40E2E2}"/>
              </a:ext>
            </a:extLst>
          </p:cNvPr>
          <p:cNvSpPr/>
          <p:nvPr/>
        </p:nvSpPr>
        <p:spPr>
          <a:xfrm>
            <a:off x="8584392" y="2702080"/>
            <a:ext cx="1465057" cy="6842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Modelo local</a:t>
            </a:r>
          </a:p>
          <a:p>
            <a:pPr algn="ctr"/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Ollama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+ LLM</a:t>
            </a:r>
            <a:r>
              <a:rPr lang="pt-BR" dirty="0"/>
              <a:t>	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C9E2573-AEBA-3BA1-CFC0-F8FE6A24A464}"/>
              </a:ext>
            </a:extLst>
          </p:cNvPr>
          <p:cNvSpPr/>
          <p:nvPr/>
        </p:nvSpPr>
        <p:spPr>
          <a:xfrm>
            <a:off x="10550864" y="2587863"/>
            <a:ext cx="1323831" cy="8948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Saída </a:t>
            </a:r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sidebar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simplificada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EE43A8D-EB75-84DD-6DB9-114CA38E950B}"/>
              </a:ext>
            </a:extLst>
          </p:cNvPr>
          <p:cNvSpPr/>
          <p:nvPr/>
        </p:nvSpPr>
        <p:spPr>
          <a:xfrm>
            <a:off x="6550045" y="3029140"/>
            <a:ext cx="501415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83A903A-D31E-C49C-E65C-3C55BF0D2050}"/>
              </a:ext>
            </a:extLst>
          </p:cNvPr>
          <p:cNvSpPr/>
          <p:nvPr/>
        </p:nvSpPr>
        <p:spPr>
          <a:xfrm flipV="1">
            <a:off x="8228328" y="3029140"/>
            <a:ext cx="356064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280C39D4-E7BA-1F56-274D-ED0A9B9AA364}"/>
              </a:ext>
            </a:extLst>
          </p:cNvPr>
          <p:cNvSpPr/>
          <p:nvPr/>
        </p:nvSpPr>
        <p:spPr>
          <a:xfrm flipV="1">
            <a:off x="10060328" y="3035288"/>
            <a:ext cx="490536" cy="1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Número do slide"/>
          <p:cNvSpPr/>
          <p:nvPr userDrawn="1"/>
        </p:nvSpPr>
        <p:spPr>
          <a:xfrm>
            <a:off x="11631168" y="589788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0F599ED-3EE9-4302-86FE-4F554AED722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849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54BA3A6-CCB2-2572-8866-DF968A330E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27432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Arquitetura: fluxo principal</a:t>
            </a:r>
          </a:p>
        </p:txBody>
      </p:sp>
      <p:sp>
        <p:nvSpPr>
          <p:cNvPr id="110" name="Navegador (extensão MV3)"/>
          <p:cNvSpPr/>
          <p:nvPr/>
        </p:nvSpPr>
        <p:spPr>
          <a:xfrm>
            <a:off x="457200" y="1188720"/>
            <a:ext cx="30175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Navegador (extensão MV3)</a:t>
            </a:r>
          </a:p>
        </p:txBody>
      </p:sp>
      <p:sp>
        <p:nvSpPr>
          <p:cNvPr id="111" name="Serviço local (Node + Express)"/>
          <p:cNvSpPr/>
          <p:nvPr/>
        </p:nvSpPr>
        <p:spPr>
          <a:xfrm>
            <a:off x="3886200" y="1188720"/>
            <a:ext cx="48463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Serviço local (Node + Express)</a:t>
            </a:r>
          </a:p>
        </p:txBody>
      </p:sp>
      <p:sp>
        <p:nvSpPr>
          <p:cNvPr id="112" name="Modelo local"/>
          <p:cNvSpPr/>
          <p:nvPr/>
        </p:nvSpPr>
        <p:spPr>
          <a:xfrm>
            <a:off x="9144000" y="3017520"/>
            <a:ext cx="2514600" cy="187452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Modelo local</a:t>
            </a:r>
          </a:p>
        </p:txBody>
      </p:sp>
      <p:sp>
        <p:nvSpPr>
          <p:cNvPr id="120" name="Pop-up escolhe o nível; o cont"/>
          <p:cNvSpPr/>
          <p:nvPr/>
        </p:nvSpPr>
        <p:spPr>
          <a:xfrm>
            <a:off x="685800" y="17830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Pop-up escolhe o nível; o content script lê a página ou o PDF</a:t>
            </a:r>
          </a:p>
        </p:txBody>
      </p:sp>
      <p:sp>
        <p:nvSpPr>
          <p:cNvPr id="121" name="Sidebar mostra o texto simplif"/>
          <p:cNvSpPr/>
          <p:nvPr/>
        </p:nvSpPr>
        <p:spPr>
          <a:xfrm>
            <a:off x="685800" y="47548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Sidebar mostra o texto simplificado ao lado do original</a:t>
            </a:r>
          </a:p>
        </p:txBody>
      </p:sp>
      <p:sp>
        <p:nvSpPr>
          <p:cNvPr id="130" name="API local: /simplify e /simpli"/>
          <p:cNvSpPr/>
          <p:nvPr/>
        </p:nvSpPr>
        <p:spPr>
          <a:xfrm>
            <a:off x="4114800" y="173736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 local: /simplify e /simplify-pdf</a:t>
            </a:r>
          </a:p>
        </p:txBody>
      </p:sp>
      <p:sp>
        <p:nvSpPr>
          <p:cNvPr id="131" name="Extração do PDF (pdfjs-dist)"/>
          <p:cNvSpPr/>
          <p:nvPr/>
        </p:nvSpPr>
        <p:spPr>
          <a:xfrm>
            <a:off x="4114800" y="2450592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do PDF (pdfjs-dist)</a:t>
            </a:r>
          </a:p>
        </p:txBody>
      </p:sp>
      <p:sp>
        <p:nvSpPr>
          <p:cNvPr id="132" name="Pré-processamento e proteção d"/>
          <p:cNvSpPr/>
          <p:nvPr/>
        </p:nvSpPr>
        <p:spPr>
          <a:xfrm>
            <a:off x="4114800" y="3163824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Pré-processamento e proteção do essencial</a:t>
            </a:r>
          </a:p>
        </p:txBody>
      </p:sp>
      <p:sp>
        <p:nvSpPr>
          <p:cNvPr id="133" name="Motor de simplificação (LLM lo"/>
          <p:cNvSpPr/>
          <p:nvPr/>
        </p:nvSpPr>
        <p:spPr>
          <a:xfrm>
            <a:off x="4114800" y="3877056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94D1C"/>
          </a:solidFill>
          <a:ln w="15875">
            <a:solidFill>
              <a:srgbClr val="E94D1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Motor de simplificação (LLM local ou regras)</a:t>
            </a:r>
          </a:p>
        </p:txBody>
      </p:sp>
      <p:sp>
        <p:nvSpPr>
          <p:cNvPr id="134" name="Glossário na primeira ocorrênc"/>
          <p:cNvSpPr/>
          <p:nvPr/>
        </p:nvSpPr>
        <p:spPr>
          <a:xfrm>
            <a:off x="4114800" y="4590288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na primeira ocorrência</a:t>
            </a:r>
          </a:p>
        </p:txBody>
      </p:sp>
      <p:sp>
        <p:nvSpPr>
          <p:cNvPr id="135" name="Validação de integridade (fall"/>
          <p:cNvSpPr/>
          <p:nvPr/>
        </p:nvSpPr>
        <p:spPr>
          <a:xfrm>
            <a:off x="4114800" y="530352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Validação de integridade (fallback se falhar)</a:t>
            </a:r>
          </a:p>
        </p:txBody>
      </p:sp>
      <p:cxnSp>
        <p:nvCxnSpPr>
          <p:cNvPr id="140" name="Seta 140"/>
          <p:cNvCxnSpPr/>
          <p:nvPr/>
        </p:nvCxnSpPr>
        <p:spPr>
          <a:xfrm>
            <a:off x="6309360" y="2267712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1" name="Seta 141"/>
          <p:cNvCxnSpPr/>
          <p:nvPr/>
        </p:nvCxnSpPr>
        <p:spPr>
          <a:xfrm>
            <a:off x="6309360" y="2980944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2" name="Seta 142"/>
          <p:cNvCxnSpPr/>
          <p:nvPr/>
        </p:nvCxnSpPr>
        <p:spPr>
          <a:xfrm>
            <a:off x="6309360" y="3694176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3" name="Seta 143"/>
          <p:cNvCxnSpPr/>
          <p:nvPr/>
        </p:nvCxnSpPr>
        <p:spPr>
          <a:xfrm>
            <a:off x="6309360" y="4407408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4" name="Seta 144"/>
          <p:cNvCxnSpPr/>
          <p:nvPr/>
        </p:nvCxnSpPr>
        <p:spPr>
          <a:xfrm>
            <a:off x="6309360" y="5120640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sp>
        <p:nvSpPr>
          <p:cNvPr id="150" name="Ollama + Llama 3.1 8B (4 bits)"/>
          <p:cNvSpPr/>
          <p:nvPr/>
        </p:nvSpPr>
        <p:spPr>
          <a:xfrm>
            <a:off x="9326880" y="361188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21049A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Ollama + Llama 3.1 8B (4 bits)</a:t>
            </a:r>
          </a:p>
        </p:txBody>
      </p:sp>
      <p:cxnSp>
        <p:nvCxnSpPr>
          <p:cNvPr id="160" name="Seta 160"/>
          <p:cNvCxnSpPr/>
          <p:nvPr/>
        </p:nvCxnSpPr>
        <p:spPr>
          <a:xfrm>
            <a:off x="3246120" y="200253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cxnSp>
        <p:nvCxnSpPr>
          <p:cNvPr id="161" name="Seta 161"/>
          <p:cNvCxnSpPr/>
          <p:nvPr/>
        </p:nvCxnSpPr>
        <p:spPr>
          <a:xfrm>
            <a:off x="8503920" y="4142232"/>
            <a:ext cx="822960" cy="0"/>
          </a:xfrm>
          <a:prstGeom prst="straightConnector1">
            <a:avLst/>
          </a:prstGeom>
          <a:ln w="28575">
            <a:solidFill>
              <a:srgbClr val="E94D1C"/>
            </a:solidFill>
            <a:headEnd type="triangle" w="med" len="med"/>
            <a:tailEnd type="triangle" w="med" len="med"/>
          </a:ln>
        </p:spPr>
      </p:cxnSp>
      <p:cxnSp>
        <p:nvCxnSpPr>
          <p:cNvPr id="162" name="Seta 162"/>
          <p:cNvCxnSpPr/>
          <p:nvPr/>
        </p:nvCxnSpPr>
        <p:spPr>
          <a:xfrm flipH="1">
            <a:off x="3246120" y="556869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sp>
        <p:nvSpPr>
          <p:cNvPr id="16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F8F66BB-F387-4F5C-A076-5E8B96303D7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9039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035E-D06C-0E40-A010-3ED8215F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416CEE-B282-3466-1E2D-A51CE4963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94D1C"/>
          </a:solidFill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74644D-6E36-733F-CE25-534E7DCF5EC2}"/>
              </a:ext>
            </a:extLst>
          </p:cNvPr>
          <p:cNvSpPr txBox="1"/>
          <p:nvPr/>
        </p:nvSpPr>
        <p:spPr>
          <a:xfrm>
            <a:off x="3611880" y="4206240"/>
            <a:ext cx="676656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45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Dois modos principais: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Leve: </a:t>
            </a:r>
            <a:r>
              <a:rPr lang="fr-F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reescrita frase a frase, fiel e quase do mesmo tamanho.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Médio/Forte: </a:t>
            </a:r>
            <a:r>
              <a:rPr lang="pt-B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condensação em blocos (até duas tentativas por bloco), com fallback heurístico que garante a redução.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Entrada em PDF: </a:t>
            </a:r>
            <a:r>
              <a:rPr lang="pt-BR" sz="16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com pdfjs-dist, linhas reconstruídas por coordenadas e números, moedas e abreviações corrigidos.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3EBD5842-1188-3138-2C22-681EDF500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648529" y="-781144"/>
            <a:ext cx="3844890" cy="27813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2E91A7-21B5-90AB-C86F-B486BDDB88D6}"/>
              </a:ext>
            </a:extLst>
          </p:cNvPr>
          <p:cNvSpPr txBox="1"/>
          <p:nvPr/>
        </p:nvSpPr>
        <p:spPr>
          <a:xfrm>
            <a:off x="0" y="355002"/>
            <a:ext cx="68042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Pipeline de simplificação: do bruto ao texto final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CF2C313-829F-6B1C-DF33-3B8B22486B5A}"/>
              </a:ext>
            </a:extLst>
          </p:cNvPr>
          <p:cNvSpPr/>
          <p:nvPr/>
        </p:nvSpPr>
        <p:spPr>
          <a:xfrm>
            <a:off x="479611" y="3135854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Normalizar artefatos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DABB475-56C0-2E4E-23AF-B459C3F6636D}"/>
              </a:ext>
            </a:extLst>
          </p:cNvPr>
          <p:cNvSpPr/>
          <p:nvPr/>
        </p:nvSpPr>
        <p:spPr>
          <a:xfrm>
            <a:off x="281940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Dividir em frases/blocos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224533-7B55-E5BB-0BE3-227C5BF9C2CC}"/>
              </a:ext>
            </a:extLst>
          </p:cNvPr>
          <p:cNvSpPr/>
          <p:nvPr/>
        </p:nvSpPr>
        <p:spPr>
          <a:xfrm>
            <a:off x="515919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LLM local ou </a:t>
            </a:r>
            <a:r>
              <a:rPr lang="pt-BR" b="1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fallback</a:t>
            </a:r>
            <a:endParaRPr lang="pt-BR" b="1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864BD16-DB50-1D76-C8E8-CDA1696D6627}"/>
              </a:ext>
            </a:extLst>
          </p:cNvPr>
          <p:cNvSpPr/>
          <p:nvPr/>
        </p:nvSpPr>
        <p:spPr>
          <a:xfrm>
            <a:off x="7625835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4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Glossário e estrutura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BCC2D6-42A1-F77C-DA79-7038D12DA3EA}"/>
              </a:ext>
            </a:extLst>
          </p:cNvPr>
          <p:cNvSpPr/>
          <p:nvPr/>
        </p:nvSpPr>
        <p:spPr>
          <a:xfrm>
            <a:off x="10121627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5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Validar integridade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D84E24-A78A-5BFD-ABCB-0896FF344E7C}"/>
              </a:ext>
            </a:extLst>
          </p:cNvPr>
          <p:cNvSpPr/>
          <p:nvPr/>
        </p:nvSpPr>
        <p:spPr>
          <a:xfrm>
            <a:off x="226269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7F0F482-7448-5F02-B38E-8735D00BD0D2}"/>
              </a:ext>
            </a:extLst>
          </p:cNvPr>
          <p:cNvSpPr/>
          <p:nvPr/>
        </p:nvSpPr>
        <p:spPr>
          <a:xfrm>
            <a:off x="460248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DC59459-626E-06A1-6203-7E0A62A9437B}"/>
              </a:ext>
            </a:extLst>
          </p:cNvPr>
          <p:cNvSpPr/>
          <p:nvPr/>
        </p:nvSpPr>
        <p:spPr>
          <a:xfrm>
            <a:off x="6942271" y="3630706"/>
            <a:ext cx="683564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19FCAA3-96F8-2D2B-5585-C2A80232F340}"/>
              </a:ext>
            </a:extLst>
          </p:cNvPr>
          <p:cNvSpPr/>
          <p:nvPr/>
        </p:nvSpPr>
        <p:spPr>
          <a:xfrm flipV="1">
            <a:off x="9408915" y="3630706"/>
            <a:ext cx="712712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7CFBF2E-76CC-4961-9B39-E916CA98B4F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2965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CD9C-F48F-D004-3BD7-BA996314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77BFE504-436C-4C65-EE78-975B0D65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633FBB-DDC2-0E94-CDD8-8187A26E29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447" y="388389"/>
            <a:ext cx="7024623" cy="1229453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SEGURANÇA SEMÂNTICA:</a:t>
            </a:r>
            <a:br>
              <a:rPr lang="pt-BR" sz="40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pt-BR" sz="36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simplificar sem perder o essencial</a:t>
            </a:r>
            <a:endParaRPr lang="pt-BR" sz="4000" b="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5C901B-C6DD-476A-314F-7A22B3F9F1AE}"/>
              </a:ext>
            </a:extLst>
          </p:cNvPr>
          <p:cNvSpPr txBox="1"/>
          <p:nvPr/>
        </p:nvSpPr>
        <p:spPr>
          <a:xfrm>
            <a:off x="7977466" y="1453896"/>
            <a:ext cx="3971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nível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leve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placeholders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itens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frágeis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antes da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chamada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médio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/forte,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validador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permite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omitir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qualificações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CPF/RG/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endereço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afetam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sentido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resultado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falha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o fallback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ação</a:t>
            </a:r>
            <a:r>
              <a:rPr lang="en-US" sz="14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CB1CEB-ECB2-74C4-E9B4-89E65DC86534}"/>
              </a:ext>
            </a:extLst>
          </p:cNvPr>
          <p:cNvSpPr txBox="1"/>
          <p:nvPr/>
        </p:nvSpPr>
        <p:spPr>
          <a:xfrm>
            <a:off x="243169" y="3300556"/>
            <a:ext cx="348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sistema protege ou valida itens que alteram o significado jurídico.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484F852-56AF-FC02-757F-8BF6374799E3}"/>
              </a:ext>
            </a:extLst>
          </p:cNvPr>
          <p:cNvSpPr/>
          <p:nvPr/>
        </p:nvSpPr>
        <p:spPr>
          <a:xfrm>
            <a:off x="99621" y="4934644"/>
            <a:ext cx="2430890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227989C-7B56-AA4B-A5DB-C2B0063425E8}"/>
              </a:ext>
            </a:extLst>
          </p:cNvPr>
          <p:cNvSpPr/>
          <p:nvPr/>
        </p:nvSpPr>
        <p:spPr>
          <a:xfrm>
            <a:off x="2680109" y="4944796"/>
            <a:ext cx="2348754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    valores</a:t>
            </a:r>
            <a:r>
              <a:rPr lang="pt-BR" dirty="0"/>
              <a:t>	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D1A6BC-1990-D84A-BB5D-BA978D3274B5}"/>
              </a:ext>
            </a:extLst>
          </p:cNvPr>
          <p:cNvSpPr/>
          <p:nvPr/>
        </p:nvSpPr>
        <p:spPr>
          <a:xfrm>
            <a:off x="5178461" y="4934644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percentuais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A79C5B1-6479-C948-8518-361348D4FAAC}"/>
              </a:ext>
            </a:extLst>
          </p:cNvPr>
          <p:cNvSpPr/>
          <p:nvPr/>
        </p:nvSpPr>
        <p:spPr>
          <a:xfrm>
            <a:off x="127636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citações</a:t>
            </a:r>
            <a:r>
              <a:rPr lang="pt-BR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legais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3785166-1F88-30A5-3B38-6D097C34C25F}"/>
              </a:ext>
            </a:extLst>
          </p:cNvPr>
          <p:cNvSpPr/>
          <p:nvPr/>
        </p:nvSpPr>
        <p:spPr>
          <a:xfrm>
            <a:off x="2653048" y="5600171"/>
            <a:ext cx="2374862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processos</a:t>
            </a:r>
            <a:r>
              <a:rPr lang="pt-BR" sz="12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</a:t>
            </a:r>
            <a:r>
              <a:rPr lang="pt-BR" sz="1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registros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53D3249-71D0-1FC7-9ECF-8C3A92006F76}"/>
              </a:ext>
            </a:extLst>
          </p:cNvPr>
          <p:cNvSpPr/>
          <p:nvPr/>
        </p:nvSpPr>
        <p:spPr>
          <a:xfrm>
            <a:off x="5178461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negações</a:t>
            </a:r>
            <a:r>
              <a:rPr lang="pt-BR" dirty="0"/>
              <a:t> </a:t>
            </a:r>
          </a:p>
        </p:txBody>
      </p:sp>
      <p:sp>
        <p:nvSpPr>
          <p:cNvPr id="1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FBD93EB-E85F-49A2-B068-2C951C823DD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5623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47E7B16-8FC4-97CF-EF88-ABEB42CFF3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0694" y="173037"/>
            <a:ext cx="3927494" cy="1118045"/>
          </a:xfrm>
        </p:spPr>
        <p:txBody>
          <a:bodyPr/>
          <a:lstStyle/>
          <a:p>
            <a:r>
              <a:rPr lang="pt-BR" dirty="0"/>
              <a:t>GLOSSÁRIO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CFD92BC-F4D9-3B7A-58FE-F0453CEBE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960" y="1545388"/>
            <a:ext cx="3927494" cy="941129"/>
          </a:xfrm>
        </p:spPr>
        <p:txBody>
          <a:bodyPr/>
          <a:lstStyle/>
          <a:p>
            <a:pPr algn="just"/>
            <a:r>
              <a:rPr lang="pt-BR" sz="2000" dirty="0">
                <a:solidFill>
                  <a:srgbClr val="E94D1C"/>
                </a:solidFill>
              </a:rPr>
              <a:t>Na primeira ocorrência, termos jurídicos podem receber uma explicação curta em português.</a:t>
            </a:r>
          </a:p>
          <a:p>
            <a:pPr algn="just"/>
            <a:endParaRPr lang="pt-BR" sz="2000" dirty="0">
              <a:solidFill>
                <a:srgbClr val="E94D1C"/>
              </a:solidFill>
            </a:endParaRPr>
          </a:p>
          <a:p>
            <a:endParaRPr lang="pt-BR" sz="1800" dirty="0">
              <a:solidFill>
                <a:srgbClr val="E94D1C"/>
              </a:solidFill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0C64E63-80DC-5291-E593-2AAA0F85C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960" y="2740823"/>
            <a:ext cx="4459228" cy="3077271"/>
          </a:xfrm>
        </p:spPr>
        <p:txBody>
          <a:bodyPr/>
          <a:lstStyle/>
          <a:p>
            <a:r>
              <a:rPr lang="pt-BR" sz="2000" b="1" dirty="0">
                <a:solidFill>
                  <a:srgbClr val="E94D1C"/>
                </a:solidFill>
              </a:rPr>
              <a:t>Espólio: </a:t>
            </a:r>
            <a:r>
              <a:rPr lang="pt-BR" sz="2000" dirty="0">
                <a:solidFill>
                  <a:srgbClr val="21049A"/>
                </a:solidFill>
              </a:rPr>
              <a:t>conjunto de bens e dívidas deixados pelo falecido.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Transitado em julgado: </a:t>
            </a:r>
            <a:r>
              <a:rPr lang="pt-BR" sz="2000" dirty="0">
                <a:solidFill>
                  <a:srgbClr val="21049A"/>
                </a:solidFill>
              </a:rPr>
              <a:t>decisão definitiva, sem recurso.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Valor da causa: </a:t>
            </a:r>
            <a:r>
              <a:rPr lang="en-US" sz="2000" dirty="0">
                <a:solidFill>
                  <a:srgbClr val="21049A"/>
                </a:solidFill>
              </a:rPr>
              <a:t>valor </a:t>
            </a:r>
            <a:r>
              <a:rPr lang="en-US" sz="2000" dirty="0" err="1">
                <a:solidFill>
                  <a:srgbClr val="21049A"/>
                </a:solidFill>
              </a:rPr>
              <a:t>atribuído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ao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processo</a:t>
            </a:r>
            <a:r>
              <a:rPr lang="en-US" sz="2000" dirty="0">
                <a:solidFill>
                  <a:srgbClr val="21049A"/>
                </a:solidFill>
              </a:rPr>
              <a:t> para fins </a:t>
            </a:r>
            <a:r>
              <a:rPr lang="en-US" sz="2000" dirty="0" err="1">
                <a:solidFill>
                  <a:srgbClr val="21049A"/>
                </a:solidFill>
              </a:rPr>
              <a:t>processuais</a:t>
            </a:r>
            <a:r>
              <a:rPr lang="en-US" sz="2000" dirty="0">
                <a:solidFill>
                  <a:srgbClr val="21049A"/>
                </a:solidFill>
              </a:rPr>
              <a:t>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Ônus da prova: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21049A"/>
                </a:solidFill>
              </a:rPr>
              <a:t>responsabilidade de provar um fato.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0BA02-99AA-F4F5-FEB7-6144A12B8B42}"/>
              </a:ext>
            </a:extLst>
          </p:cNvPr>
          <p:cNvSpPr txBox="1"/>
          <p:nvPr/>
        </p:nvSpPr>
        <p:spPr>
          <a:xfrm>
            <a:off x="6386639" y="2993777"/>
            <a:ext cx="4459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E94D1C"/>
                </a:solidFill>
                <a:latin typeface="Roboto Bold" panose="02000000000000000000"/>
              </a:rPr>
              <a:t>Não resolve todo vocabulário jurídico, mas reduz a barreira no primeiro contato com o documento.</a:t>
            </a:r>
          </a:p>
        </p:txBody>
      </p:sp>
      <p:sp>
        <p:nvSpPr>
          <p:cNvPr id="10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6B76000-0726-4371-BF1D-732CB04B5262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533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undo branco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180" name="Titulo interface e resultado"/>
          <p:cNvSpPr txBox="1"/>
          <p:nvPr/>
        </p:nvSpPr>
        <p:spPr>
          <a:xfrm>
            <a:off x="41148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Interface e resultado: antes e depois</a:t>
            </a:r>
          </a:p>
        </p:txBody>
      </p:sp>
      <p:sp>
        <p:nvSpPr>
          <p:cNvPr id="185" name="Rotulo popup"/>
          <p:cNvSpPr txBox="1"/>
          <p:nvPr/>
        </p:nvSpPr>
        <p:spPr>
          <a:xfrm>
            <a:off x="411480" y="1188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1. Escolha do nível</a:t>
            </a:r>
          </a:p>
        </p:txBody>
      </p:sp>
      <p:sp>
        <p:nvSpPr>
          <p:cNvPr id="186" name="Moldura popup"/>
          <p:cNvSpPr/>
          <p:nvPr/>
        </p:nvSpPr>
        <p:spPr>
          <a:xfrm>
            <a:off x="393192" y="1627632"/>
            <a:ext cx="2642616" cy="1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E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Pop-up de escolha do nível"/>
          <p:cNvPicPr>
            <a:picLocks noChangeAspect="1"/>
          </p:cNvPicPr>
          <p:nvPr/>
        </p:nvPicPr>
        <p:blipFill>
          <a:blip r:embed="rId3"/>
          <a:srcRect l="1525"/>
          <a:stretch>
            <a:fillRect/>
          </a:stretch>
        </p:blipFill>
        <p:spPr>
          <a:xfrm>
            <a:off x="411480" y="1645920"/>
            <a:ext cx="2606040" cy="1859536"/>
          </a:xfrm>
          <a:prstGeom prst="rect">
            <a:avLst/>
          </a:prstGeom>
        </p:spPr>
      </p:pic>
      <p:sp>
        <p:nvSpPr>
          <p:cNvPr id="188" name="Legenda sidebar"/>
          <p:cNvSpPr/>
          <p:nvPr/>
        </p:nvSpPr>
        <p:spPr>
          <a:xfrm>
            <a:off x="411480" y="3779776"/>
            <a:ext cx="2606040" cy="1051560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2. O resultado abre na sidebar, ao lado do documento original.</a:t>
            </a:r>
          </a:p>
        </p:txBody>
      </p:sp>
      <p:sp>
        <p:nvSpPr>
          <p:cNvPr id="181" name="Original"/>
          <p:cNvSpPr/>
          <p:nvPr/>
        </p:nvSpPr>
        <p:spPr>
          <a:xfrm>
            <a:off x="3291840" y="1188719"/>
            <a:ext cx="4343400" cy="4165333"/>
          </a:xfrm>
          <a:prstGeom prst="roundRect">
            <a:avLst>
              <a:gd name="adj" fmla="val 4000"/>
            </a:avLst>
          </a:prstGeom>
          <a:solidFill>
            <a:srgbClr val="F1EEF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3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</a:t>
            </a:r>
            <a:r>
              <a:rPr lang="pt-BR" sz="1250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item 3.3 (100 de 332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exigência imposta pela empresa aérea, ao condicionar a validade do FREMEC à assinatura por médico com Registro de Qualificação de Especialidade específica, cria restrição não prevista no regime jurídico da profissão médica. Trata-se de limitação privada ao exercício profissional que não encontra amparo em lei e que altera, por ato unilateral de natureza empresarial, a disciplina jurídica estabelecida pelo ordenamento. Ao instituir requisito inexistente na legislação profissional, a empresa ré ultrapassa os limites de sua autonomia administrativa e interfere de forma indevida na validade de ato médico regularmente praticado, com repercussão direta sobre direitos fundamentais de passageiros com deficiência.</a:t>
            </a:r>
          </a:p>
        </p:txBody>
      </p:sp>
      <p:sp>
        <p:nvSpPr>
          <p:cNvPr id="182" name="Seta"/>
          <p:cNvSpPr/>
          <p:nvPr/>
        </p:nvSpPr>
        <p:spPr>
          <a:xfrm>
            <a:off x="7717536" y="2926080"/>
            <a:ext cx="384048" cy="640080"/>
          </a:xfrm>
          <a:prstGeom prst="rightArrow">
            <a:avLst/>
          </a:prstGeom>
          <a:solidFill>
            <a:srgbClr val="E94D1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LASCAS"/>
          <p:cNvSpPr/>
          <p:nvPr/>
        </p:nvSpPr>
        <p:spPr>
          <a:xfrm>
            <a:off x="8183880" y="1188720"/>
            <a:ext cx="3154680" cy="3840480"/>
          </a:xfrm>
          <a:prstGeom prst="roundRect">
            <a:avLst>
              <a:gd name="adj" fmla="val 4000"/>
            </a:avLst>
          </a:prstGeom>
          <a:solidFill>
            <a:srgbClr val="21049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300" dirty="0">
                <a:solidFill>
                  <a:srgbClr val="E94D1C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  <a:r>
              <a:rPr lang="pt-BR" sz="125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nível médio (41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empresa aérea Via Brasil Linhas Aéreas S.A. exige que os médicos tenham título de especialidade específica para assinar o FREMEC, o que não é previsto em lei. Isso cria um obstáculo adicional ao exercício do direito dos passageiros com deficiência.</a:t>
            </a:r>
          </a:p>
        </p:txBody>
      </p:sp>
      <p:sp>
        <p:nvSpPr>
          <p:cNvPr id="184" name="Nota"/>
          <p:cNvSpPr txBox="1"/>
          <p:nvPr/>
        </p:nvSpPr>
        <p:spPr>
          <a:xfrm>
            <a:off x="3291840" y="54406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 dirty="0">
                <a:solidFill>
                  <a:srgbClr val="172033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 item 3.3 inteiro tem 332 palavras; o LASCAS o condensou nestas 41.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Saída real do benchmark (nível médio).</a:t>
            </a:r>
          </a:p>
        </p:txBody>
      </p:sp>
      <p:sp>
        <p:nvSpPr>
          <p:cNvPr id="189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0C3E490-294B-4A3E-BF2B-C302130DFAE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AD9ACB-8547-E2C1-747A-EDAC59946A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340" y="1940872"/>
            <a:ext cx="2057594" cy="1118045"/>
          </a:xfrm>
        </p:spPr>
        <p:txBody>
          <a:bodyPr/>
          <a:lstStyle/>
          <a:p>
            <a:r>
              <a:rPr lang="pt-BR" sz="2400" dirty="0"/>
              <a:t>VANTAGENS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12BCC4-C634-63B6-1F51-5A2376DC2B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2876776"/>
            <a:ext cx="2622914" cy="152840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Menor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sensíveis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Independência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API externa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Controle do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fluxo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dos logs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endParaRPr lang="pt-BR" dirty="0"/>
          </a:p>
        </p:txBody>
      </p:sp>
      <p:sp>
        <p:nvSpPr>
          <p:cNvPr id="5" name="Espaço Reservado para Conteúdo 1">
            <a:extLst>
              <a:ext uri="{FF2B5EF4-FFF2-40B4-BE49-F238E27FC236}">
                <a16:creationId xmlns:a16="http://schemas.microsoft.com/office/drawing/2014/main" id="{8A55AB12-66B3-C451-4E3B-64A9263C6907}"/>
              </a:ext>
            </a:extLst>
          </p:cNvPr>
          <p:cNvSpPr txBox="1">
            <a:spLocks/>
          </p:cNvSpPr>
          <p:nvPr/>
        </p:nvSpPr>
        <p:spPr>
          <a:xfrm>
            <a:off x="3913906" y="1940872"/>
            <a:ext cx="2057594" cy="111804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rgbClr val="21049A"/>
                </a:solidFill>
                <a:latin typeface="Roboto Black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CUSTOS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28F0D32-A27D-6CD7-EA66-8C22C3EEEF5D}"/>
              </a:ext>
            </a:extLst>
          </p:cNvPr>
          <p:cNvSpPr txBox="1">
            <a:spLocks/>
          </p:cNvSpPr>
          <p:nvPr/>
        </p:nvSpPr>
        <p:spPr>
          <a:xfrm>
            <a:off x="3154061" y="2831612"/>
            <a:ext cx="3150973" cy="1194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Performance depende do hardware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Modelo local é menor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grandes podem demorar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Sem OCR robusto para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escaneados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D5DAAA-5EE3-BFE6-AEF2-C5A68BE73817}"/>
              </a:ext>
            </a:extLst>
          </p:cNvPr>
          <p:cNvSpPr txBox="1"/>
          <p:nvPr/>
        </p:nvSpPr>
        <p:spPr>
          <a:xfrm>
            <a:off x="92386" y="5442208"/>
            <a:ext cx="6642046" cy="64698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decisão favorece um protótipo factível e reproduzível, mas não elimina a necessidade de melhorias futuras.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27CFB9-EBE6-F90C-A361-E9ECC4A46EF3}"/>
              </a:ext>
            </a:extLst>
          </p:cNvPr>
          <p:cNvCxnSpPr/>
          <p:nvPr/>
        </p:nvCxnSpPr>
        <p:spPr>
          <a:xfrm>
            <a:off x="2971799" y="2172875"/>
            <a:ext cx="0" cy="1853513"/>
          </a:xfrm>
          <a:prstGeom prst="line">
            <a:avLst/>
          </a:prstGeom>
          <a:ln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C8FBF75F-940F-8D7C-99D0-AD90EC347A75}"/>
              </a:ext>
            </a:extLst>
          </p:cNvPr>
          <p:cNvSpPr txBox="1">
            <a:spLocks/>
          </p:cNvSpPr>
          <p:nvPr/>
        </p:nvSpPr>
        <p:spPr>
          <a:xfrm>
            <a:off x="490645" y="649013"/>
            <a:ext cx="4264538" cy="76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 que local-</a:t>
            </a:r>
            <a:r>
              <a:rPr lang="pt-BR" b="1" dirty="0" err="1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first</a:t>
            </a: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?</a:t>
            </a:r>
          </a:p>
        </p:txBody>
      </p:sp>
      <p:sp>
        <p:nvSpPr>
          <p:cNvPr id="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7387A433-FC23-42EC-BE7B-32FE16DAF2C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404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D9F44B-1E04-5C83-2374-7BFB14964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73866" y="1269772"/>
            <a:ext cx="7065434" cy="99800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Metodologia da avaliação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E5C336-ED14-C28F-126F-334E3575E876}"/>
              </a:ext>
            </a:extLst>
          </p:cNvPr>
          <p:cNvSpPr txBox="1"/>
          <p:nvPr/>
        </p:nvSpPr>
        <p:spPr>
          <a:xfrm>
            <a:off x="2573866" y="2821615"/>
            <a:ext cx="30670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Pré-teste formativo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participantes da área jurídica</a:t>
            </a: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documentos públicos anonimizados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Resultado: adoção do nível médio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A23E36-9C8E-55E1-7DCC-BE9CA5D22F22}"/>
              </a:ext>
            </a:extLst>
          </p:cNvPr>
          <p:cNvSpPr txBox="1"/>
          <p:nvPr/>
        </p:nvSpPr>
        <p:spPr>
          <a:xfrm>
            <a:off x="6807574" y="2714038"/>
            <a:ext cx="26860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Estudo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principal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30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participantes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Mesma petição anonimizada para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todos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 × versão média, lado a lado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Questionário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Likert +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pergunta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aberta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6C33CD-A00D-CBC4-C0EA-B2E4EB298129}"/>
              </a:ext>
            </a:extLst>
          </p:cNvPr>
          <p:cNvSpPr txBox="1"/>
          <p:nvPr/>
        </p:nvSpPr>
        <p:spPr>
          <a:xfrm>
            <a:off x="2103120" y="5760720"/>
            <a:ext cx="7955280" cy="64008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500" dirty="0">
                <a:solidFill>
                  <a:schemeClr val="bg1"/>
                </a:solidFill>
                <a:latin typeface="Roboto Bold" panose="02000000000000000000"/>
                <a:ea typeface="Roboto" panose="02000000000000000000" pitchFamily="2" charset="0"/>
                <a:cs typeface="Roboto" panose="02000000000000000000" pitchFamily="2" charset="0"/>
              </a:rPr>
              <a:t>Acesso: sessões presenciais no notebook do autor, com o serviço local já instalado. Cada participante usou a extensão e respondeu a um Forms anônimo.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9F0D439-720C-4DC6-A2D4-8BAE5392563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B2920FB-2A01-7F22-52D4-3CBDB2269B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03180" y="455791"/>
            <a:ext cx="5312947" cy="604942"/>
          </a:xfrm>
        </p:spPr>
        <p:txBody>
          <a:bodyPr/>
          <a:lstStyle/>
          <a:p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Perfil dos participantes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64B6F85-7E10-CD6C-2BE5-2724FED30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6214" y="4528195"/>
            <a:ext cx="4333127" cy="1282519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172033"/>
                </a:solidFill>
              </a:rPr>
              <a:t>• 30 </a:t>
            </a:r>
            <a:r>
              <a:rPr lang="en-US" b="1" dirty="0" err="1">
                <a:solidFill>
                  <a:srgbClr val="172033"/>
                </a:solidFill>
              </a:rPr>
              <a:t>participantes</a:t>
            </a:r>
            <a:r>
              <a:rPr lang="en-US" b="1" dirty="0">
                <a:solidFill>
                  <a:srgbClr val="172033"/>
                </a:solidFill>
              </a:rPr>
              <a:t> no </a:t>
            </a:r>
            <a:r>
              <a:rPr lang="en-US" b="1" dirty="0" err="1">
                <a:solidFill>
                  <a:srgbClr val="172033"/>
                </a:solidFill>
              </a:rPr>
              <a:t>estudo</a:t>
            </a:r>
            <a:r>
              <a:rPr lang="en-US" b="1" dirty="0">
                <a:solidFill>
                  <a:srgbClr val="172033"/>
                </a:solidFill>
              </a:rPr>
              <a:t> principal.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</a:t>
            </a:r>
            <a:r>
              <a:rPr lang="en-US" b="1" dirty="0" err="1">
                <a:solidFill>
                  <a:srgbClr val="172033"/>
                </a:solidFill>
              </a:rPr>
              <a:t>Equilíbrio</a:t>
            </a:r>
            <a:r>
              <a:rPr lang="en-US" b="1" dirty="0">
                <a:solidFill>
                  <a:srgbClr val="172033"/>
                </a:solidFill>
              </a:rPr>
              <a:t> entre </a:t>
            </a:r>
            <a:r>
              <a:rPr lang="en-US" b="1" dirty="0" err="1">
                <a:solidFill>
                  <a:srgbClr val="172033"/>
                </a:solidFill>
              </a:rPr>
              <a:t>área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 e </a:t>
            </a:r>
            <a:r>
              <a:rPr lang="en-US" b="1" dirty="0" err="1">
                <a:solidFill>
                  <a:srgbClr val="172033"/>
                </a:solidFill>
              </a:rPr>
              <a:t>não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: 15 / 15.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22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superior e 8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médio</a:t>
            </a:r>
            <a:r>
              <a:rPr lang="en-US" b="1" dirty="0">
                <a:solidFill>
                  <a:srgbClr val="172033"/>
                </a:solidFill>
              </a:rPr>
              <a:t>.</a:t>
            </a:r>
          </a:p>
          <a:p>
            <a:pPr algn="just"/>
            <a:endParaRPr lang="en-US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3D9702-2823-570B-477C-6DE5E7F33C91}"/>
              </a:ext>
            </a:extLst>
          </p:cNvPr>
          <p:cNvSpPr txBox="1"/>
          <p:nvPr/>
        </p:nvSpPr>
        <p:spPr>
          <a:xfrm>
            <a:off x="3185481" y="6209765"/>
            <a:ext cx="4735201" cy="578882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Essa composição permite observar valor tanto para especialistas quanto para não especialistas.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17482-4E45-B6CC-C2A9-B4DCCA7729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D2952FC8-C70C-2E76-C46F-9D4C4F25A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678470"/>
              </p:ext>
            </p:extLst>
          </p:nvPr>
        </p:nvGraphicFramePr>
        <p:xfrm>
          <a:off x="5190109" y="1239334"/>
          <a:ext cx="5996613" cy="3244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848368" imgH="3704953" progId="Acrobat.Document.DC">
                  <p:embed/>
                </p:oleObj>
              </mc:Choice>
              <mc:Fallback>
                <p:oleObj name="Acrobat Document" r:id="rId2" imgW="6848368" imgH="3704953" progId="Acrobat.Document.DC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D2952FC8-C70C-2E76-C46F-9D4C4F25A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90109" y="1239334"/>
                        <a:ext cx="5996613" cy="3244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0424358-1C76-4791-A22E-E0D707D4587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860040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BD2D9F-4E69-044A-D910-D491C0F94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2701" y="2013954"/>
            <a:ext cx="3927494" cy="1118045"/>
          </a:xfrm>
        </p:spPr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AE30E7-98F0-DBAA-D65C-538641B0EB51}"/>
              </a:ext>
            </a:extLst>
          </p:cNvPr>
          <p:cNvSpPr txBox="1"/>
          <p:nvPr/>
        </p:nvSpPr>
        <p:spPr>
          <a:xfrm>
            <a:off x="-100319" y="2830855"/>
            <a:ext cx="562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Quantitativos por constructo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2CA103-F160-79BC-6147-732ACBDC0A08}"/>
              </a:ext>
            </a:extLst>
          </p:cNvPr>
          <p:cNvSpPr/>
          <p:nvPr/>
        </p:nvSpPr>
        <p:spPr>
          <a:xfrm>
            <a:off x="5719483" y="457020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2F80E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Facilidade de uso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02FFA3-B027-EC2D-20A5-353E6A01F0C3}"/>
              </a:ext>
            </a:extLst>
          </p:cNvPr>
          <p:cNvSpPr/>
          <p:nvPr/>
        </p:nvSpPr>
        <p:spPr>
          <a:xfrm>
            <a:off x="7702027" y="456231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00A6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 err="1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Aprendizagem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94C984-D8F7-E030-9163-69B62A8AAF6B}"/>
              </a:ext>
            </a:extLst>
          </p:cNvPr>
          <p:cNvSpPr/>
          <p:nvPr/>
        </p:nvSpPr>
        <p:spPr>
          <a:xfrm>
            <a:off x="9611510" y="4570207"/>
            <a:ext cx="1539240" cy="824395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4,63</a:t>
            </a:r>
            <a:r>
              <a:rPr lang="en-US" sz="2900" b="1" dirty="0">
                <a:solidFill>
                  <a:srgbClr val="6B5DD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Utilidade percebida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2328DB-C28A-B8B0-C463-189504E2331B}"/>
              </a:ext>
            </a:extLst>
          </p:cNvPr>
          <p:cNvSpPr/>
          <p:nvPr/>
        </p:nvSpPr>
        <p:spPr>
          <a:xfrm>
            <a:off x="6366222" y="5812481"/>
            <a:ext cx="3818965" cy="32004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Todos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constructos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ficaram acima de 4,4.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0044FF-C9DC-39BB-936D-B0DE5412D84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320F852-B4B9-6601-0025-166CC9CA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410" y="1023508"/>
            <a:ext cx="6719943" cy="3301538"/>
          </a:xfrm>
          <a:prstGeom prst="rect">
            <a:avLst/>
          </a:prstGeom>
        </p:spPr>
      </p:pic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8913BA4-704A-4D07-BD6C-09E0BDAD784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28128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E953-608E-2B69-B3BC-91A9B0E0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7F6F0F3-8313-1C90-D6E7-FFC2FA50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BCFBB321-2963-EBB9-11C0-0B12E776FD4B}"/>
              </a:ext>
            </a:extLst>
          </p:cNvPr>
          <p:cNvSpPr txBox="1"/>
          <p:nvPr/>
        </p:nvSpPr>
        <p:spPr>
          <a:xfrm>
            <a:off x="284297" y="739459"/>
            <a:ext cx="6480639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5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Usabilidade geral: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C9D4D86-DA17-EBC4-22AB-C4FE04D8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427EC1-1065-A40A-5E10-068256C3A4F3}"/>
              </a:ext>
            </a:extLst>
          </p:cNvPr>
          <p:cNvSpPr txBox="1"/>
          <p:nvPr/>
        </p:nvSpPr>
        <p:spPr>
          <a:xfrm>
            <a:off x="284297" y="1488400"/>
            <a:ext cx="5309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Composto inspirado no SUS</a:t>
            </a:r>
          </a:p>
        </p:txBody>
      </p:sp>
      <p:pic>
        <p:nvPicPr>
          <p:cNvPr id="4" name="Image 0" descr="/mnt/data/assets/final/sus_page-1.png">
            <a:extLst>
              <a:ext uri="{FF2B5EF4-FFF2-40B4-BE49-F238E27FC236}">
                <a16:creationId xmlns:a16="http://schemas.microsoft.com/office/drawing/2014/main" id="{AEA8D43F-900F-978A-07A4-AA31EFA58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40" y="2120088"/>
            <a:ext cx="6995160" cy="3749146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3903783-1CC4-ADFC-0B89-9E148E3875FC}"/>
              </a:ext>
            </a:extLst>
          </p:cNvPr>
          <p:cNvSpPr/>
          <p:nvPr/>
        </p:nvSpPr>
        <p:spPr>
          <a:xfrm>
            <a:off x="1825568" y="507492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86,7%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pontuaram</a:t>
            </a:r>
            <a:r>
              <a:rPr lang="en-US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≥ 80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D9C3820-2EE1-6EDC-D16D-812E1922D7C2}"/>
              </a:ext>
            </a:extLst>
          </p:cNvPr>
          <p:cNvSpPr/>
          <p:nvPr/>
        </p:nvSpPr>
        <p:spPr>
          <a:xfrm>
            <a:off x="1825568" y="384048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92,5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mediana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104126-B2F1-4178-E88D-143BAC637A83}"/>
              </a:ext>
            </a:extLst>
          </p:cNvPr>
          <p:cNvSpPr/>
          <p:nvPr/>
        </p:nvSpPr>
        <p:spPr>
          <a:xfrm>
            <a:off x="1825568" y="260604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90,4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média geral / 100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0" name="Nota SUS"/>
          <p:cNvSpPr txBox="1"/>
          <p:nvPr/>
        </p:nvSpPr>
        <p:spPr>
          <a:xfrm>
            <a:off x="411480" y="18745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Itens próprios, reescalados de 0 a 100 como no SUS. Não é o SUS padrão nem se compara aos benchmarks do SUS. Escala completa: α = 0,832.</a:t>
            </a:r>
          </a:p>
        </p:txBody>
      </p:sp>
      <p:sp>
        <p:nvSpPr>
          <p:cNvPr id="19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4151433-13F2-4292-8530-ECACE872AD8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9044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FE90-3C3D-9CFF-B10B-4ED42DC5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EA31A27-C7A6-4BFF-38FA-7A06A8FA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1ED1A8D-1705-CB98-B7B9-210FFA7D45DF}"/>
              </a:ext>
            </a:extLst>
          </p:cNvPr>
          <p:cNvSpPr txBox="1"/>
          <p:nvPr/>
        </p:nvSpPr>
        <p:spPr>
          <a:xfrm>
            <a:off x="5940815" y="359067"/>
            <a:ext cx="6098785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Feedback qualitativo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2476C94-42E8-7F9F-8E5C-F06286D61F34}"/>
              </a:ext>
            </a:extLst>
          </p:cNvPr>
          <p:cNvSpPr txBox="1"/>
          <p:nvPr/>
        </p:nvSpPr>
        <p:spPr>
          <a:xfrm>
            <a:off x="5515935" y="984456"/>
            <a:ext cx="5914066" cy="200906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Reforçaram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ideia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clara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rápida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sistema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foi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visto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como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para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overview e consulta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As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melhorias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pedidas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refinamentos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detalhes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formatação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glossário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velocidade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ABE198-524A-7417-6A83-ABCE3200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79" y="3133991"/>
            <a:ext cx="6863378" cy="3583534"/>
          </a:xfrm>
          <a:prstGeom prst="rect">
            <a:avLst/>
          </a:prstGeom>
        </p:spPr>
      </p:pic>
      <p:sp>
        <p:nvSpPr>
          <p:cNvPr id="11" name="Número do slide"/>
          <p:cNvSpPr/>
          <p:nvPr userDrawn="1"/>
        </p:nvSpPr>
        <p:spPr>
          <a:xfrm>
            <a:off x="11631168" y="27432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E0994A9-F42B-4D50-A7EF-6BB1506EBA64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2149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21C2073-BC84-F7EA-6D19-F5D83519A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640080"/>
            <a:ext cx="5120640" cy="768096"/>
          </a:xfrm>
        </p:spPr>
        <p:txBody>
          <a:bodyPr/>
          <a:lstStyle/>
          <a:p>
            <a:r>
              <a:rPr lang="pt-BR" dirty="0"/>
              <a:t>Avaliação de performance (</a:t>
            </a:r>
            <a:r>
              <a:rPr lang="pt-BR" dirty="0" err="1"/>
              <a:t>backend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14DF2-AE9D-DC82-B6F2-0AC3FA96FB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5800" y="1481328"/>
            <a:ext cx="5410200" cy="100584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Notebook de alto desempenho: i9-13900HX e RTX 4070 (8 GB)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Petição de 4.392 palavras, nível médio, 10 execuções</a:t>
            </a:r>
          </a:p>
        </p:txBody>
      </p:sp>
      <p:sp>
        <p:nvSpPr>
          <p:cNvPr id="200" name="Stat 1min31s"/>
          <p:cNvSpPr/>
          <p:nvPr/>
        </p:nvSpPr>
        <p:spPr>
          <a:xfrm>
            <a:off x="6858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1min31s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documento (média)</a:t>
            </a:r>
          </a:p>
        </p:txBody>
      </p:sp>
      <p:sp>
        <p:nvSpPr>
          <p:cNvPr id="201" name="Stat 21 s"/>
          <p:cNvSpPr/>
          <p:nvPr/>
        </p:nvSpPr>
        <p:spPr>
          <a:xfrm>
            <a:off x="25146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 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1.000 palavras</a:t>
            </a:r>
          </a:p>
        </p:txBody>
      </p:sp>
      <p:sp>
        <p:nvSpPr>
          <p:cNvPr id="202" name="Stat 95%"/>
          <p:cNvSpPr/>
          <p:nvPr/>
        </p:nvSpPr>
        <p:spPr>
          <a:xfrm>
            <a:off x="43434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95%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uso médio da GPU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VRAM: 6,4 de 8 GB</a:t>
            </a:r>
          </a:p>
        </p:txBody>
      </p:sp>
      <p:sp>
        <p:nvSpPr>
          <p:cNvPr id="203" name="Stat 5 de 5"/>
          <p:cNvSpPr/>
          <p:nvPr/>
        </p:nvSpPr>
        <p:spPr>
          <a:xfrm>
            <a:off x="6858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de 5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blocos aceitos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modelo</a:t>
            </a:r>
          </a:p>
        </p:txBody>
      </p:sp>
      <p:sp>
        <p:nvSpPr>
          <p:cNvPr id="204" name="Stat 10 de 10"/>
          <p:cNvSpPr/>
          <p:nvPr/>
        </p:nvSpPr>
        <p:spPr>
          <a:xfrm>
            <a:off x="25146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de 10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validações finais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aprovadas</a:t>
            </a:r>
          </a:p>
        </p:txBody>
      </p:sp>
      <p:sp>
        <p:nvSpPr>
          <p:cNvPr id="205" name="Stat 26%"/>
          <p:cNvSpPr/>
          <p:nvPr/>
        </p:nvSpPr>
        <p:spPr>
          <a:xfrm>
            <a:off x="43434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tamanho original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(1.144 palavras)</a:t>
            </a:r>
          </a:p>
        </p:txBody>
      </p:sp>
      <p:sp>
        <p:nvSpPr>
          <p:cNvPr id="210" name="Checagem de preservacao"/>
          <p:cNvSpPr txBox="1"/>
          <p:nvPr/>
        </p:nvSpPr>
        <p:spPr>
          <a:xfrm>
            <a:off x="685800" y="4754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Checagem de preservação: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manteve as partes, os valores e os 10 pedidos; perdeu parte da fundamentação jurídica (competência, legitimidade e algumas citações).</a:t>
            </a:r>
          </a:p>
        </p:txBody>
      </p:sp>
      <p:sp>
        <p:nvSpPr>
          <p:cNvPr id="2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8C8D4CD-38F6-44D0-A620-C949B483D66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73948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25EFF7A-989A-5A81-62F9-5ED59FE36E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dirty="0"/>
              <a:t>O QUE OS RESULTADOS INDICAM?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FBAD9-4752-2F8F-A210-106D6583A3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O LASCAS foi percebido como uma </a:t>
            </a:r>
            <a:r>
              <a:rPr lang="pt-BR" dirty="0">
                <a:solidFill>
                  <a:srgbClr val="E94D1C"/>
                </a:solidFill>
              </a:rPr>
              <a:t>camada de apoio</a:t>
            </a:r>
            <a:r>
              <a:rPr lang="pt-BR" dirty="0"/>
              <a:t>, não como substituto da leitura jurídica especializada.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E8BBC4-683C-E510-5632-AA1649C0294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400" dirty="0"/>
              <a:t>• Ajuda na primeira leitura: entender tema, função do documento e pontos principais.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Apoia triagem: decidir onde concentrar atenção antes de leitura técnica completa.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 interface não virou nova barreira: facilidade de uso e aprendizagem ficaram muito altas.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O valor está no conjunto: documento + simplificação + validação + apresentação.</a:t>
            </a:r>
          </a:p>
          <a:p>
            <a:endParaRPr lang="pt-BR" sz="1200" dirty="0"/>
          </a:p>
        </p:txBody>
      </p:sp>
      <p:sp>
        <p:nvSpPr>
          <p:cNvPr id="5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C005CA0-AAD9-4659-A330-C4E95C3AA7FA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5132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A3B5B3-71DA-FA10-F83C-C85D067FF4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17580" y="72721"/>
            <a:ext cx="5158062" cy="1118045"/>
          </a:xfrm>
        </p:spPr>
        <p:txBody>
          <a:bodyPr/>
          <a:lstStyle/>
          <a:p>
            <a:r>
              <a:rPr lang="pt-BR" sz="3200" dirty="0"/>
              <a:t>Posicionamento frente aos trabalhos relacionados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D9C50E-83BE-5343-D5E4-49E6FC33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23" y="1799806"/>
            <a:ext cx="6012898" cy="3507524"/>
          </a:xfrm>
          <a:prstGeom prst="rect">
            <a:avLst/>
          </a:prstGeom>
        </p:spPr>
      </p:pic>
      <p:sp>
        <p:nvSpPr>
          <p:cNvPr id="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83E8046-5564-44FB-BE09-F41073623A9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89201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63DE16-1186-E5B6-3CF1-41129E63C3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9619" y="368122"/>
            <a:ext cx="6734546" cy="1118045"/>
          </a:xfrm>
        </p:spPr>
        <p:txBody>
          <a:bodyPr/>
          <a:lstStyle/>
          <a:p>
            <a:r>
              <a:rPr lang="pt-BR" dirty="0"/>
              <a:t>LIMITAÇÕES E PRÓXIMOS PASSOS</a:t>
            </a:r>
          </a:p>
        </p:txBody>
      </p:sp>
      <p:sp>
        <p:nvSpPr>
          <p:cNvPr id="240" name="Limitacoes"/>
          <p:cNvSpPr txBox="1"/>
          <p:nvPr/>
        </p:nvSpPr>
        <p:spPr>
          <a:xfrm>
            <a:off x="548640" y="34290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Limitações</a:t>
            </a:r>
          </a:p>
        </p:txBody>
      </p:sp>
      <p:sp>
        <p:nvSpPr>
          <p:cNvPr id="241" name="Lista limitacoes"/>
          <p:cNvSpPr txBox="1"/>
          <p:nvPr/>
        </p:nvSpPr>
        <p:spPr>
          <a:xfrm>
            <a:off x="548640" y="393192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Amostra por conveniência e autorrelato: mede percepção, não compreensão.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 único documento, o mesmo para todos, e só o nível médio.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saída mantém partes, valores e pedidos, mas perde parte da fundamentação.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 do hardware local e não tem OCR para PDFs escaneados.</a:t>
            </a:r>
          </a:p>
        </p:txBody>
      </p:sp>
      <p:sp>
        <p:nvSpPr>
          <p:cNvPr id="242" name="Proximos passos"/>
          <p:cNvSpPr txBox="1"/>
          <p:nvPr/>
        </p:nvSpPr>
        <p:spPr>
          <a:xfrm>
            <a:off x="6263640" y="3429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Próximos passos</a:t>
            </a:r>
          </a:p>
        </p:txBody>
      </p:sp>
      <p:sp>
        <p:nvSpPr>
          <p:cNvPr id="243" name="Passo Avaliação mais forte: "/>
          <p:cNvSpPr/>
          <p:nvPr/>
        </p:nvSpPr>
        <p:spPr>
          <a:xfrm>
            <a:off x="6263640" y="3931920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Avaliação mais forte: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tarefas objetivas de compreensão e tempo de leitura.</a:t>
            </a:r>
          </a:p>
        </p:txBody>
      </p:sp>
      <p:sp>
        <p:nvSpPr>
          <p:cNvPr id="244" name="Passo Qualidade técnica: "/>
          <p:cNvSpPr/>
          <p:nvPr/>
        </p:nvSpPr>
        <p:spPr>
          <a:xfrm>
            <a:off x="6263640" y="4645152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Qualidade técnica: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OCR e otimização para documentos longos.</a:t>
            </a:r>
          </a:p>
        </p:txBody>
      </p:sp>
      <p:sp>
        <p:nvSpPr>
          <p:cNvPr id="245" name="Passo Domínio jurídico: "/>
          <p:cNvSpPr/>
          <p:nvPr/>
        </p:nvSpPr>
        <p:spPr>
          <a:xfrm>
            <a:off x="6263640" y="5358384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Domínio jurídico: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maior e modelos adaptados ao português jurídico.</a:t>
            </a:r>
          </a:p>
        </p:txBody>
      </p:sp>
      <p:sp>
        <p:nvSpPr>
          <p:cNvPr id="24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251E4F2-6ADB-4E4D-B032-FBF9043F7FC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36326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15D18C-687C-345D-1E6E-29D37DF63F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15700" y="502920"/>
            <a:ext cx="4391941" cy="599579"/>
          </a:xfrm>
        </p:spPr>
        <p:txBody>
          <a:bodyPr/>
          <a:lstStyle/>
          <a:p>
            <a:pPr algn="ctr"/>
            <a:r>
              <a:rPr lang="pt-BR" sz="5400" b="1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430827-EEA0-02D6-6B6B-A9BCF914A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57800" y="1737360"/>
            <a:ext cx="5897880" cy="20574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Dentro dos limites desta avaliação, um modelo de linguagem local consegue apoiar a simplificação de textos jurídicos quando trabalha dentro de um pipeline que normaliza a entrada, protege e valida o essencial, tem fallback determinístico e mostra o resultado ao lado do original.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44FBCCE-3EFC-1561-E9C5-44DEB0445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0680" y="4069080"/>
            <a:ext cx="5532120" cy="1280160"/>
          </a:xfrm>
        </p:spPr>
        <p:txBody>
          <a:bodyPr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simplificação jurídica mais segura não é só geração de texto: exige processamento de documento, salvaguardas semânticas, linguagem simples e uma interface que apoie a leitura.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CF45FC25-604D-CED8-15BE-4075ED0CAA6D}"/>
              </a:ext>
            </a:extLst>
          </p:cNvPr>
          <p:cNvSpPr/>
          <p:nvPr/>
        </p:nvSpPr>
        <p:spPr>
          <a:xfrm>
            <a:off x="6569364" y="5650964"/>
            <a:ext cx="3099608" cy="475488"/>
          </a:xfrm>
          <a:prstGeom prst="roundRect">
            <a:avLst/>
          </a:prstGeom>
          <a:solidFill>
            <a:srgbClr val="F5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l"/>
            <a:r>
              <a:rPr sz="1150">
                <a:solidFill>
                  <a:srgbClr val="4953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Repositório: </a:t>
            </a:r>
            <a:r>
              <a:rPr sz="1150" u="sng">
                <a:solidFill>
                  <a:srgbClr val="2F75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github.com/StukerVitor/tcc_2</a:t>
            </a:r>
          </a:p>
        </p:txBody>
      </p:sp>
      <p:sp>
        <p:nvSpPr>
          <p:cNvPr id="250" name="Rotulo resposta"/>
          <p:cNvSpPr txBox="1"/>
          <p:nvPr/>
        </p:nvSpPr>
        <p:spPr>
          <a:xfrm>
            <a:off x="5257800" y="1298448"/>
            <a:ext cx="5897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E94D1C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RESPOSTA À QUESTÃO DE PESQUISA</a:t>
            </a:r>
          </a:p>
        </p:txBody>
      </p:sp>
      <p:sp>
        <p:nvSpPr>
          <p:cNvPr id="25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A531712-DF15-4911-A5F2-12BC5B956741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070348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22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58131E-81B1-4828-95B2-C081124A8C73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329F00-2A8C-46E7-9764-248AFFF1202A}">
  <ds:schemaRefs>
    <ds:schemaRef ds:uri="http://schemas.microsoft.com/office/2006/metadata/properties"/>
    <ds:schemaRef ds:uri="5fb5f026-dc7b-485f-82fe-577aafb4aba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9970e0e6-68bd-454a-b013-2dc3f312d27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1948</TotalTime>
  <Words>1956</Words>
  <Application>Microsoft Office PowerPoint</Application>
  <PresentationFormat>Widescreen</PresentationFormat>
  <Paragraphs>248</Paragraphs>
  <Slides>24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Roboto</vt:lpstr>
      <vt:lpstr>Roboto Black</vt:lpstr>
      <vt:lpstr>Roboto Bold</vt:lpstr>
      <vt:lpstr>Roboto Light</vt:lpstr>
      <vt:lpstr>tema unisinos</vt:lpstr>
      <vt:lpstr>Acrobat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SEGURANÇA SEMÂNTICA: simplificar sem perder o essencial</vt:lpstr>
      <vt:lpstr>Apresentação do PowerPoint</vt:lpstr>
      <vt:lpstr>Apresentação do PowerPoint</vt:lpstr>
      <vt:lpstr>Apresentação do PowerPoint</vt:lpstr>
      <vt:lpstr>Metodologia da avaliação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Vitor Stüker</cp:lastModifiedBy>
  <cp:revision>28</cp:revision>
  <cp:lastPrinted>2026-10-05T19:16:03Z</cp:lastPrinted>
  <dcterms:created xsi:type="dcterms:W3CDTF">2012-07-30T23:50:35Z</dcterms:created>
  <dcterms:modified xsi:type="dcterms:W3CDTF">2026-10-08T14:28:35Z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