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30"/>
  </p:notesMasterIdLst>
  <p:sldIdLst>
    <p:sldId id="256" r:id="rId5"/>
    <p:sldId id="323" r:id="rId6"/>
    <p:sldId id="565" r:id="rId7"/>
    <p:sldId id="551" r:id="rId8"/>
    <p:sldId id="554" r:id="rId9"/>
    <p:sldId id="572" r:id="rId10"/>
    <p:sldId id="289" r:id="rId11"/>
    <p:sldId id="573" r:id="rId12"/>
    <p:sldId id="541" r:id="rId13"/>
    <p:sldId id="571" r:id="rId14"/>
    <p:sldId id="548" r:id="rId15"/>
    <p:sldId id="271" r:id="rId16"/>
    <p:sldId id="569" r:id="rId17"/>
    <p:sldId id="549" r:id="rId18"/>
    <p:sldId id="568" r:id="rId19"/>
    <p:sldId id="273" r:id="rId20"/>
    <p:sldId id="550" r:id="rId21"/>
    <p:sldId id="547" r:id="rId22"/>
    <p:sldId id="320" r:id="rId23"/>
    <p:sldId id="291" r:id="rId24"/>
    <p:sldId id="575" r:id="rId25"/>
    <p:sldId id="552" r:id="rId26"/>
    <p:sldId id="564" r:id="rId27"/>
    <p:sldId id="563" r:id="rId28"/>
    <p:sldId id="574" r:id="rId2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049A"/>
    <a:srgbClr val="E94D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A1EACE-E70F-49B8-A5D2-F8F3B68CAEFE}" v="3" dt="2026-05-22T17:13:30.0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132" y="12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microsoft.com/office/2015/10/relationships/revisionInfo" Target="revisionInfo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EFFF79-EEE3-444A-9BA1-1453A65B916B}" type="datetimeFigureOut">
              <a:t>11/08/2026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BDD6EE-BF3C-42FE-A967-089A0F35743B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11193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err="1"/>
              <a:t>Ta</a:t>
            </a:r>
            <a:r>
              <a:rPr lang="pt-BR" dirty="0"/>
              <a:t> faltando o “foco: apoio ...”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DD6EE-BF3C-42FE-A967-089A0F35743B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36873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Requisito técnico tem que vir por ultimo, embaixo.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DD6EE-BF3C-42FE-A967-089A0F35743B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0530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Slide esquisito, a fonte parece diferente...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DD6EE-BF3C-42FE-A967-089A0F35743B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29944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DD6EE-BF3C-42FE-A967-089A0F35743B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6625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BC997-10E7-FA7A-FD9A-09EE67826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A99F80-F636-CD80-8450-29A3FA5496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F23315-D67B-4947-B8DA-23D8C4AFD5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ADB8E6-40E1-63EB-C31E-E276A5B977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65D06E-E64E-4989-A051-4EE68808192F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7545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Diagrama, Desenho técnico&#10;&#10;O conteúdo gerado por IA pode estar incorreto.">
            <a:extLst>
              <a:ext uri="{FF2B5EF4-FFF2-40B4-BE49-F238E27FC236}">
                <a16:creationId xmlns:a16="http://schemas.microsoft.com/office/drawing/2014/main" id="{B12703BC-BA0D-49E1-5856-8172DFCF21E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Espaço Reservado para Conteúdo 4">
            <a:extLst>
              <a:ext uri="{FF2B5EF4-FFF2-40B4-BE49-F238E27FC236}">
                <a16:creationId xmlns:a16="http://schemas.microsoft.com/office/drawing/2014/main" id="{9BA904D1-772F-4932-8EC4-AC8ABD79784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198963" y="854211"/>
            <a:ext cx="9794071" cy="29136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2000">
                <a:solidFill>
                  <a:schemeClr val="bg1"/>
                </a:solidFill>
                <a:latin typeface="Roboto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CARTOLA </a:t>
            </a:r>
            <a:r>
              <a:rPr lang="pt-BR" dirty="0" err="1"/>
              <a:t>CARTOLA</a:t>
            </a:r>
            <a:endParaRPr lang="pt-BR" dirty="0"/>
          </a:p>
        </p:txBody>
      </p:sp>
      <p:sp>
        <p:nvSpPr>
          <p:cNvPr id="11" name="Espaço Reservado para Conteúdo 4">
            <a:extLst>
              <a:ext uri="{FF2B5EF4-FFF2-40B4-BE49-F238E27FC236}">
                <a16:creationId xmlns:a16="http://schemas.microsoft.com/office/drawing/2014/main" id="{798E2A19-B017-4014-9BCE-0EDA90228AE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198962" y="2685167"/>
            <a:ext cx="9794071" cy="29136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COMPLEMENTO </a:t>
            </a:r>
            <a:r>
              <a:rPr lang="pt-BR" err="1"/>
              <a:t>COMPLEMENTO</a:t>
            </a:r>
            <a:endParaRPr lang="pt-BR"/>
          </a:p>
        </p:txBody>
      </p:sp>
      <p:sp>
        <p:nvSpPr>
          <p:cNvPr id="14" name="Espaço Reservado para Conteúdo 4">
            <a:extLst>
              <a:ext uri="{FF2B5EF4-FFF2-40B4-BE49-F238E27FC236}">
                <a16:creationId xmlns:a16="http://schemas.microsoft.com/office/drawing/2014/main" id="{0FAFA1B5-CB3C-4B76-9115-38A3CFEBBED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198962" y="1376961"/>
            <a:ext cx="9794071" cy="111804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4800">
                <a:solidFill>
                  <a:schemeClr val="bg1"/>
                </a:solidFill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TÍTULO DA CAPA</a:t>
            </a:r>
          </a:p>
          <a:p>
            <a:pPr lvl="0"/>
            <a:r>
              <a:rPr lang="pt-BR" dirty="0"/>
              <a:t>TÍTULO DA CAPA</a:t>
            </a:r>
          </a:p>
        </p:txBody>
      </p:sp>
    </p:spTree>
    <p:extLst>
      <p:ext uri="{BB962C8B-B14F-4D97-AF65-F5344CB8AC3E}">
        <p14:creationId xmlns:p14="http://schemas.microsoft.com/office/powerpoint/2010/main" val="7432689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 descr="Uma imagem contendo pessoa, segurando, raquete, homem&#10;&#10;O conteúdo gerado por IA pode estar incorreto.">
            <a:extLst>
              <a:ext uri="{FF2B5EF4-FFF2-40B4-BE49-F238E27FC236}">
                <a16:creationId xmlns:a16="http://schemas.microsoft.com/office/drawing/2014/main" id="{68201F9E-9442-51CA-D606-ADE185D215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Espaço Reservado para Conteúdo 4">
            <a:extLst>
              <a:ext uri="{FF2B5EF4-FFF2-40B4-BE49-F238E27FC236}">
                <a16:creationId xmlns:a16="http://schemas.microsoft.com/office/drawing/2014/main" id="{641F0451-2034-4B4C-B5BB-323C5B96055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99028" y="1721616"/>
            <a:ext cx="3848744" cy="7667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2400">
                <a:solidFill>
                  <a:schemeClr val="bg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TÍTULO </a:t>
            </a:r>
            <a:br>
              <a:rPr lang="pt-BR" dirty="0"/>
            </a:br>
            <a:r>
              <a:rPr lang="pt-BR" dirty="0"/>
              <a:t>DE SEÇÃO</a:t>
            </a:r>
          </a:p>
        </p:txBody>
      </p:sp>
      <p:sp>
        <p:nvSpPr>
          <p:cNvPr id="13" name="Espaço Reservado para Conteúdo 4">
            <a:extLst>
              <a:ext uri="{FF2B5EF4-FFF2-40B4-BE49-F238E27FC236}">
                <a16:creationId xmlns:a16="http://schemas.microsoft.com/office/drawing/2014/main" id="{271D91BB-59F7-42EE-91A0-E9E7DAE29B4D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999026" y="2655324"/>
            <a:ext cx="3848743" cy="328827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 </a:t>
            </a:r>
            <a:r>
              <a:rPr lang="pt-BR" dirty="0" err="1"/>
              <a:t>vestibulum</a:t>
            </a:r>
            <a:r>
              <a:rPr lang="pt-BR" dirty="0"/>
              <a:t> </a:t>
            </a:r>
            <a:r>
              <a:rPr lang="pt-BR" dirty="0" err="1"/>
              <a:t>dictum</a:t>
            </a:r>
            <a:r>
              <a:rPr lang="pt-BR" dirty="0"/>
              <a:t>. </a:t>
            </a:r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nisi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</a:t>
            </a:r>
            <a:r>
              <a:rPr lang="pt-BR" dirty="0" err="1"/>
              <a:t>imperdiet</a:t>
            </a:r>
            <a:r>
              <a:rPr lang="pt-BR" dirty="0"/>
              <a:t> </a:t>
            </a:r>
            <a:r>
              <a:rPr lang="pt-BR" dirty="0" err="1"/>
              <a:t>ex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, id </a:t>
            </a:r>
            <a:r>
              <a:rPr lang="pt-BR" dirty="0" err="1"/>
              <a:t>mattis</a:t>
            </a:r>
            <a:r>
              <a:rPr lang="pt-BR" dirty="0"/>
              <a:t> </a:t>
            </a:r>
            <a:r>
              <a:rPr lang="pt-BR" dirty="0" err="1"/>
              <a:t>lacus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. </a:t>
            </a:r>
          </a:p>
          <a:p>
            <a:pPr lvl="0"/>
            <a:endParaRPr lang="pt-BR" dirty="0"/>
          </a:p>
          <a:p>
            <a:pPr lvl="0"/>
            <a:r>
              <a:rPr lang="pt-BR" dirty="0" err="1"/>
              <a:t>Maecenas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, </a:t>
            </a:r>
            <a:r>
              <a:rPr lang="pt-BR" dirty="0" err="1"/>
              <a:t>diam</a:t>
            </a:r>
            <a:r>
              <a:rPr lang="pt-BR" dirty="0"/>
              <a:t> vitae gravida </a:t>
            </a:r>
            <a:r>
              <a:rPr lang="pt-BR" dirty="0" err="1"/>
              <a:t>congue</a:t>
            </a:r>
            <a:r>
              <a:rPr lang="pt-BR" dirty="0"/>
              <a:t>, est sem </a:t>
            </a:r>
            <a:r>
              <a:rPr lang="pt-BR" dirty="0" err="1"/>
              <a:t>auctor</a:t>
            </a:r>
            <a:r>
              <a:rPr lang="pt-BR" dirty="0"/>
              <a:t> </a:t>
            </a:r>
            <a:r>
              <a:rPr lang="pt-BR" dirty="0" err="1"/>
              <a:t>orci</a:t>
            </a:r>
            <a:r>
              <a:rPr lang="pt-BR" dirty="0"/>
              <a:t>,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 </a:t>
            </a:r>
            <a:r>
              <a:rPr lang="pt-BR" dirty="0" err="1"/>
              <a:t>ullamcorper</a:t>
            </a:r>
            <a:r>
              <a:rPr lang="pt-BR" dirty="0"/>
              <a:t> sem </a:t>
            </a:r>
            <a:r>
              <a:rPr lang="pt-BR" dirty="0" err="1"/>
              <a:t>orci</a:t>
            </a:r>
            <a:r>
              <a:rPr lang="pt-BR" dirty="0"/>
              <a:t> in </a:t>
            </a:r>
            <a:r>
              <a:rPr lang="pt-BR" dirty="0" err="1"/>
              <a:t>tellus</a:t>
            </a:r>
            <a:r>
              <a:rPr lang="pt-BR" dirty="0"/>
              <a:t>. </a:t>
            </a:r>
            <a:r>
              <a:rPr lang="pt-BR" dirty="0" err="1"/>
              <a:t>Pellentesque</a:t>
            </a:r>
            <a:r>
              <a:rPr lang="pt-BR" dirty="0"/>
              <a:t> </a:t>
            </a:r>
            <a:r>
              <a:rPr lang="pt-BR" dirty="0" err="1"/>
              <a:t>habitant</a:t>
            </a:r>
            <a:r>
              <a:rPr lang="pt-BR" dirty="0"/>
              <a:t> </a:t>
            </a:r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tristique</a:t>
            </a:r>
            <a:r>
              <a:rPr lang="pt-BR" dirty="0"/>
              <a:t> </a:t>
            </a:r>
            <a:r>
              <a:rPr lang="pt-BR" dirty="0" err="1"/>
              <a:t>senectus</a:t>
            </a:r>
            <a:r>
              <a:rPr lang="pt-BR" dirty="0"/>
              <a:t> et </a:t>
            </a:r>
            <a:r>
              <a:rPr lang="pt-BR" dirty="0" err="1"/>
              <a:t>netus</a:t>
            </a:r>
            <a:r>
              <a:rPr lang="pt-BR" dirty="0"/>
              <a:t> et </a:t>
            </a:r>
            <a:r>
              <a:rPr lang="pt-BR" dirty="0" err="1"/>
              <a:t>malesuada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88615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 descr="Forma&#10;&#10;O conteúdo gerado por IA pode estar incorreto.">
            <a:extLst>
              <a:ext uri="{FF2B5EF4-FFF2-40B4-BE49-F238E27FC236}">
                <a16:creationId xmlns:a16="http://schemas.microsoft.com/office/drawing/2014/main" id="{9D5AB3BD-B97C-7B52-83A2-3E5D5CD5198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883A4AD6-7C2F-6DE8-E4EB-27627E6153B2}"/>
              </a:ext>
            </a:extLst>
          </p:cNvPr>
          <p:cNvCxnSpPr>
            <a:cxnSpLocks/>
          </p:cNvCxnSpPr>
          <p:nvPr userDrawn="1"/>
        </p:nvCxnSpPr>
        <p:spPr>
          <a:xfrm>
            <a:off x="5161560" y="3216203"/>
            <a:ext cx="5574224" cy="0"/>
          </a:xfrm>
          <a:prstGeom prst="straightConnector1">
            <a:avLst/>
          </a:prstGeom>
          <a:ln w="19050">
            <a:solidFill>
              <a:schemeClr val="bg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D832A813-B17C-DC29-723C-8DADDB8A2DE0}"/>
              </a:ext>
            </a:extLst>
          </p:cNvPr>
          <p:cNvCxnSpPr>
            <a:cxnSpLocks/>
          </p:cNvCxnSpPr>
          <p:nvPr userDrawn="1"/>
        </p:nvCxnSpPr>
        <p:spPr>
          <a:xfrm>
            <a:off x="5161560" y="3666615"/>
            <a:ext cx="5574224" cy="0"/>
          </a:xfrm>
          <a:prstGeom prst="straightConnector1">
            <a:avLst/>
          </a:prstGeom>
          <a:ln w="19050">
            <a:solidFill>
              <a:schemeClr val="bg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7950EE94-C4C8-17C8-8A38-D10AC5A0870E}"/>
              </a:ext>
            </a:extLst>
          </p:cNvPr>
          <p:cNvCxnSpPr>
            <a:cxnSpLocks/>
          </p:cNvCxnSpPr>
          <p:nvPr userDrawn="1"/>
        </p:nvCxnSpPr>
        <p:spPr>
          <a:xfrm>
            <a:off x="5161560" y="4078129"/>
            <a:ext cx="5574224" cy="0"/>
          </a:xfrm>
          <a:prstGeom prst="straightConnector1">
            <a:avLst/>
          </a:prstGeom>
          <a:ln w="19050">
            <a:solidFill>
              <a:schemeClr val="bg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A8422CA4-13D9-5447-94BF-81DFA61CFA8C}"/>
              </a:ext>
            </a:extLst>
          </p:cNvPr>
          <p:cNvSpPr/>
          <p:nvPr userDrawn="1"/>
        </p:nvSpPr>
        <p:spPr>
          <a:xfrm>
            <a:off x="5057617" y="2922847"/>
            <a:ext cx="5277795" cy="537509"/>
          </a:xfrm>
          <a:prstGeom prst="roundRect">
            <a:avLst>
              <a:gd name="adj" fmla="val 50000"/>
            </a:avLst>
          </a:prstGeom>
          <a:solidFill>
            <a:srgbClr val="432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CF33C47C-7543-6136-48FE-FFD7D5569582}"/>
              </a:ext>
            </a:extLst>
          </p:cNvPr>
          <p:cNvSpPr/>
          <p:nvPr userDrawn="1"/>
        </p:nvSpPr>
        <p:spPr>
          <a:xfrm>
            <a:off x="6067590" y="3387232"/>
            <a:ext cx="4267822" cy="537511"/>
          </a:xfrm>
          <a:prstGeom prst="roundRect">
            <a:avLst>
              <a:gd name="adj" fmla="val 50000"/>
            </a:avLst>
          </a:prstGeom>
          <a:solidFill>
            <a:srgbClr val="E94D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800FC918-C448-6DF0-E954-B06797063FAB}"/>
              </a:ext>
            </a:extLst>
          </p:cNvPr>
          <p:cNvSpPr/>
          <p:nvPr userDrawn="1"/>
        </p:nvSpPr>
        <p:spPr>
          <a:xfrm>
            <a:off x="7000073" y="3784591"/>
            <a:ext cx="3335340" cy="537512"/>
          </a:xfrm>
          <a:prstGeom prst="roundRect">
            <a:avLst>
              <a:gd name="adj" fmla="val 50000"/>
            </a:avLst>
          </a:prstGeom>
          <a:solidFill>
            <a:srgbClr val="2652C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Espaço Reservado para Conteúdo 4">
            <a:extLst>
              <a:ext uri="{FF2B5EF4-FFF2-40B4-BE49-F238E27FC236}">
                <a16:creationId xmlns:a16="http://schemas.microsoft.com/office/drawing/2014/main" id="{756E2B9B-2FC7-4B61-8475-1E6F5501EE2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927463" y="1164272"/>
            <a:ext cx="10345783" cy="494711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3600">
                <a:solidFill>
                  <a:srgbClr val="21049A"/>
                </a:solidFill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TÍTULO </a:t>
            </a:r>
            <a:r>
              <a:rPr lang="pt-BR" dirty="0" err="1"/>
              <a:t>TÍTULO</a:t>
            </a:r>
            <a:r>
              <a:rPr lang="pt-BR" dirty="0"/>
              <a:t> </a:t>
            </a:r>
            <a:r>
              <a:rPr lang="pt-BR" dirty="0" err="1"/>
              <a:t>TÍTULO</a:t>
            </a:r>
            <a:endParaRPr lang="pt-BR" dirty="0"/>
          </a:p>
        </p:txBody>
      </p:sp>
      <p:sp>
        <p:nvSpPr>
          <p:cNvPr id="21" name="Espaço Reservado para Conteúdo 4">
            <a:extLst>
              <a:ext uri="{FF2B5EF4-FFF2-40B4-BE49-F238E27FC236}">
                <a16:creationId xmlns:a16="http://schemas.microsoft.com/office/drawing/2014/main" id="{3B400B1A-A24E-4444-BD47-E24B33C087D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62141" y="2178956"/>
            <a:ext cx="3050460" cy="287568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  <a:latin typeface="Roboto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 </a:t>
            </a:r>
            <a:r>
              <a:rPr lang="pt-BR" dirty="0" err="1"/>
              <a:t>vestibulum</a:t>
            </a:r>
            <a:r>
              <a:rPr lang="pt-BR" dirty="0"/>
              <a:t> </a:t>
            </a:r>
            <a:r>
              <a:rPr lang="pt-BR" dirty="0" err="1"/>
              <a:t>dictum</a:t>
            </a:r>
            <a:r>
              <a:rPr lang="pt-BR" dirty="0"/>
              <a:t>. </a:t>
            </a:r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nisi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</a:t>
            </a:r>
            <a:r>
              <a:rPr lang="pt-BR" dirty="0" err="1"/>
              <a:t>imperdiet</a:t>
            </a:r>
            <a:r>
              <a:rPr lang="pt-BR" dirty="0"/>
              <a:t> </a:t>
            </a:r>
            <a:r>
              <a:rPr lang="pt-BR" dirty="0" err="1"/>
              <a:t>ex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, id </a:t>
            </a:r>
            <a:r>
              <a:rPr lang="pt-BR" dirty="0" err="1"/>
              <a:t>mattis</a:t>
            </a:r>
            <a:r>
              <a:rPr lang="pt-BR" dirty="0"/>
              <a:t> </a:t>
            </a:r>
            <a:r>
              <a:rPr lang="pt-BR" dirty="0" err="1"/>
              <a:t>lacus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. </a:t>
            </a:r>
          </a:p>
          <a:p>
            <a:pPr lvl="0"/>
            <a:endParaRPr lang="pt-BR" dirty="0"/>
          </a:p>
          <a:p>
            <a:pPr lvl="0"/>
            <a:r>
              <a:rPr lang="pt-BR" dirty="0" err="1"/>
              <a:t>Maecenas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, </a:t>
            </a:r>
            <a:r>
              <a:rPr lang="pt-BR" dirty="0" err="1"/>
              <a:t>diam</a:t>
            </a:r>
            <a:r>
              <a:rPr lang="pt-BR" dirty="0"/>
              <a:t> vitae gravida </a:t>
            </a:r>
            <a:r>
              <a:rPr lang="pt-BR" dirty="0" err="1"/>
              <a:t>congue</a:t>
            </a:r>
            <a:r>
              <a:rPr lang="pt-BR" dirty="0"/>
              <a:t>, est sem </a:t>
            </a:r>
            <a:r>
              <a:rPr lang="pt-BR" dirty="0" err="1"/>
              <a:t>auctor</a:t>
            </a:r>
            <a:r>
              <a:rPr lang="pt-BR" dirty="0"/>
              <a:t> </a:t>
            </a:r>
            <a:r>
              <a:rPr lang="pt-BR" dirty="0" err="1"/>
              <a:t>orci</a:t>
            </a:r>
            <a:r>
              <a:rPr lang="pt-BR" dirty="0"/>
              <a:t>,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 </a:t>
            </a:r>
            <a:r>
              <a:rPr lang="pt-BR" dirty="0" err="1"/>
              <a:t>ullamcorper</a:t>
            </a:r>
            <a:r>
              <a:rPr lang="pt-BR" dirty="0"/>
              <a:t> sem </a:t>
            </a:r>
            <a:r>
              <a:rPr lang="pt-BR" dirty="0" err="1"/>
              <a:t>orci</a:t>
            </a:r>
            <a:r>
              <a:rPr lang="pt-BR" dirty="0"/>
              <a:t> in </a:t>
            </a:r>
            <a:r>
              <a:rPr lang="pt-BR" dirty="0" err="1"/>
              <a:t>tellus</a:t>
            </a:r>
            <a:r>
              <a:rPr lang="pt-BR" dirty="0"/>
              <a:t>. </a:t>
            </a:r>
            <a:r>
              <a:rPr lang="pt-BR" dirty="0" err="1"/>
              <a:t>Pellentesque</a:t>
            </a:r>
            <a:r>
              <a:rPr lang="pt-BR" dirty="0"/>
              <a:t> </a:t>
            </a:r>
            <a:r>
              <a:rPr lang="pt-BR" dirty="0" err="1"/>
              <a:t>habitant</a:t>
            </a:r>
            <a:r>
              <a:rPr lang="pt-BR" dirty="0"/>
              <a:t> </a:t>
            </a:r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tristique</a:t>
            </a:r>
            <a:r>
              <a:rPr lang="pt-BR" dirty="0"/>
              <a:t> </a:t>
            </a:r>
            <a:r>
              <a:rPr lang="pt-BR" dirty="0" err="1"/>
              <a:t>senectus</a:t>
            </a:r>
            <a:r>
              <a:rPr lang="pt-BR" dirty="0"/>
              <a:t> et </a:t>
            </a:r>
            <a:r>
              <a:rPr lang="pt-BR" dirty="0" err="1"/>
              <a:t>netus</a:t>
            </a:r>
            <a:r>
              <a:rPr lang="pt-BR" dirty="0"/>
              <a:t> et </a:t>
            </a:r>
            <a:r>
              <a:rPr lang="pt-BR" dirty="0" err="1"/>
              <a:t>malesuada</a:t>
            </a:r>
            <a:r>
              <a:rPr lang="pt-BR" dirty="0"/>
              <a:t>.</a:t>
            </a:r>
          </a:p>
        </p:txBody>
      </p:sp>
      <p:sp>
        <p:nvSpPr>
          <p:cNvPr id="25" name="Espaço Reservado para Conteúdo 4">
            <a:extLst>
              <a:ext uri="{FF2B5EF4-FFF2-40B4-BE49-F238E27FC236}">
                <a16:creationId xmlns:a16="http://schemas.microsoft.com/office/drawing/2014/main" id="{9DA28D68-018D-419D-A736-E64ACB9206E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208200" y="3032630"/>
            <a:ext cx="4850199" cy="30737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  <a:latin typeface="Roboto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Item 1</a:t>
            </a:r>
          </a:p>
        </p:txBody>
      </p:sp>
      <p:sp>
        <p:nvSpPr>
          <p:cNvPr id="26" name="Espaço Reservado para Conteúdo 4">
            <a:extLst>
              <a:ext uri="{FF2B5EF4-FFF2-40B4-BE49-F238E27FC236}">
                <a16:creationId xmlns:a16="http://schemas.microsoft.com/office/drawing/2014/main" id="{431D2614-3827-4A58-A31E-D9102D6BE68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242644" y="3500419"/>
            <a:ext cx="3815756" cy="3361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  <a:latin typeface="Roboto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Item 1</a:t>
            </a:r>
          </a:p>
        </p:txBody>
      </p:sp>
      <p:sp>
        <p:nvSpPr>
          <p:cNvPr id="27" name="Espaço Reservado para Conteúdo 4">
            <a:extLst>
              <a:ext uri="{FF2B5EF4-FFF2-40B4-BE49-F238E27FC236}">
                <a16:creationId xmlns:a16="http://schemas.microsoft.com/office/drawing/2014/main" id="{5E3BB5D0-837A-4037-AC95-AB1D4F649860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7120214" y="3902767"/>
            <a:ext cx="2938185" cy="3361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  <a:latin typeface="Roboto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Item 1</a:t>
            </a:r>
          </a:p>
        </p:txBody>
      </p:sp>
    </p:spTree>
    <p:extLst>
      <p:ext uri="{BB962C8B-B14F-4D97-AF65-F5344CB8AC3E}">
        <p14:creationId xmlns:p14="http://schemas.microsoft.com/office/powerpoint/2010/main" val="1923941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8F673DBA-CB69-50BD-F973-A9E3A3FE152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Espaço Reservado para Conteúdo 4">
            <a:extLst>
              <a:ext uri="{FF2B5EF4-FFF2-40B4-BE49-F238E27FC236}">
                <a16:creationId xmlns:a16="http://schemas.microsoft.com/office/drawing/2014/main" id="{6BE41F8E-4F22-46F6-B0AE-D58832BE3FC2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637006" y="780986"/>
            <a:ext cx="4391941" cy="1118045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4000">
                <a:solidFill>
                  <a:schemeClr val="bg1">
                    <a:lumMod val="85000"/>
                  </a:schemeClr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 dirty="0"/>
              <a:t>NOME </a:t>
            </a:r>
            <a:br>
              <a:rPr lang="pt-BR" dirty="0"/>
            </a:br>
            <a:r>
              <a:rPr lang="pt-BR" dirty="0"/>
              <a:t>DA SEÇÃO</a:t>
            </a:r>
          </a:p>
        </p:txBody>
      </p:sp>
      <p:sp>
        <p:nvSpPr>
          <p:cNvPr id="18" name="Espaço Reservado para Conteúdo 4">
            <a:extLst>
              <a:ext uri="{FF2B5EF4-FFF2-40B4-BE49-F238E27FC236}">
                <a16:creationId xmlns:a16="http://schemas.microsoft.com/office/drawing/2014/main" id="{180BB7B2-EE70-4E52-A5A7-0F7F00EFB29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637006" y="2245217"/>
            <a:ext cx="3848744" cy="316190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2400">
                <a:solidFill>
                  <a:srgbClr val="21049A"/>
                </a:solidFill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INTERTÍTULO 1</a:t>
            </a:r>
          </a:p>
        </p:txBody>
      </p:sp>
      <p:sp>
        <p:nvSpPr>
          <p:cNvPr id="19" name="Espaço Reservado para Conteúdo 4">
            <a:extLst>
              <a:ext uri="{FF2B5EF4-FFF2-40B4-BE49-F238E27FC236}">
                <a16:creationId xmlns:a16="http://schemas.microsoft.com/office/drawing/2014/main" id="{664A7BCC-13C8-4944-BAC9-E32ACD6D1ED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37006" y="2589090"/>
            <a:ext cx="3859001" cy="132458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 </a:t>
            </a:r>
            <a:r>
              <a:rPr lang="pt-BR" dirty="0" err="1"/>
              <a:t>vestibulum</a:t>
            </a:r>
            <a:r>
              <a:rPr lang="pt-BR" dirty="0"/>
              <a:t> </a:t>
            </a:r>
            <a:r>
              <a:rPr lang="pt-BR" dirty="0" err="1"/>
              <a:t>dictum</a:t>
            </a:r>
            <a:r>
              <a:rPr lang="pt-BR" dirty="0"/>
              <a:t>. </a:t>
            </a:r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nisi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</a:t>
            </a:r>
            <a:r>
              <a:rPr lang="pt-BR" dirty="0" err="1"/>
              <a:t>imperdiet</a:t>
            </a:r>
            <a:r>
              <a:rPr lang="pt-BR" dirty="0"/>
              <a:t> </a:t>
            </a:r>
            <a:r>
              <a:rPr lang="pt-BR" dirty="0" err="1"/>
              <a:t>ex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, id </a:t>
            </a:r>
            <a:r>
              <a:rPr lang="pt-BR" dirty="0" err="1"/>
              <a:t>mattis</a:t>
            </a:r>
            <a:r>
              <a:rPr lang="pt-BR" dirty="0"/>
              <a:t> </a:t>
            </a:r>
            <a:r>
              <a:rPr lang="pt-BR" dirty="0" err="1"/>
              <a:t>lacus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. </a:t>
            </a:r>
          </a:p>
        </p:txBody>
      </p:sp>
      <p:sp>
        <p:nvSpPr>
          <p:cNvPr id="22" name="Espaço Reservado para Conteúdo 4">
            <a:extLst>
              <a:ext uri="{FF2B5EF4-FFF2-40B4-BE49-F238E27FC236}">
                <a16:creationId xmlns:a16="http://schemas.microsoft.com/office/drawing/2014/main" id="{D2F372CA-7A81-4DC0-9C08-38BBC4518D5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637006" y="4362546"/>
            <a:ext cx="3848744" cy="316190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2400">
                <a:solidFill>
                  <a:srgbClr val="21049A"/>
                </a:solidFill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INTERTÍTULO 2</a:t>
            </a:r>
          </a:p>
        </p:txBody>
      </p:sp>
      <p:sp>
        <p:nvSpPr>
          <p:cNvPr id="23" name="Espaço Reservado para Conteúdo 4">
            <a:extLst>
              <a:ext uri="{FF2B5EF4-FFF2-40B4-BE49-F238E27FC236}">
                <a16:creationId xmlns:a16="http://schemas.microsoft.com/office/drawing/2014/main" id="{99641B3D-FFEC-4170-9DE3-5965CE430DC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637006" y="4706419"/>
            <a:ext cx="3859001" cy="132458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 </a:t>
            </a:r>
            <a:r>
              <a:rPr lang="pt-BR" dirty="0" err="1"/>
              <a:t>vestibulum</a:t>
            </a:r>
            <a:r>
              <a:rPr lang="pt-BR" dirty="0"/>
              <a:t> </a:t>
            </a:r>
            <a:r>
              <a:rPr lang="pt-BR" dirty="0" err="1"/>
              <a:t>dictum</a:t>
            </a:r>
            <a:r>
              <a:rPr lang="pt-BR" dirty="0"/>
              <a:t>. </a:t>
            </a:r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nisi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</a:t>
            </a:r>
            <a:r>
              <a:rPr lang="pt-BR" dirty="0" err="1"/>
              <a:t>imperdiet</a:t>
            </a:r>
            <a:r>
              <a:rPr lang="pt-BR" dirty="0"/>
              <a:t> </a:t>
            </a:r>
            <a:r>
              <a:rPr lang="pt-BR" dirty="0" err="1"/>
              <a:t>ex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, id </a:t>
            </a:r>
            <a:r>
              <a:rPr lang="pt-BR" dirty="0" err="1"/>
              <a:t>mattis</a:t>
            </a:r>
            <a:r>
              <a:rPr lang="pt-BR" dirty="0"/>
              <a:t> </a:t>
            </a:r>
            <a:r>
              <a:rPr lang="pt-BR" dirty="0" err="1"/>
              <a:t>lacus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982311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 descr="Forma&#10;&#10;O conteúdo gerado por IA pode estar incorreto.">
            <a:extLst>
              <a:ext uri="{FF2B5EF4-FFF2-40B4-BE49-F238E27FC236}">
                <a16:creationId xmlns:a16="http://schemas.microsoft.com/office/drawing/2014/main" id="{3C9A769A-63A3-DE23-592B-55245BC3528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8750"/>
            <a:ext cx="12192000" cy="6866749"/>
          </a:xfrm>
          <a:prstGeom prst="rect">
            <a:avLst/>
          </a:prstGeom>
        </p:spPr>
      </p:pic>
      <p:pic>
        <p:nvPicPr>
          <p:cNvPr id="14" name="Gráfico 13">
            <a:extLst>
              <a:ext uri="{FF2B5EF4-FFF2-40B4-BE49-F238E27FC236}">
                <a16:creationId xmlns:a16="http://schemas.microsoft.com/office/drawing/2014/main" id="{1E1C6F54-8EED-6A4A-951E-8F53058EBB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61271" y="5963677"/>
            <a:ext cx="531242" cy="531242"/>
          </a:xfrm>
          <a:prstGeom prst="rect">
            <a:avLst/>
          </a:prstGeom>
        </p:spPr>
      </p:pic>
      <p:sp>
        <p:nvSpPr>
          <p:cNvPr id="7" name="Espaço Reservado para Conteúdo 4">
            <a:extLst>
              <a:ext uri="{FF2B5EF4-FFF2-40B4-BE49-F238E27FC236}">
                <a16:creationId xmlns:a16="http://schemas.microsoft.com/office/drawing/2014/main" id="{39251BE9-618E-42E3-99D7-A7567BEAC4F4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92701" y="2865601"/>
            <a:ext cx="3927494" cy="1118045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4800">
                <a:solidFill>
                  <a:srgbClr val="21049A"/>
                </a:solidFill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TÍTULO</a:t>
            </a:r>
          </a:p>
          <a:p>
            <a:pPr lvl="0"/>
            <a:r>
              <a:rPr lang="pt-BR" dirty="0"/>
              <a:t>TÍTULO</a:t>
            </a:r>
          </a:p>
        </p:txBody>
      </p:sp>
      <p:sp>
        <p:nvSpPr>
          <p:cNvPr id="9" name="Espaço Reservado para Conteúdo 4">
            <a:extLst>
              <a:ext uri="{FF2B5EF4-FFF2-40B4-BE49-F238E27FC236}">
                <a16:creationId xmlns:a16="http://schemas.microsoft.com/office/drawing/2014/main" id="{37BB87C6-3A52-4563-8FED-B6B3781BF21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92701" y="794269"/>
            <a:ext cx="3927494" cy="111804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4000">
                <a:solidFill>
                  <a:schemeClr val="bg1">
                    <a:lumMod val="85000"/>
                  </a:schemeClr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TÍTULO</a:t>
            </a:r>
          </a:p>
          <a:p>
            <a:pPr lvl="0"/>
            <a:r>
              <a:rPr lang="pt-BR" dirty="0"/>
              <a:t>TÍTULO</a:t>
            </a:r>
          </a:p>
        </p:txBody>
      </p:sp>
      <p:sp>
        <p:nvSpPr>
          <p:cNvPr id="16" name="Espaço Reservado para Conteúdo 4">
            <a:extLst>
              <a:ext uri="{FF2B5EF4-FFF2-40B4-BE49-F238E27FC236}">
                <a16:creationId xmlns:a16="http://schemas.microsoft.com/office/drawing/2014/main" id="{74A45D75-7A9C-404D-BDF7-39D938D9204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231687" y="2271833"/>
            <a:ext cx="3927494" cy="1118045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Tx/>
              <a:buChar char="•"/>
              <a:defRPr sz="1600">
                <a:solidFill>
                  <a:schemeClr val="bg1">
                    <a:lumMod val="85000"/>
                  </a:schemeClr>
                </a:solidFill>
                <a:latin typeface="Roboto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ITEM 1</a:t>
            </a:r>
          </a:p>
          <a:p>
            <a:pPr lvl="0"/>
            <a:r>
              <a:rPr lang="pt-BR" dirty="0"/>
              <a:t>ITEM 2</a:t>
            </a:r>
          </a:p>
          <a:p>
            <a:pPr lvl="0"/>
            <a:r>
              <a:rPr lang="pt-BR" dirty="0"/>
              <a:t>ITEM 3</a:t>
            </a:r>
          </a:p>
          <a:p>
            <a:pPr lvl="0"/>
            <a:r>
              <a:rPr lang="pt-BR" dirty="0"/>
              <a:t>ITEM 4</a:t>
            </a:r>
          </a:p>
          <a:p>
            <a:pPr lvl="0"/>
            <a:r>
              <a:rPr lang="pt-BR" dirty="0"/>
              <a:t>ITEM 5</a:t>
            </a:r>
          </a:p>
          <a:p>
            <a:pPr lvl="0"/>
            <a:r>
              <a:rPr lang="pt-BR" dirty="0"/>
              <a:t>ITEM 6</a:t>
            </a:r>
          </a:p>
          <a:p>
            <a:pPr lvl="0"/>
            <a:r>
              <a:rPr lang="pt-BR" dirty="0"/>
              <a:t>ITEM 7</a:t>
            </a:r>
          </a:p>
        </p:txBody>
      </p:sp>
    </p:spTree>
    <p:extLst>
      <p:ext uri="{BB962C8B-B14F-4D97-AF65-F5344CB8AC3E}">
        <p14:creationId xmlns:p14="http://schemas.microsoft.com/office/powerpoint/2010/main" val="3467792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4A036B0A-933A-2985-8269-6345DAD892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Espaço Reservado para Conteúdo 4">
            <a:extLst>
              <a:ext uri="{FF2B5EF4-FFF2-40B4-BE49-F238E27FC236}">
                <a16:creationId xmlns:a16="http://schemas.microsoft.com/office/drawing/2014/main" id="{45D534F8-C499-4401-B371-2922E2FC60F2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815738" y="2608895"/>
            <a:ext cx="9013371" cy="82010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8000">
                <a:solidFill>
                  <a:schemeClr val="bg1"/>
                </a:solidFill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TÍTULO</a:t>
            </a:r>
          </a:p>
        </p:txBody>
      </p:sp>
      <p:sp>
        <p:nvSpPr>
          <p:cNvPr id="8" name="Espaço Reservado para Conteúdo 4">
            <a:extLst>
              <a:ext uri="{FF2B5EF4-FFF2-40B4-BE49-F238E27FC236}">
                <a16:creationId xmlns:a16="http://schemas.microsoft.com/office/drawing/2014/main" id="{BB3FE49F-E596-4FC6-AC93-7944FFF7244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971518" y="3526859"/>
            <a:ext cx="6851751" cy="2351427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  <a:latin typeface="Roboto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 </a:t>
            </a:r>
            <a:r>
              <a:rPr lang="pt-BR" dirty="0" err="1"/>
              <a:t>vestibulum</a:t>
            </a:r>
            <a:r>
              <a:rPr lang="pt-BR" dirty="0"/>
              <a:t> </a:t>
            </a:r>
            <a:r>
              <a:rPr lang="pt-BR" dirty="0" err="1"/>
              <a:t>dictum</a:t>
            </a:r>
            <a:r>
              <a:rPr lang="pt-BR" dirty="0"/>
              <a:t>. </a:t>
            </a:r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nisi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</a:t>
            </a:r>
            <a:r>
              <a:rPr lang="pt-BR" dirty="0" err="1"/>
              <a:t>imperdiet</a:t>
            </a:r>
            <a:r>
              <a:rPr lang="pt-BR" dirty="0"/>
              <a:t> </a:t>
            </a:r>
            <a:r>
              <a:rPr lang="pt-BR" dirty="0" err="1"/>
              <a:t>ex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, id </a:t>
            </a:r>
            <a:r>
              <a:rPr lang="pt-BR" dirty="0" err="1"/>
              <a:t>mattis</a:t>
            </a:r>
            <a:r>
              <a:rPr lang="pt-BR" dirty="0"/>
              <a:t> </a:t>
            </a:r>
            <a:r>
              <a:rPr lang="pt-BR" dirty="0" err="1"/>
              <a:t>lacus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462264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 descr="Ícone&#10;&#10;O conteúdo gerado por IA pode estar incorreto.">
            <a:extLst>
              <a:ext uri="{FF2B5EF4-FFF2-40B4-BE49-F238E27FC236}">
                <a16:creationId xmlns:a16="http://schemas.microsoft.com/office/drawing/2014/main" id="{AF2EB98D-EF35-397E-FA18-F906466EB53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Espaço Reservado para Conteúdo 4">
            <a:extLst>
              <a:ext uri="{FF2B5EF4-FFF2-40B4-BE49-F238E27FC236}">
                <a16:creationId xmlns:a16="http://schemas.microsoft.com/office/drawing/2014/main" id="{2B6F4DD1-33F3-4B49-95ED-C95B61876CA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76376" y="3916012"/>
            <a:ext cx="2819400" cy="1815882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</a:p>
          <a:p>
            <a:pPr lvl="0"/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 </a:t>
            </a:r>
            <a:r>
              <a:rPr lang="pt-BR" dirty="0" err="1"/>
              <a:t>vestibulum</a:t>
            </a:r>
            <a:r>
              <a:rPr lang="pt-BR" dirty="0"/>
              <a:t> </a:t>
            </a:r>
            <a:r>
              <a:rPr lang="pt-BR" dirty="0" err="1"/>
              <a:t>dictum</a:t>
            </a:r>
            <a:r>
              <a:rPr lang="pt-BR" dirty="0"/>
              <a:t>. </a:t>
            </a:r>
          </a:p>
          <a:p>
            <a:pPr lvl="0"/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nisi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</a:t>
            </a:r>
            <a:r>
              <a:rPr lang="pt-BR" dirty="0" err="1"/>
              <a:t>imperdiet</a:t>
            </a:r>
            <a:r>
              <a:rPr lang="pt-BR" dirty="0"/>
              <a:t> </a:t>
            </a:r>
            <a:r>
              <a:rPr lang="pt-BR" dirty="0" err="1"/>
              <a:t>ex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, id </a:t>
            </a:r>
            <a:r>
              <a:rPr lang="pt-BR" dirty="0" err="1"/>
              <a:t>mattis</a:t>
            </a:r>
            <a:r>
              <a:rPr lang="pt-BR" dirty="0"/>
              <a:t> </a:t>
            </a:r>
            <a:r>
              <a:rPr lang="pt-BR" dirty="0" err="1"/>
              <a:t>lacus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. </a:t>
            </a:r>
          </a:p>
        </p:txBody>
      </p:sp>
      <p:sp>
        <p:nvSpPr>
          <p:cNvPr id="21" name="Espaço Reservado para Conteúdo 4">
            <a:extLst>
              <a:ext uri="{FF2B5EF4-FFF2-40B4-BE49-F238E27FC236}">
                <a16:creationId xmlns:a16="http://schemas.microsoft.com/office/drawing/2014/main" id="{141E17BE-679D-4780-A50B-95ABDEA8341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476375" y="3083044"/>
            <a:ext cx="2819400" cy="785342"/>
          </a:xfrm>
          <a:prstGeom prst="rect">
            <a:avLst/>
          </a:prstGeo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>
                <a:solidFill>
                  <a:srgbClr val="21049A"/>
                </a:solidFill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 dirty="0"/>
              <a:t>INTERTÍTULO</a:t>
            </a:r>
            <a:br>
              <a:rPr lang="pt-BR" dirty="0"/>
            </a:br>
            <a:r>
              <a:rPr lang="pt-BR" dirty="0" err="1"/>
              <a:t>INTERTÍTULO</a:t>
            </a:r>
            <a:endParaRPr lang="pt-BR" dirty="0"/>
          </a:p>
        </p:txBody>
      </p:sp>
      <p:sp>
        <p:nvSpPr>
          <p:cNvPr id="24" name="Espaço Reservado para Conteúdo 4">
            <a:extLst>
              <a:ext uri="{FF2B5EF4-FFF2-40B4-BE49-F238E27FC236}">
                <a16:creationId xmlns:a16="http://schemas.microsoft.com/office/drawing/2014/main" id="{BB3C5678-B5DE-4BCA-900A-F36CE17308F5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800601" y="4823953"/>
            <a:ext cx="2819400" cy="1815882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</a:p>
          <a:p>
            <a:pPr lvl="0"/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 </a:t>
            </a:r>
            <a:r>
              <a:rPr lang="pt-BR" dirty="0" err="1"/>
              <a:t>vestibulum</a:t>
            </a:r>
            <a:r>
              <a:rPr lang="pt-BR" dirty="0"/>
              <a:t> </a:t>
            </a:r>
            <a:r>
              <a:rPr lang="pt-BR" dirty="0" err="1"/>
              <a:t>dictum</a:t>
            </a:r>
            <a:r>
              <a:rPr lang="pt-BR" dirty="0"/>
              <a:t>. </a:t>
            </a:r>
          </a:p>
          <a:p>
            <a:pPr lvl="0"/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nisi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</a:t>
            </a:r>
            <a:r>
              <a:rPr lang="pt-BR" dirty="0" err="1"/>
              <a:t>imperdiet</a:t>
            </a:r>
            <a:r>
              <a:rPr lang="pt-BR" dirty="0"/>
              <a:t> </a:t>
            </a:r>
            <a:r>
              <a:rPr lang="pt-BR" dirty="0" err="1"/>
              <a:t>ex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, id </a:t>
            </a:r>
            <a:r>
              <a:rPr lang="pt-BR" dirty="0" err="1"/>
              <a:t>mattis</a:t>
            </a:r>
            <a:r>
              <a:rPr lang="pt-BR" dirty="0"/>
              <a:t> </a:t>
            </a:r>
            <a:r>
              <a:rPr lang="pt-BR" dirty="0" err="1"/>
              <a:t>lacus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. </a:t>
            </a:r>
          </a:p>
        </p:txBody>
      </p:sp>
      <p:sp>
        <p:nvSpPr>
          <p:cNvPr id="25" name="Espaço Reservado para Conteúdo 4">
            <a:extLst>
              <a:ext uri="{FF2B5EF4-FFF2-40B4-BE49-F238E27FC236}">
                <a16:creationId xmlns:a16="http://schemas.microsoft.com/office/drawing/2014/main" id="{063FB4E0-9626-4EF4-806F-71DFF51C6511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800600" y="3990985"/>
            <a:ext cx="2819400" cy="785342"/>
          </a:xfrm>
          <a:prstGeom prst="rect">
            <a:avLst/>
          </a:prstGeo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>
                <a:solidFill>
                  <a:srgbClr val="21049A"/>
                </a:solidFill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 dirty="0"/>
              <a:t>INTERTÍTULO</a:t>
            </a:r>
          </a:p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 dirty="0"/>
              <a:t>INTERTÍTULO</a:t>
            </a:r>
          </a:p>
        </p:txBody>
      </p:sp>
      <p:sp>
        <p:nvSpPr>
          <p:cNvPr id="26" name="Espaço Reservado para Conteúdo 4">
            <a:extLst>
              <a:ext uri="{FF2B5EF4-FFF2-40B4-BE49-F238E27FC236}">
                <a16:creationId xmlns:a16="http://schemas.microsoft.com/office/drawing/2014/main" id="{188B0BB6-CE3D-4850-B5D3-213A7B0CB16A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124825" y="3122148"/>
            <a:ext cx="2819400" cy="1815882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</a:p>
          <a:p>
            <a:pPr lvl="0"/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 </a:t>
            </a:r>
            <a:r>
              <a:rPr lang="pt-BR" dirty="0" err="1"/>
              <a:t>vestibulum</a:t>
            </a:r>
            <a:r>
              <a:rPr lang="pt-BR" dirty="0"/>
              <a:t> </a:t>
            </a:r>
            <a:r>
              <a:rPr lang="pt-BR" dirty="0" err="1"/>
              <a:t>dictum</a:t>
            </a:r>
            <a:r>
              <a:rPr lang="pt-BR" dirty="0"/>
              <a:t>. </a:t>
            </a:r>
          </a:p>
          <a:p>
            <a:pPr lvl="0"/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nisi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</a:t>
            </a:r>
            <a:r>
              <a:rPr lang="pt-BR" dirty="0" err="1"/>
              <a:t>imperdiet</a:t>
            </a:r>
            <a:r>
              <a:rPr lang="pt-BR" dirty="0"/>
              <a:t> </a:t>
            </a:r>
            <a:r>
              <a:rPr lang="pt-BR" dirty="0" err="1"/>
              <a:t>ex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, id </a:t>
            </a:r>
            <a:r>
              <a:rPr lang="pt-BR" dirty="0" err="1"/>
              <a:t>mattis</a:t>
            </a:r>
            <a:r>
              <a:rPr lang="pt-BR" dirty="0"/>
              <a:t> </a:t>
            </a:r>
            <a:r>
              <a:rPr lang="pt-BR" dirty="0" err="1"/>
              <a:t>lacus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. </a:t>
            </a:r>
          </a:p>
        </p:txBody>
      </p:sp>
      <p:sp>
        <p:nvSpPr>
          <p:cNvPr id="27" name="Espaço Reservado para Conteúdo 4">
            <a:extLst>
              <a:ext uri="{FF2B5EF4-FFF2-40B4-BE49-F238E27FC236}">
                <a16:creationId xmlns:a16="http://schemas.microsoft.com/office/drawing/2014/main" id="{07A0879C-E9A3-4A48-A4AC-1DE60387F7C4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124824" y="2289180"/>
            <a:ext cx="2819400" cy="785342"/>
          </a:xfrm>
          <a:prstGeom prst="rect">
            <a:avLst/>
          </a:prstGeo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>
                <a:solidFill>
                  <a:srgbClr val="21049A"/>
                </a:solidFill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 dirty="0"/>
              <a:t>INTERTÍTULO</a:t>
            </a:r>
            <a:br>
              <a:rPr lang="pt-BR" dirty="0"/>
            </a:br>
            <a:r>
              <a:rPr lang="pt-BR" dirty="0" err="1"/>
              <a:t>INTERTÍTULO</a:t>
            </a:r>
            <a:endParaRPr lang="pt-BR" dirty="0"/>
          </a:p>
        </p:txBody>
      </p:sp>
      <p:sp>
        <p:nvSpPr>
          <p:cNvPr id="28" name="Espaço Reservado para Conteúdo 4">
            <a:extLst>
              <a:ext uri="{FF2B5EF4-FFF2-40B4-BE49-F238E27FC236}">
                <a16:creationId xmlns:a16="http://schemas.microsoft.com/office/drawing/2014/main" id="{C93AF59E-0B59-41F7-8D76-870509D7AAFB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85455" y="1040475"/>
            <a:ext cx="6734546" cy="1118045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4800">
                <a:solidFill>
                  <a:schemeClr val="bg1"/>
                </a:solidFill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TÍTULO DO SLIDE</a:t>
            </a:r>
          </a:p>
          <a:p>
            <a:pPr lvl="0"/>
            <a:r>
              <a:rPr lang="pt-BR" dirty="0"/>
              <a:t>TÍTULO DO SLIDE</a:t>
            </a:r>
          </a:p>
        </p:txBody>
      </p:sp>
    </p:spTree>
    <p:extLst>
      <p:ext uri="{BB962C8B-B14F-4D97-AF65-F5344CB8AC3E}">
        <p14:creationId xmlns:p14="http://schemas.microsoft.com/office/powerpoint/2010/main" val="33559585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m 25" descr="Forma&#10;&#10;O conteúdo gerado por IA pode estar incorreto.">
            <a:extLst>
              <a:ext uri="{FF2B5EF4-FFF2-40B4-BE49-F238E27FC236}">
                <a16:creationId xmlns:a16="http://schemas.microsoft.com/office/drawing/2014/main" id="{412108E6-D36D-1E5D-A463-5DB8DA6A1B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Espaço Reservado para Conteúdo 4">
            <a:extLst>
              <a:ext uri="{FF2B5EF4-FFF2-40B4-BE49-F238E27FC236}">
                <a16:creationId xmlns:a16="http://schemas.microsoft.com/office/drawing/2014/main" id="{82B24A9D-A588-4551-9139-9C6E041076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91887" y="378824"/>
            <a:ext cx="4602014" cy="6126480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4800">
                <a:solidFill>
                  <a:schemeClr val="bg1"/>
                </a:solidFill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TÍTULO</a:t>
            </a:r>
            <a:br>
              <a:rPr lang="pt-BR" dirty="0"/>
            </a:br>
            <a:r>
              <a:rPr lang="pt-BR" dirty="0" err="1"/>
              <a:t>TÍTULO</a:t>
            </a:r>
            <a:endParaRPr lang="pt-BR" dirty="0"/>
          </a:p>
          <a:p>
            <a:pPr lvl="0"/>
            <a:r>
              <a:rPr lang="pt-BR" dirty="0"/>
              <a:t>TÍTULO</a:t>
            </a:r>
          </a:p>
        </p:txBody>
      </p:sp>
      <p:sp>
        <p:nvSpPr>
          <p:cNvPr id="24" name="Espaço Reservado para Conteúdo 4">
            <a:extLst>
              <a:ext uri="{FF2B5EF4-FFF2-40B4-BE49-F238E27FC236}">
                <a16:creationId xmlns:a16="http://schemas.microsoft.com/office/drawing/2014/main" id="{A21AE171-2175-4DAD-8189-61FFCBDB02B1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392643" y="616721"/>
            <a:ext cx="708406" cy="109809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000">
                <a:solidFill>
                  <a:schemeClr val="bg1">
                    <a:lumMod val="95000"/>
                  </a:schemeClr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1</a:t>
            </a:r>
          </a:p>
        </p:txBody>
      </p:sp>
      <p:sp>
        <p:nvSpPr>
          <p:cNvPr id="25" name="Espaço Reservado para Conteúdo 4">
            <a:extLst>
              <a:ext uri="{FF2B5EF4-FFF2-40B4-BE49-F238E27FC236}">
                <a16:creationId xmlns:a16="http://schemas.microsoft.com/office/drawing/2014/main" id="{56D3D759-453E-442D-AEC3-0FFF411B48A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788311" y="1023583"/>
            <a:ext cx="2029461" cy="10424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.</a:t>
            </a:r>
          </a:p>
        </p:txBody>
      </p:sp>
      <p:sp>
        <p:nvSpPr>
          <p:cNvPr id="48" name="Espaço Reservado para Conteúdo 4">
            <a:extLst>
              <a:ext uri="{FF2B5EF4-FFF2-40B4-BE49-F238E27FC236}">
                <a16:creationId xmlns:a16="http://schemas.microsoft.com/office/drawing/2014/main" id="{8C3073B7-3423-46D9-8011-B23D48EB961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96653" y="616721"/>
            <a:ext cx="708406" cy="109809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000">
                <a:solidFill>
                  <a:schemeClr val="bg1">
                    <a:lumMod val="95000"/>
                  </a:schemeClr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2</a:t>
            </a:r>
          </a:p>
        </p:txBody>
      </p:sp>
      <p:sp>
        <p:nvSpPr>
          <p:cNvPr id="49" name="Espaço Reservado para Conteúdo 4">
            <a:extLst>
              <a:ext uri="{FF2B5EF4-FFF2-40B4-BE49-F238E27FC236}">
                <a16:creationId xmlns:a16="http://schemas.microsoft.com/office/drawing/2014/main" id="{79C9CBE2-F540-4408-8EB3-A373311F163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792321" y="1023583"/>
            <a:ext cx="2029461" cy="10424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.</a:t>
            </a:r>
          </a:p>
        </p:txBody>
      </p:sp>
      <p:sp>
        <p:nvSpPr>
          <p:cNvPr id="50" name="Espaço Reservado para Conteúdo 4">
            <a:extLst>
              <a:ext uri="{FF2B5EF4-FFF2-40B4-BE49-F238E27FC236}">
                <a16:creationId xmlns:a16="http://schemas.microsoft.com/office/drawing/2014/main" id="{7534DFE6-358C-4FF5-B3B9-6C34B0781772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388289" y="2066007"/>
            <a:ext cx="708406" cy="109809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000">
                <a:solidFill>
                  <a:schemeClr val="bg1">
                    <a:lumMod val="95000"/>
                  </a:schemeClr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3</a:t>
            </a:r>
          </a:p>
        </p:txBody>
      </p:sp>
      <p:sp>
        <p:nvSpPr>
          <p:cNvPr id="51" name="Espaço Reservado para Conteúdo 4">
            <a:extLst>
              <a:ext uri="{FF2B5EF4-FFF2-40B4-BE49-F238E27FC236}">
                <a16:creationId xmlns:a16="http://schemas.microsoft.com/office/drawing/2014/main" id="{2D4FC50B-1040-4A33-9D53-F74DFB48C830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5783957" y="2472869"/>
            <a:ext cx="2029461" cy="10424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.</a:t>
            </a:r>
          </a:p>
        </p:txBody>
      </p:sp>
      <p:sp>
        <p:nvSpPr>
          <p:cNvPr id="52" name="Espaço Reservado para Conteúdo 4">
            <a:extLst>
              <a:ext uri="{FF2B5EF4-FFF2-40B4-BE49-F238E27FC236}">
                <a16:creationId xmlns:a16="http://schemas.microsoft.com/office/drawing/2014/main" id="{F847EBBC-8153-4D80-BBEA-981CCB037D67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392299" y="2066007"/>
            <a:ext cx="708406" cy="109809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000">
                <a:solidFill>
                  <a:schemeClr val="bg1">
                    <a:lumMod val="95000"/>
                  </a:schemeClr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4</a:t>
            </a:r>
          </a:p>
        </p:txBody>
      </p:sp>
      <p:sp>
        <p:nvSpPr>
          <p:cNvPr id="53" name="Espaço Reservado para Conteúdo 4">
            <a:extLst>
              <a:ext uri="{FF2B5EF4-FFF2-40B4-BE49-F238E27FC236}">
                <a16:creationId xmlns:a16="http://schemas.microsoft.com/office/drawing/2014/main" id="{170C864E-D912-46D5-B580-C79231F833A0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8787967" y="2472869"/>
            <a:ext cx="2029461" cy="10424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.</a:t>
            </a:r>
          </a:p>
        </p:txBody>
      </p:sp>
      <p:sp>
        <p:nvSpPr>
          <p:cNvPr id="54" name="Espaço Reservado para Conteúdo 4">
            <a:extLst>
              <a:ext uri="{FF2B5EF4-FFF2-40B4-BE49-F238E27FC236}">
                <a16:creationId xmlns:a16="http://schemas.microsoft.com/office/drawing/2014/main" id="{C4786A3E-B372-4DCC-B4F6-D10391BC6344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5392643" y="3515293"/>
            <a:ext cx="708406" cy="109809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000">
                <a:solidFill>
                  <a:schemeClr val="bg1">
                    <a:lumMod val="95000"/>
                  </a:schemeClr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5</a:t>
            </a:r>
          </a:p>
        </p:txBody>
      </p:sp>
      <p:sp>
        <p:nvSpPr>
          <p:cNvPr id="55" name="Espaço Reservado para Conteúdo 4">
            <a:extLst>
              <a:ext uri="{FF2B5EF4-FFF2-40B4-BE49-F238E27FC236}">
                <a16:creationId xmlns:a16="http://schemas.microsoft.com/office/drawing/2014/main" id="{B330D9FC-3804-478B-8B2F-BD1D550EB724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5788311" y="3922155"/>
            <a:ext cx="2029461" cy="10424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.</a:t>
            </a:r>
          </a:p>
        </p:txBody>
      </p:sp>
      <p:sp>
        <p:nvSpPr>
          <p:cNvPr id="56" name="Espaço Reservado para Conteúdo 4">
            <a:extLst>
              <a:ext uri="{FF2B5EF4-FFF2-40B4-BE49-F238E27FC236}">
                <a16:creationId xmlns:a16="http://schemas.microsoft.com/office/drawing/2014/main" id="{AADC77ED-B602-4D58-BF71-D63985E8F86D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8396653" y="3515293"/>
            <a:ext cx="708406" cy="109809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000">
                <a:solidFill>
                  <a:schemeClr val="bg1">
                    <a:lumMod val="95000"/>
                  </a:schemeClr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6</a:t>
            </a:r>
          </a:p>
        </p:txBody>
      </p:sp>
      <p:sp>
        <p:nvSpPr>
          <p:cNvPr id="57" name="Espaço Reservado para Conteúdo 4">
            <a:extLst>
              <a:ext uri="{FF2B5EF4-FFF2-40B4-BE49-F238E27FC236}">
                <a16:creationId xmlns:a16="http://schemas.microsoft.com/office/drawing/2014/main" id="{E912F27E-5DAD-40E4-A876-B9139A7C4862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8792321" y="3922155"/>
            <a:ext cx="2029461" cy="10424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.</a:t>
            </a:r>
          </a:p>
        </p:txBody>
      </p:sp>
      <p:sp>
        <p:nvSpPr>
          <p:cNvPr id="58" name="Espaço Reservado para Conteúdo 4">
            <a:extLst>
              <a:ext uri="{FF2B5EF4-FFF2-40B4-BE49-F238E27FC236}">
                <a16:creationId xmlns:a16="http://schemas.microsoft.com/office/drawing/2014/main" id="{70F43E27-89B9-4AFE-9DB9-4B4A0555AEDA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5388289" y="4964579"/>
            <a:ext cx="708406" cy="109809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000">
                <a:solidFill>
                  <a:schemeClr val="bg1">
                    <a:lumMod val="95000"/>
                  </a:schemeClr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7</a:t>
            </a:r>
          </a:p>
        </p:txBody>
      </p:sp>
      <p:sp>
        <p:nvSpPr>
          <p:cNvPr id="59" name="Espaço Reservado para Conteúdo 4">
            <a:extLst>
              <a:ext uri="{FF2B5EF4-FFF2-40B4-BE49-F238E27FC236}">
                <a16:creationId xmlns:a16="http://schemas.microsoft.com/office/drawing/2014/main" id="{7891A22C-0D7C-4E4E-B231-0A73D868DAF9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5783957" y="5371441"/>
            <a:ext cx="2029461" cy="10424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.</a:t>
            </a:r>
          </a:p>
        </p:txBody>
      </p:sp>
      <p:sp>
        <p:nvSpPr>
          <p:cNvPr id="60" name="Espaço Reservado para Conteúdo 4">
            <a:extLst>
              <a:ext uri="{FF2B5EF4-FFF2-40B4-BE49-F238E27FC236}">
                <a16:creationId xmlns:a16="http://schemas.microsoft.com/office/drawing/2014/main" id="{9AA294D8-A530-4C47-987A-7D029688897B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8392299" y="4964579"/>
            <a:ext cx="708406" cy="109809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000">
                <a:solidFill>
                  <a:schemeClr val="bg1">
                    <a:lumMod val="95000"/>
                  </a:schemeClr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8</a:t>
            </a:r>
          </a:p>
        </p:txBody>
      </p:sp>
      <p:sp>
        <p:nvSpPr>
          <p:cNvPr id="61" name="Espaço Reservado para Conteúdo 4">
            <a:extLst>
              <a:ext uri="{FF2B5EF4-FFF2-40B4-BE49-F238E27FC236}">
                <a16:creationId xmlns:a16="http://schemas.microsoft.com/office/drawing/2014/main" id="{14C76703-4040-4320-BD4F-1DD7CBE8C563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8787967" y="5371441"/>
            <a:ext cx="2029461" cy="10424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56358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>
            <a:extLst>
              <a:ext uri="{FF2B5EF4-FFF2-40B4-BE49-F238E27FC236}">
                <a16:creationId xmlns:a16="http://schemas.microsoft.com/office/drawing/2014/main" id="{C8A2A5EB-55E9-818C-5100-8E3EC4E96C1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61271" y="5963677"/>
            <a:ext cx="531242" cy="531242"/>
          </a:xfrm>
          <a:prstGeom prst="rect">
            <a:avLst/>
          </a:prstGeom>
        </p:spPr>
      </p:pic>
      <p:sp>
        <p:nvSpPr>
          <p:cNvPr id="25" name="Espaço Reservado para Conteúdo 4">
            <a:extLst>
              <a:ext uri="{FF2B5EF4-FFF2-40B4-BE49-F238E27FC236}">
                <a16:creationId xmlns:a16="http://schemas.microsoft.com/office/drawing/2014/main" id="{F3DFFE69-5EB8-470E-B99B-54A3FB6EE3A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49074" y="633344"/>
            <a:ext cx="2529556" cy="46166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spc="600">
                <a:solidFill>
                  <a:srgbClr val="21049A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NOME DA SEÇÃO</a:t>
            </a:r>
            <a:br>
              <a:rPr lang="pt-BR" dirty="0"/>
            </a:br>
            <a:r>
              <a:rPr lang="pt-BR" dirty="0"/>
              <a:t>NOME DA SEÇÃO</a:t>
            </a:r>
          </a:p>
        </p:txBody>
      </p:sp>
      <p:sp>
        <p:nvSpPr>
          <p:cNvPr id="29" name="Espaço Reservado para Conteúdo 4">
            <a:extLst>
              <a:ext uri="{FF2B5EF4-FFF2-40B4-BE49-F238E27FC236}">
                <a16:creationId xmlns:a16="http://schemas.microsoft.com/office/drawing/2014/main" id="{2F7B3AF4-B738-4398-B67B-6BBE8A527D51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77669" y="1789450"/>
            <a:ext cx="708406" cy="109809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000">
                <a:solidFill>
                  <a:schemeClr val="bg1">
                    <a:lumMod val="95000"/>
                  </a:schemeClr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1</a:t>
            </a:r>
          </a:p>
        </p:txBody>
      </p:sp>
      <p:sp>
        <p:nvSpPr>
          <p:cNvPr id="30" name="Espaço Reservado para Conteúdo 4">
            <a:extLst>
              <a:ext uri="{FF2B5EF4-FFF2-40B4-BE49-F238E27FC236}">
                <a16:creationId xmlns:a16="http://schemas.microsoft.com/office/drawing/2014/main" id="{5D35BA6E-193D-4880-99D4-D6E40313A35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386076" y="1789450"/>
            <a:ext cx="1489788" cy="10424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.</a:t>
            </a:r>
          </a:p>
        </p:txBody>
      </p:sp>
      <p:sp>
        <p:nvSpPr>
          <p:cNvPr id="31" name="Espaço Reservado para Conteúdo 4">
            <a:extLst>
              <a:ext uri="{FF2B5EF4-FFF2-40B4-BE49-F238E27FC236}">
                <a16:creationId xmlns:a16="http://schemas.microsoft.com/office/drawing/2014/main" id="{58CA9FBA-C6F6-48B4-8054-37886D57B89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902119" y="1789450"/>
            <a:ext cx="2819400" cy="1815882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</a:p>
          <a:p>
            <a:pPr lvl="0"/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 </a:t>
            </a:r>
            <a:r>
              <a:rPr lang="pt-BR" dirty="0" err="1"/>
              <a:t>vestibulum</a:t>
            </a:r>
            <a:r>
              <a:rPr lang="pt-BR" dirty="0"/>
              <a:t> </a:t>
            </a:r>
            <a:r>
              <a:rPr lang="pt-BR" dirty="0" err="1"/>
              <a:t>dictum</a:t>
            </a:r>
            <a:r>
              <a:rPr lang="pt-BR" dirty="0"/>
              <a:t>. </a:t>
            </a:r>
          </a:p>
          <a:p>
            <a:pPr lvl="0"/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nisi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</a:t>
            </a:r>
            <a:r>
              <a:rPr lang="pt-BR" dirty="0" err="1"/>
              <a:t>imperdiet</a:t>
            </a:r>
            <a:r>
              <a:rPr lang="pt-BR" dirty="0"/>
              <a:t> </a:t>
            </a:r>
            <a:r>
              <a:rPr lang="pt-BR" dirty="0" err="1"/>
              <a:t>ex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, id </a:t>
            </a:r>
            <a:r>
              <a:rPr lang="pt-BR" dirty="0" err="1"/>
              <a:t>mattis</a:t>
            </a:r>
            <a:r>
              <a:rPr lang="pt-BR" dirty="0"/>
              <a:t> </a:t>
            </a:r>
            <a:r>
              <a:rPr lang="pt-BR" dirty="0" err="1"/>
              <a:t>lacus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. </a:t>
            </a:r>
          </a:p>
        </p:txBody>
      </p:sp>
      <p:sp>
        <p:nvSpPr>
          <p:cNvPr id="32" name="Espaço Reservado para Conteúdo 4">
            <a:extLst>
              <a:ext uri="{FF2B5EF4-FFF2-40B4-BE49-F238E27FC236}">
                <a16:creationId xmlns:a16="http://schemas.microsoft.com/office/drawing/2014/main" id="{3B524203-EAD3-4477-9209-B4351264128B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317421" y="1789450"/>
            <a:ext cx="708406" cy="109809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000">
                <a:solidFill>
                  <a:schemeClr val="bg1">
                    <a:lumMod val="95000"/>
                  </a:schemeClr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2</a:t>
            </a:r>
          </a:p>
        </p:txBody>
      </p:sp>
      <p:sp>
        <p:nvSpPr>
          <p:cNvPr id="33" name="Espaço Reservado para Conteúdo 4">
            <a:extLst>
              <a:ext uri="{FF2B5EF4-FFF2-40B4-BE49-F238E27FC236}">
                <a16:creationId xmlns:a16="http://schemas.microsoft.com/office/drawing/2014/main" id="{01D447D5-A389-49AB-9939-1EC12515C69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7025828" y="1789450"/>
            <a:ext cx="1489788" cy="10424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.</a:t>
            </a:r>
          </a:p>
        </p:txBody>
      </p:sp>
      <p:sp>
        <p:nvSpPr>
          <p:cNvPr id="34" name="Espaço Reservado para Conteúdo 4">
            <a:extLst>
              <a:ext uri="{FF2B5EF4-FFF2-40B4-BE49-F238E27FC236}">
                <a16:creationId xmlns:a16="http://schemas.microsoft.com/office/drawing/2014/main" id="{B8D809D7-F1D1-4A2C-BB27-83433994B162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541871" y="1789450"/>
            <a:ext cx="2819400" cy="1815882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</a:p>
          <a:p>
            <a:pPr lvl="0"/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 </a:t>
            </a:r>
            <a:r>
              <a:rPr lang="pt-BR" dirty="0" err="1"/>
              <a:t>vestibulum</a:t>
            </a:r>
            <a:r>
              <a:rPr lang="pt-BR" dirty="0"/>
              <a:t> </a:t>
            </a:r>
            <a:r>
              <a:rPr lang="pt-BR" dirty="0" err="1"/>
              <a:t>dictum</a:t>
            </a:r>
            <a:r>
              <a:rPr lang="pt-BR" dirty="0"/>
              <a:t>. </a:t>
            </a:r>
          </a:p>
          <a:p>
            <a:pPr lvl="0"/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nisi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</a:t>
            </a:r>
            <a:r>
              <a:rPr lang="pt-BR" dirty="0" err="1"/>
              <a:t>imperdiet</a:t>
            </a:r>
            <a:r>
              <a:rPr lang="pt-BR" dirty="0"/>
              <a:t> </a:t>
            </a:r>
            <a:r>
              <a:rPr lang="pt-BR" dirty="0" err="1"/>
              <a:t>ex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, id </a:t>
            </a:r>
            <a:r>
              <a:rPr lang="pt-BR" dirty="0" err="1"/>
              <a:t>mattis</a:t>
            </a:r>
            <a:r>
              <a:rPr lang="pt-BR" dirty="0"/>
              <a:t> </a:t>
            </a:r>
            <a:r>
              <a:rPr lang="pt-BR" dirty="0" err="1"/>
              <a:t>lacus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. </a:t>
            </a:r>
          </a:p>
        </p:txBody>
      </p:sp>
      <p:sp>
        <p:nvSpPr>
          <p:cNvPr id="35" name="Espaço Reservado para Conteúdo 4">
            <a:extLst>
              <a:ext uri="{FF2B5EF4-FFF2-40B4-BE49-F238E27FC236}">
                <a16:creationId xmlns:a16="http://schemas.microsoft.com/office/drawing/2014/main" id="{4705D9C3-A995-459D-AADF-DFDD6934707E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77669" y="3876563"/>
            <a:ext cx="708406" cy="109809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000">
                <a:solidFill>
                  <a:schemeClr val="bg1">
                    <a:lumMod val="95000"/>
                  </a:schemeClr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3</a:t>
            </a:r>
          </a:p>
        </p:txBody>
      </p:sp>
      <p:sp>
        <p:nvSpPr>
          <p:cNvPr id="36" name="Espaço Reservado para Conteúdo 4">
            <a:extLst>
              <a:ext uri="{FF2B5EF4-FFF2-40B4-BE49-F238E27FC236}">
                <a16:creationId xmlns:a16="http://schemas.microsoft.com/office/drawing/2014/main" id="{48370BE8-A043-4995-BDFE-BDB113D9F98B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1386076" y="3876563"/>
            <a:ext cx="1489788" cy="10424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.</a:t>
            </a:r>
          </a:p>
        </p:txBody>
      </p:sp>
      <p:sp>
        <p:nvSpPr>
          <p:cNvPr id="37" name="Espaço Reservado para Conteúdo 4">
            <a:extLst>
              <a:ext uri="{FF2B5EF4-FFF2-40B4-BE49-F238E27FC236}">
                <a16:creationId xmlns:a16="http://schemas.microsoft.com/office/drawing/2014/main" id="{EF334FA5-EFEC-4880-AB74-FDA39A9CF324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2902119" y="3876563"/>
            <a:ext cx="2819400" cy="1815882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</a:p>
          <a:p>
            <a:pPr lvl="0"/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 </a:t>
            </a:r>
            <a:r>
              <a:rPr lang="pt-BR" dirty="0" err="1"/>
              <a:t>vestibulum</a:t>
            </a:r>
            <a:r>
              <a:rPr lang="pt-BR" dirty="0"/>
              <a:t> </a:t>
            </a:r>
            <a:r>
              <a:rPr lang="pt-BR" dirty="0" err="1"/>
              <a:t>dictum</a:t>
            </a:r>
            <a:r>
              <a:rPr lang="pt-BR" dirty="0"/>
              <a:t>. </a:t>
            </a:r>
          </a:p>
          <a:p>
            <a:pPr lvl="0"/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nisi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</a:t>
            </a:r>
            <a:r>
              <a:rPr lang="pt-BR" dirty="0" err="1"/>
              <a:t>imperdiet</a:t>
            </a:r>
            <a:r>
              <a:rPr lang="pt-BR" dirty="0"/>
              <a:t> </a:t>
            </a:r>
            <a:r>
              <a:rPr lang="pt-BR" dirty="0" err="1"/>
              <a:t>ex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, id </a:t>
            </a:r>
            <a:r>
              <a:rPr lang="pt-BR" dirty="0" err="1"/>
              <a:t>mattis</a:t>
            </a:r>
            <a:r>
              <a:rPr lang="pt-BR" dirty="0"/>
              <a:t> </a:t>
            </a:r>
            <a:r>
              <a:rPr lang="pt-BR" dirty="0" err="1"/>
              <a:t>lacus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. </a:t>
            </a:r>
          </a:p>
        </p:txBody>
      </p:sp>
      <p:sp>
        <p:nvSpPr>
          <p:cNvPr id="38" name="Espaço Reservado para Conteúdo 4">
            <a:extLst>
              <a:ext uri="{FF2B5EF4-FFF2-40B4-BE49-F238E27FC236}">
                <a16:creationId xmlns:a16="http://schemas.microsoft.com/office/drawing/2014/main" id="{C62A379B-D566-4D7A-B047-927E5BA2A089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6317421" y="3876563"/>
            <a:ext cx="708406" cy="109809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000">
                <a:solidFill>
                  <a:schemeClr val="bg1">
                    <a:lumMod val="95000"/>
                  </a:schemeClr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4</a:t>
            </a:r>
          </a:p>
        </p:txBody>
      </p:sp>
      <p:sp>
        <p:nvSpPr>
          <p:cNvPr id="39" name="Espaço Reservado para Conteúdo 4">
            <a:extLst>
              <a:ext uri="{FF2B5EF4-FFF2-40B4-BE49-F238E27FC236}">
                <a16:creationId xmlns:a16="http://schemas.microsoft.com/office/drawing/2014/main" id="{265B2327-F611-4CB3-B79A-22014E2BDC29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7025828" y="3876563"/>
            <a:ext cx="1489788" cy="10424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.</a:t>
            </a:r>
          </a:p>
        </p:txBody>
      </p:sp>
      <p:sp>
        <p:nvSpPr>
          <p:cNvPr id="40" name="Espaço Reservado para Conteúdo 4">
            <a:extLst>
              <a:ext uri="{FF2B5EF4-FFF2-40B4-BE49-F238E27FC236}">
                <a16:creationId xmlns:a16="http://schemas.microsoft.com/office/drawing/2014/main" id="{875ADBDB-708D-40FF-B05B-63F736D2AC8D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8541871" y="3876563"/>
            <a:ext cx="2819400" cy="1815882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</a:p>
          <a:p>
            <a:pPr lvl="0"/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 </a:t>
            </a:r>
            <a:r>
              <a:rPr lang="pt-BR" dirty="0" err="1"/>
              <a:t>vestibulum</a:t>
            </a:r>
            <a:r>
              <a:rPr lang="pt-BR" dirty="0"/>
              <a:t> </a:t>
            </a:r>
            <a:r>
              <a:rPr lang="pt-BR" dirty="0" err="1"/>
              <a:t>dictum</a:t>
            </a:r>
            <a:r>
              <a:rPr lang="pt-BR" dirty="0"/>
              <a:t>. </a:t>
            </a:r>
          </a:p>
          <a:p>
            <a:pPr lvl="0"/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nisi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</a:t>
            </a:r>
            <a:r>
              <a:rPr lang="pt-BR" dirty="0" err="1"/>
              <a:t>imperdiet</a:t>
            </a:r>
            <a:r>
              <a:rPr lang="pt-BR" dirty="0"/>
              <a:t> </a:t>
            </a:r>
            <a:r>
              <a:rPr lang="pt-BR" dirty="0" err="1"/>
              <a:t>ex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, id </a:t>
            </a:r>
            <a:r>
              <a:rPr lang="pt-BR" dirty="0" err="1"/>
              <a:t>mattis</a:t>
            </a:r>
            <a:r>
              <a:rPr lang="pt-BR" dirty="0"/>
              <a:t> </a:t>
            </a:r>
            <a:r>
              <a:rPr lang="pt-BR" dirty="0" err="1"/>
              <a:t>lacus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164189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 descr="Forma, Retângulo&#10;&#10;O conteúdo gerado por IA pode estar incorreto.">
            <a:extLst>
              <a:ext uri="{FF2B5EF4-FFF2-40B4-BE49-F238E27FC236}">
                <a16:creationId xmlns:a16="http://schemas.microsoft.com/office/drawing/2014/main" id="{755604ED-8D58-1615-3BD2-70AE34C5B63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Espaço Reservado para Conteúdo 4">
            <a:extLst>
              <a:ext uri="{FF2B5EF4-FFF2-40B4-BE49-F238E27FC236}">
                <a16:creationId xmlns:a16="http://schemas.microsoft.com/office/drawing/2014/main" id="{DD008399-5FBB-472F-8E3F-633534F80D17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927463" y="1492989"/>
            <a:ext cx="10345783" cy="494711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3600">
                <a:solidFill>
                  <a:srgbClr val="21049A"/>
                </a:solidFill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TÍTULO </a:t>
            </a:r>
            <a:r>
              <a:rPr lang="pt-BR" dirty="0" err="1"/>
              <a:t>TÍTULO</a:t>
            </a:r>
            <a:r>
              <a:rPr lang="pt-BR" dirty="0"/>
              <a:t> </a:t>
            </a:r>
            <a:r>
              <a:rPr lang="pt-BR" dirty="0" err="1"/>
              <a:t>TÍTULO</a:t>
            </a:r>
            <a:endParaRPr lang="pt-BR" dirty="0"/>
          </a:p>
        </p:txBody>
      </p:sp>
      <p:sp>
        <p:nvSpPr>
          <p:cNvPr id="12" name="Espaço Reservado para Conteúdo 4">
            <a:extLst>
              <a:ext uri="{FF2B5EF4-FFF2-40B4-BE49-F238E27FC236}">
                <a16:creationId xmlns:a16="http://schemas.microsoft.com/office/drawing/2014/main" id="{22C20E1A-1706-435A-BF46-A7988122942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272937" y="2586445"/>
            <a:ext cx="3709852" cy="277856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2800">
                <a:solidFill>
                  <a:schemeClr val="bg1"/>
                </a:solidFill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fr-FR" dirty="0"/>
              <a:t>Fusce quis lacus sit amet</a:t>
            </a:r>
          </a:p>
        </p:txBody>
      </p:sp>
      <p:sp>
        <p:nvSpPr>
          <p:cNvPr id="14" name="Espaço Reservado para Conteúdo 4">
            <a:extLst>
              <a:ext uri="{FF2B5EF4-FFF2-40B4-BE49-F238E27FC236}">
                <a16:creationId xmlns:a16="http://schemas.microsoft.com/office/drawing/2014/main" id="{8CB7D53B-6460-4A34-8124-84C3FBD464E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96150" y="2586445"/>
            <a:ext cx="3709850" cy="277856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2800">
                <a:solidFill>
                  <a:schemeClr val="bg1"/>
                </a:solidFill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fr-FR" dirty="0"/>
              <a:t>Fusce quis lacus sit amet</a:t>
            </a:r>
          </a:p>
        </p:txBody>
      </p:sp>
    </p:spTree>
    <p:extLst>
      <p:ext uri="{BB962C8B-B14F-4D97-AF65-F5344CB8AC3E}">
        <p14:creationId xmlns:p14="http://schemas.microsoft.com/office/powerpoint/2010/main" val="1036511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0562E0AD-E4EE-02BD-8E08-C54B7CD54BE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1ADE5E87-BD9B-7C07-F239-DC95941763A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663" b="40706"/>
          <a:stretch>
            <a:fillRect/>
          </a:stretch>
        </p:blipFill>
        <p:spPr>
          <a:xfrm>
            <a:off x="11287643" y="5957700"/>
            <a:ext cx="610847" cy="567947"/>
          </a:xfrm>
          <a:prstGeom prst="rect">
            <a:avLst/>
          </a:prstGeom>
        </p:spPr>
      </p:pic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A5F91E17-4B22-43C4-BC9A-B85CBB295BD0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85455" y="2973777"/>
            <a:ext cx="5972545" cy="1118045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4800">
                <a:solidFill>
                  <a:schemeClr val="bg1"/>
                </a:solidFill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TÍTULO DO SLIDE</a:t>
            </a:r>
          </a:p>
          <a:p>
            <a:pPr lvl="0"/>
            <a:r>
              <a:rPr lang="pt-BR" dirty="0"/>
              <a:t>TÍTULO DO SLIDE</a:t>
            </a:r>
          </a:p>
        </p:txBody>
      </p:sp>
    </p:spTree>
    <p:extLst>
      <p:ext uri="{BB962C8B-B14F-4D97-AF65-F5344CB8AC3E}">
        <p14:creationId xmlns:p14="http://schemas.microsoft.com/office/powerpoint/2010/main" val="28025919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 descr="Logotipo&#10;&#10;O conteúdo gerado por IA pode estar incorreto.">
            <a:extLst>
              <a:ext uri="{FF2B5EF4-FFF2-40B4-BE49-F238E27FC236}">
                <a16:creationId xmlns:a16="http://schemas.microsoft.com/office/drawing/2014/main" id="{D5AE18F8-4C98-E987-C600-30B97C4E563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Gráfico 11">
            <a:extLst>
              <a:ext uri="{FF2B5EF4-FFF2-40B4-BE49-F238E27FC236}">
                <a16:creationId xmlns:a16="http://schemas.microsoft.com/office/drawing/2014/main" id="{C2EFD695-3E61-27BB-FD99-9C489A1A735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663" b="40706"/>
          <a:stretch>
            <a:fillRect/>
          </a:stretch>
        </p:blipFill>
        <p:spPr>
          <a:xfrm>
            <a:off x="11287643" y="5957700"/>
            <a:ext cx="610847" cy="567947"/>
          </a:xfrm>
          <a:prstGeom prst="rect">
            <a:avLst/>
          </a:prstGeom>
        </p:spPr>
      </p:pic>
      <p:sp>
        <p:nvSpPr>
          <p:cNvPr id="8" name="Espaço Reservado para Conteúdo 4">
            <a:extLst>
              <a:ext uri="{FF2B5EF4-FFF2-40B4-BE49-F238E27FC236}">
                <a16:creationId xmlns:a16="http://schemas.microsoft.com/office/drawing/2014/main" id="{C32784AB-7E2C-4D14-865A-F72AC13685F1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58600" y="3821054"/>
            <a:ext cx="3859001" cy="132458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 </a:t>
            </a:r>
            <a:r>
              <a:rPr lang="pt-BR" dirty="0" err="1"/>
              <a:t>vestibulum</a:t>
            </a:r>
            <a:r>
              <a:rPr lang="pt-BR" dirty="0"/>
              <a:t> </a:t>
            </a:r>
            <a:r>
              <a:rPr lang="pt-BR" dirty="0" err="1"/>
              <a:t>dictum</a:t>
            </a:r>
            <a:r>
              <a:rPr lang="pt-BR" dirty="0"/>
              <a:t>. </a:t>
            </a:r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nisi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</a:t>
            </a:r>
            <a:r>
              <a:rPr lang="pt-BR" dirty="0" err="1"/>
              <a:t>imperdiet</a:t>
            </a:r>
            <a:r>
              <a:rPr lang="pt-BR" dirty="0"/>
              <a:t> </a:t>
            </a:r>
            <a:r>
              <a:rPr lang="pt-BR" dirty="0" err="1"/>
              <a:t>ex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, id </a:t>
            </a:r>
            <a:r>
              <a:rPr lang="pt-BR" dirty="0" err="1"/>
              <a:t>mattis</a:t>
            </a:r>
            <a:r>
              <a:rPr lang="pt-BR" dirty="0"/>
              <a:t> </a:t>
            </a:r>
            <a:r>
              <a:rPr lang="pt-BR" dirty="0" err="1"/>
              <a:t>lacus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. </a:t>
            </a:r>
          </a:p>
        </p:txBody>
      </p:sp>
      <p:sp>
        <p:nvSpPr>
          <p:cNvPr id="14" name="Espaço Reservado para Conteúdo 4">
            <a:extLst>
              <a:ext uri="{FF2B5EF4-FFF2-40B4-BE49-F238E27FC236}">
                <a16:creationId xmlns:a16="http://schemas.microsoft.com/office/drawing/2014/main" id="{107E1770-8F3E-4B77-9943-2EEF8B2A663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49074" y="633344"/>
            <a:ext cx="2529556" cy="46166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spc="600">
                <a:solidFill>
                  <a:srgbClr val="21049A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NOME DA SEÇÃO</a:t>
            </a:r>
            <a:br>
              <a:rPr lang="pt-BR" dirty="0"/>
            </a:br>
            <a:r>
              <a:rPr lang="pt-BR" dirty="0"/>
              <a:t>NOME DA SEÇÃO</a:t>
            </a:r>
          </a:p>
        </p:txBody>
      </p:sp>
      <p:sp>
        <p:nvSpPr>
          <p:cNvPr id="16" name="Espaço Reservado para Conteúdo 4">
            <a:extLst>
              <a:ext uri="{FF2B5EF4-FFF2-40B4-BE49-F238E27FC236}">
                <a16:creationId xmlns:a16="http://schemas.microsoft.com/office/drawing/2014/main" id="{7F7E01A6-0BF4-4257-880E-0E0383602A45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58600" y="2503501"/>
            <a:ext cx="4933333" cy="1118045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4800">
                <a:solidFill>
                  <a:srgbClr val="21049A"/>
                </a:solidFill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TÍTULO</a:t>
            </a:r>
          </a:p>
          <a:p>
            <a:pPr lvl="0"/>
            <a:r>
              <a:rPr lang="pt-BR" dirty="0"/>
              <a:t>TÍTULO</a:t>
            </a:r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Uma imagem contendo 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1BBAE76A-589A-1DC7-1848-FBCD1ED5F99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Espaço Reservado para Conteúdo 4">
            <a:extLst>
              <a:ext uri="{FF2B5EF4-FFF2-40B4-BE49-F238E27FC236}">
                <a16:creationId xmlns:a16="http://schemas.microsoft.com/office/drawing/2014/main" id="{8EDDECBF-2EF9-4580-826D-41A2BE4FF0F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094594" y="1287772"/>
            <a:ext cx="6098785" cy="1670102"/>
          </a:xfrm>
          <a:prstGeom prst="rect">
            <a:avLst/>
          </a:prstGeom>
        </p:spPr>
        <p:txBody>
          <a:bodyPr numCol="2" spcCol="18000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 </a:t>
            </a:r>
            <a:r>
              <a:rPr lang="pt-BR" dirty="0" err="1"/>
              <a:t>vestibulum</a:t>
            </a:r>
            <a:r>
              <a:rPr lang="pt-BR" dirty="0"/>
              <a:t> </a:t>
            </a:r>
            <a:r>
              <a:rPr lang="pt-BR" dirty="0" err="1"/>
              <a:t>dictum</a:t>
            </a:r>
            <a:r>
              <a:rPr lang="pt-BR" dirty="0"/>
              <a:t>. </a:t>
            </a:r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nisi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</a:t>
            </a:r>
            <a:r>
              <a:rPr lang="pt-BR" dirty="0" err="1"/>
              <a:t>imperdiet</a:t>
            </a:r>
            <a:r>
              <a:rPr lang="pt-BR" dirty="0"/>
              <a:t> </a:t>
            </a:r>
            <a:r>
              <a:rPr lang="pt-BR" dirty="0" err="1"/>
              <a:t>ex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, id </a:t>
            </a:r>
            <a:r>
              <a:rPr lang="pt-BR" dirty="0" err="1"/>
              <a:t>mattis</a:t>
            </a:r>
            <a:r>
              <a:rPr lang="pt-BR" dirty="0"/>
              <a:t> </a:t>
            </a:r>
            <a:r>
              <a:rPr lang="pt-BR" dirty="0" err="1"/>
              <a:t>lacus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. </a:t>
            </a:r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 </a:t>
            </a:r>
            <a:r>
              <a:rPr lang="pt-BR" dirty="0" err="1"/>
              <a:t>vestibulum</a:t>
            </a:r>
            <a:r>
              <a:rPr lang="pt-BR" dirty="0"/>
              <a:t> </a:t>
            </a:r>
            <a:r>
              <a:rPr lang="pt-BR" dirty="0" err="1"/>
              <a:t>dictum</a:t>
            </a:r>
            <a:r>
              <a:rPr lang="pt-BR" dirty="0"/>
              <a:t>. </a:t>
            </a:r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nisi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</a:t>
            </a:r>
            <a:r>
              <a:rPr lang="pt-BR" dirty="0" err="1"/>
              <a:t>imperdiet</a:t>
            </a:r>
            <a:r>
              <a:rPr lang="pt-BR" dirty="0"/>
              <a:t> </a:t>
            </a:r>
            <a:r>
              <a:rPr lang="pt-BR" dirty="0" err="1"/>
              <a:t>ex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, id </a:t>
            </a:r>
            <a:r>
              <a:rPr lang="pt-BR" dirty="0" err="1"/>
              <a:t>mattis</a:t>
            </a:r>
            <a:r>
              <a:rPr lang="pt-BR" dirty="0"/>
              <a:t> </a:t>
            </a:r>
            <a:r>
              <a:rPr lang="pt-BR" dirty="0" err="1"/>
              <a:t>lacus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. </a:t>
            </a:r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nisi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</a:t>
            </a:r>
            <a:r>
              <a:rPr lang="pt-BR" dirty="0" err="1"/>
              <a:t>imperdiet</a:t>
            </a:r>
            <a:r>
              <a:rPr lang="pt-BR" dirty="0"/>
              <a:t> </a:t>
            </a:r>
            <a:r>
              <a:rPr lang="pt-BR" dirty="0" err="1"/>
              <a:t>ex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, id </a:t>
            </a:r>
            <a:r>
              <a:rPr lang="pt-BR" dirty="0" err="1"/>
              <a:t>mattis</a:t>
            </a:r>
            <a:r>
              <a:rPr lang="pt-BR" dirty="0"/>
              <a:t> </a:t>
            </a:r>
            <a:r>
              <a:rPr lang="pt-BR" dirty="0" err="1"/>
              <a:t>lacus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. </a:t>
            </a:r>
          </a:p>
        </p:txBody>
      </p:sp>
      <p:sp>
        <p:nvSpPr>
          <p:cNvPr id="8" name="Espaço Reservado para Conteúdo 4">
            <a:extLst>
              <a:ext uri="{FF2B5EF4-FFF2-40B4-BE49-F238E27FC236}">
                <a16:creationId xmlns:a16="http://schemas.microsoft.com/office/drawing/2014/main" id="{1895628F-1505-42BC-8AAC-324418E11977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094594" y="3900126"/>
            <a:ext cx="5708389" cy="1869743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3600">
                <a:solidFill>
                  <a:schemeClr val="bg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Proin</a:t>
            </a:r>
            <a:r>
              <a:rPr lang="pt-BR" dirty="0"/>
              <a:t> </a:t>
            </a:r>
            <a:r>
              <a:rPr lang="pt-BR" dirty="0" err="1"/>
              <a:t>felis</a:t>
            </a:r>
            <a:r>
              <a:rPr lang="pt-BR" dirty="0"/>
              <a:t> </a:t>
            </a:r>
            <a:r>
              <a:rPr lang="pt-BR" dirty="0" err="1"/>
              <a:t>elit</a:t>
            </a:r>
            <a:r>
              <a:rPr lang="pt-BR" dirty="0"/>
              <a:t>, </a:t>
            </a:r>
            <a:r>
              <a:rPr lang="pt-BR" dirty="0" err="1"/>
              <a:t>pretium</a:t>
            </a:r>
            <a:r>
              <a:rPr lang="pt-BR" dirty="0"/>
              <a:t> </a:t>
            </a:r>
            <a:r>
              <a:rPr lang="pt-BR" dirty="0" err="1"/>
              <a:t>at</a:t>
            </a:r>
            <a:r>
              <a:rPr lang="pt-BR" dirty="0"/>
              <a:t> </a:t>
            </a:r>
            <a:r>
              <a:rPr lang="pt-BR" dirty="0" err="1"/>
              <a:t>ligula</a:t>
            </a:r>
            <a:r>
              <a:rPr lang="pt-BR" dirty="0"/>
              <a:t> et, </a:t>
            </a:r>
            <a:r>
              <a:rPr lang="pt-BR" dirty="0" err="1"/>
              <a:t>venenatis</a:t>
            </a:r>
            <a:r>
              <a:rPr lang="pt-BR" dirty="0"/>
              <a:t> </a:t>
            </a:r>
            <a:r>
              <a:rPr lang="pt-BR" dirty="0" err="1"/>
              <a:t>sollicitudin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Vestibulum</a:t>
            </a:r>
            <a:r>
              <a:rPr lang="pt-BR" dirty="0"/>
              <a:t> </a:t>
            </a:r>
            <a:r>
              <a:rPr lang="pt-BR" dirty="0" err="1"/>
              <a:t>pulvinar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76267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 descr="Diagrama, Desenho técnico&#10;&#10;O conteúdo gerado por IA pode estar incorreto.">
            <a:extLst>
              <a:ext uri="{FF2B5EF4-FFF2-40B4-BE49-F238E27FC236}">
                <a16:creationId xmlns:a16="http://schemas.microsoft.com/office/drawing/2014/main" id="{04016A07-62CC-4FF1-A3F1-174AA42354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55A34FD8-10C0-48D2-935C-1995B1CAA55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8418" t="-46144" b="-40859"/>
          <a:stretch>
            <a:fillRect/>
          </a:stretch>
        </p:blipFill>
        <p:spPr>
          <a:xfrm>
            <a:off x="8223477" y="4675844"/>
            <a:ext cx="3279336" cy="1945427"/>
          </a:xfrm>
          <a:prstGeom prst="rect">
            <a:avLst/>
          </a:prstGeom>
        </p:spPr>
      </p:pic>
      <p:sp>
        <p:nvSpPr>
          <p:cNvPr id="13" name="Espaço Reservado para Conteúdo 4">
            <a:extLst>
              <a:ext uri="{FF2B5EF4-FFF2-40B4-BE49-F238E27FC236}">
                <a16:creationId xmlns:a16="http://schemas.microsoft.com/office/drawing/2014/main" id="{4951D684-8E9D-4D85-AFF1-60D706CBB3CE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198962" y="1561342"/>
            <a:ext cx="9794071" cy="111804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7200">
                <a:ln>
                  <a:solidFill>
                    <a:schemeClr val="bg1"/>
                  </a:solidFill>
                </a:ln>
                <a:noFill/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TEXTO FINAL</a:t>
            </a:r>
          </a:p>
        </p:txBody>
      </p:sp>
    </p:spTree>
    <p:extLst>
      <p:ext uri="{BB962C8B-B14F-4D97-AF65-F5344CB8AC3E}">
        <p14:creationId xmlns:p14="http://schemas.microsoft.com/office/powerpoint/2010/main" val="23483734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2081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0187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  <p:sldLayoutId id="2147483672" r:id="rId13"/>
    <p:sldLayoutId id="2147483673" r:id="rId14"/>
    <p:sldLayoutId id="2147483674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9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tukerVitor/tcc_2" TargetMode="Externa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Diagrama, Desenho técnico&#10;&#10;O conteúdo gerado por IA pode estar incorreto.">
            <a:extLst>
              <a:ext uri="{FF2B5EF4-FFF2-40B4-BE49-F238E27FC236}">
                <a16:creationId xmlns:a16="http://schemas.microsoft.com/office/drawing/2014/main" id="{53407B26-3B78-365B-D686-303A129B49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1" name="CaixaDeTexto 20">
            <a:extLst>
              <a:ext uri="{FF2B5EF4-FFF2-40B4-BE49-F238E27FC236}">
                <a16:creationId xmlns:a16="http://schemas.microsoft.com/office/drawing/2014/main" id="{79107DC2-AF8A-3A77-1592-DB230FB9E2C7}"/>
              </a:ext>
            </a:extLst>
          </p:cNvPr>
          <p:cNvSpPr txBox="1"/>
          <p:nvPr/>
        </p:nvSpPr>
        <p:spPr>
          <a:xfrm>
            <a:off x="1198964" y="1211463"/>
            <a:ext cx="11478647" cy="1253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pt-BR" sz="6600" dirty="0">
                <a:solidFill>
                  <a:srgbClr val="E94D1C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LASCAS</a:t>
            </a:r>
          </a:p>
          <a:p>
            <a:pPr>
              <a:lnSpc>
                <a:spcPct val="80000"/>
              </a:lnSpc>
            </a:pPr>
            <a:r>
              <a:rPr lang="en-US" sz="28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Legal Accessibility and Simplification for Cognitive Aid System.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DB1499A-5112-01E4-CF58-B5F250916ACE}"/>
              </a:ext>
            </a:extLst>
          </p:cNvPr>
          <p:cNvSpPr txBox="1"/>
          <p:nvPr/>
        </p:nvSpPr>
        <p:spPr>
          <a:xfrm>
            <a:off x="1198964" y="854210"/>
            <a:ext cx="6591365" cy="2913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pt-BR" sz="16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Trabalho de Conclusão de Curso de Ciência da Computação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B7D3683-69A5-7566-5601-71A491ED3138}"/>
              </a:ext>
            </a:extLst>
          </p:cNvPr>
          <p:cNvSpPr txBox="1"/>
          <p:nvPr/>
        </p:nvSpPr>
        <p:spPr>
          <a:xfrm>
            <a:off x="1198964" y="2530519"/>
            <a:ext cx="8750947" cy="341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pt-BR" sz="20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Rumo à acessibilidade cognitiva em textos jurídicos brasileiros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6043C87-8241-7E0C-5451-70FAAB4A877A}"/>
              </a:ext>
            </a:extLst>
          </p:cNvPr>
          <p:cNvSpPr txBox="1"/>
          <p:nvPr/>
        </p:nvSpPr>
        <p:spPr>
          <a:xfrm>
            <a:off x="8116249" y="6027126"/>
            <a:ext cx="36673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 err="1">
                <a:solidFill>
                  <a:srgbClr val="DDEBF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Aluno</a:t>
            </a:r>
            <a:r>
              <a:rPr lang="en-US" sz="1400" dirty="0">
                <a:solidFill>
                  <a:srgbClr val="DDEBF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: Vitor </a:t>
            </a:r>
            <a:r>
              <a:rPr lang="en-US" sz="1400" dirty="0" err="1">
                <a:solidFill>
                  <a:srgbClr val="DDEBF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Stüker</a:t>
            </a:r>
            <a:r>
              <a:rPr lang="en-US" sz="1400" dirty="0">
                <a:solidFill>
                  <a:srgbClr val="DDEBF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de Almeida</a:t>
            </a:r>
          </a:p>
          <a:p>
            <a:r>
              <a:rPr lang="en-US" sz="1400" dirty="0" err="1">
                <a:solidFill>
                  <a:srgbClr val="DDEBF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Orientador</a:t>
            </a:r>
            <a:r>
              <a:rPr lang="en-US" sz="1400" dirty="0">
                <a:solidFill>
                  <a:srgbClr val="DDEBF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: Prof. Dr. Alex Roehrs · 2026</a:t>
            </a:r>
            <a:endParaRPr lang="en-US" sz="1400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24225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06A3B-E999-13EA-0600-1E97BEE18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 descr="Forma&#10;&#10;O conteúdo gerado por IA pode estar incorreto.">
            <a:extLst>
              <a:ext uri="{FF2B5EF4-FFF2-40B4-BE49-F238E27FC236}">
                <a16:creationId xmlns:a16="http://schemas.microsoft.com/office/drawing/2014/main" id="{785EF0AD-F7E4-D1AC-7E7B-FC1208BCBB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079CB1DD-7146-6972-D4C2-97BD6942DD9B}"/>
              </a:ext>
            </a:extLst>
          </p:cNvPr>
          <p:cNvSpPr txBox="1"/>
          <p:nvPr/>
        </p:nvSpPr>
        <p:spPr>
          <a:xfrm>
            <a:off x="936063" y="946002"/>
            <a:ext cx="10544016" cy="64633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pt-BR" sz="3600" dirty="0">
                <a:solidFill>
                  <a:srgbClr val="21049A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O problema: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C52D1737-769A-5F6D-9BD5-4FAA83D5A488}"/>
              </a:ext>
            </a:extLst>
          </p:cNvPr>
          <p:cNvSpPr txBox="1"/>
          <p:nvPr/>
        </p:nvSpPr>
        <p:spPr>
          <a:xfrm>
            <a:off x="1441624" y="3016800"/>
            <a:ext cx="292415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O texto jurídico é informação pública, mas nem sempre é compreensível</a:t>
            </a: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0D3A3439-0518-914A-BCC1-1C511638FD35}"/>
              </a:ext>
            </a:extLst>
          </p:cNvPr>
          <p:cNvSpPr/>
          <p:nvPr/>
        </p:nvSpPr>
        <p:spPr>
          <a:xfrm>
            <a:off x="5057617" y="2922847"/>
            <a:ext cx="5277795" cy="537509"/>
          </a:xfrm>
          <a:prstGeom prst="roundRect">
            <a:avLst>
              <a:gd name="adj" fmla="val 50000"/>
            </a:avLst>
          </a:prstGeom>
          <a:solidFill>
            <a:srgbClr val="432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4186FEB2-BEE6-B305-9814-2A71563C0D0B}"/>
              </a:ext>
            </a:extLst>
          </p:cNvPr>
          <p:cNvSpPr/>
          <p:nvPr/>
        </p:nvSpPr>
        <p:spPr>
          <a:xfrm>
            <a:off x="5773271" y="3387232"/>
            <a:ext cx="4562141" cy="537511"/>
          </a:xfrm>
          <a:prstGeom prst="roundRect">
            <a:avLst>
              <a:gd name="adj" fmla="val 50000"/>
            </a:avLst>
          </a:prstGeom>
          <a:solidFill>
            <a:srgbClr val="E94D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B2636F84-17B1-6418-A3CE-6A625E374B44}"/>
              </a:ext>
            </a:extLst>
          </p:cNvPr>
          <p:cNvSpPr/>
          <p:nvPr/>
        </p:nvSpPr>
        <p:spPr>
          <a:xfrm>
            <a:off x="6222365" y="3784591"/>
            <a:ext cx="4113048" cy="537512"/>
          </a:xfrm>
          <a:prstGeom prst="roundRect">
            <a:avLst>
              <a:gd name="adj" fmla="val 50000"/>
            </a:avLst>
          </a:prstGeom>
          <a:solidFill>
            <a:srgbClr val="2652C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0ADADA8D-D77C-D560-F1AE-0E50C4D0935F}"/>
              </a:ext>
            </a:extLst>
          </p:cNvPr>
          <p:cNvSpPr txBox="1"/>
          <p:nvPr/>
        </p:nvSpPr>
        <p:spPr>
          <a:xfrm>
            <a:off x="5208201" y="3037712"/>
            <a:ext cx="49766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4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A barreira não é só digital. É cognitiva. 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C34E488B-7C89-D5A4-510F-42ECFF396336}"/>
              </a:ext>
            </a:extLst>
          </p:cNvPr>
          <p:cNvSpPr txBox="1"/>
          <p:nvPr/>
        </p:nvSpPr>
        <p:spPr>
          <a:xfrm>
            <a:off x="6208071" y="3463077"/>
            <a:ext cx="3976756" cy="307777"/>
          </a:xfrm>
          <a:prstGeom prst="rect">
            <a:avLst/>
          </a:prstGeom>
          <a:solidFill>
            <a:srgbClr val="E94D1C"/>
          </a:solidFill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Vocabulário técnico e expressões arcaicas.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8FA162A0-B419-1124-792C-DC4DC69D5CA8}"/>
              </a:ext>
            </a:extLst>
          </p:cNvPr>
          <p:cNvSpPr txBox="1"/>
          <p:nvPr/>
        </p:nvSpPr>
        <p:spPr>
          <a:xfrm>
            <a:off x="6703626" y="3888155"/>
            <a:ext cx="3481201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Frases longas e alta carga de memória. </a:t>
            </a: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818CD3B1-6F4C-FF4C-1E1D-82A5BEF1B4C1}"/>
              </a:ext>
            </a:extLst>
          </p:cNvPr>
          <p:cNvSpPr/>
          <p:nvPr/>
        </p:nvSpPr>
        <p:spPr>
          <a:xfrm>
            <a:off x="6868506" y="4236130"/>
            <a:ext cx="3481201" cy="537509"/>
          </a:xfrm>
          <a:prstGeom prst="roundRect">
            <a:avLst>
              <a:gd name="adj" fmla="val 50000"/>
            </a:avLst>
          </a:prstGeom>
          <a:solidFill>
            <a:srgbClr val="432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1DF9C872-4946-9E8C-2980-3B40F2C61B5E}"/>
              </a:ext>
            </a:extLst>
          </p:cNvPr>
          <p:cNvSpPr txBox="1"/>
          <p:nvPr/>
        </p:nvSpPr>
        <p:spPr>
          <a:xfrm>
            <a:off x="6913672" y="4258155"/>
            <a:ext cx="3481201" cy="5232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pt-BR" sz="14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Dependência de intermediários para entender direitos e riscos.</a:t>
            </a:r>
          </a:p>
        </p:txBody>
      </p:sp>
    </p:spTree>
    <p:extLst>
      <p:ext uri="{BB962C8B-B14F-4D97-AF65-F5344CB8AC3E}">
        <p14:creationId xmlns:p14="http://schemas.microsoft.com/office/powerpoint/2010/main" val="24320852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60F2BC14-09EE-85CA-13CF-52CD4821C14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59427" y="564881"/>
            <a:ext cx="4081513" cy="1577593"/>
          </a:xfrm>
        </p:spPr>
        <p:txBody>
          <a:bodyPr/>
          <a:lstStyle/>
          <a:p>
            <a:r>
              <a:rPr lang="pt-BR" sz="4000" dirty="0"/>
              <a:t>Questão de pesquisa e objetivos: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6D5B70C-5522-183C-55A4-77325C931BE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59425" y="2440730"/>
            <a:ext cx="5175209" cy="541033"/>
          </a:xfrm>
        </p:spPr>
        <p:txBody>
          <a:bodyPr/>
          <a:lstStyle/>
          <a:p>
            <a:r>
              <a:rPr lang="pt-BR" sz="1800" spc="0" dirty="0"/>
              <a:t>Como usar NLP para simplificar textos jurídicos brasileiros e ampliar a acessibilidade cognitiva?</a:t>
            </a:r>
          </a:p>
          <a:p>
            <a:endParaRPr lang="pt-BR" spc="0" dirty="0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A9E85C8-42BF-A924-82A5-55DC7F90E8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59426" y="3280018"/>
            <a:ext cx="5094527" cy="2466357"/>
          </a:xfrm>
        </p:spPr>
        <p:txBody>
          <a:bodyPr/>
          <a:lstStyle/>
          <a:p>
            <a:r>
              <a:rPr lang="pt-BR" sz="2000" dirty="0"/>
              <a:t>• Fundamentar o problema em acessibilidade, linguagem simples e ATS.</a:t>
            </a:r>
          </a:p>
          <a:p>
            <a:endParaRPr lang="pt-BR" sz="2000" dirty="0"/>
          </a:p>
          <a:p>
            <a:r>
              <a:rPr lang="pt-BR" sz="2000" dirty="0"/>
              <a:t>• Construir um protótipo local-</a:t>
            </a:r>
            <a:r>
              <a:rPr lang="pt-BR" sz="2000" dirty="0" err="1"/>
              <a:t>first</a:t>
            </a:r>
            <a:r>
              <a:rPr lang="pt-BR" sz="2000" dirty="0"/>
              <a:t> para HTML e PDF.</a:t>
            </a:r>
          </a:p>
          <a:p>
            <a:endParaRPr lang="pt-BR" sz="2000" dirty="0"/>
          </a:p>
          <a:p>
            <a:r>
              <a:rPr lang="pt-BR" sz="2000" dirty="0"/>
              <a:t>• Avaliar compreensão percebida, usabilidade e utilidade.</a:t>
            </a:r>
          </a:p>
          <a:p>
            <a:endParaRPr lang="pt-BR" dirty="0"/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91C4B8D2-D038-4355-BDD1-5DFFDD72D7AB}"/>
              </a:ext>
            </a:extLst>
          </p:cNvPr>
          <p:cNvSpPr/>
          <p:nvPr/>
        </p:nvSpPr>
        <p:spPr>
          <a:xfrm>
            <a:off x="759425" y="6215305"/>
            <a:ext cx="4601468" cy="310896"/>
          </a:xfrm>
          <a:prstGeom prst="roundRect">
            <a:avLst>
              <a:gd name="adj" fmla="val 23529"/>
            </a:avLst>
          </a:prstGeom>
          <a:solidFill>
            <a:srgbClr val="E94D1C">
              <a:alpha val="92000"/>
            </a:srgbClr>
          </a:solidFill>
          <a:ln w="12700">
            <a:solidFill>
              <a:srgbClr val="E94D1C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sz="1600" dirty="0">
                <a:solidFill>
                  <a:srgbClr val="FFFFFF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Foco: </a:t>
            </a:r>
            <a:r>
              <a:rPr lang="en-US" sz="1600" dirty="0" err="1">
                <a:solidFill>
                  <a:srgbClr val="FFFFFF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apoio</a:t>
            </a:r>
            <a:r>
              <a:rPr lang="en-US" sz="1600" dirty="0">
                <a:solidFill>
                  <a:srgbClr val="FFFFFF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 à </a:t>
            </a:r>
            <a:r>
              <a:rPr lang="en-US" sz="1600" dirty="0" err="1">
                <a:solidFill>
                  <a:srgbClr val="FFFFFF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leitura</a:t>
            </a:r>
            <a:r>
              <a:rPr lang="en-US" sz="1600" dirty="0">
                <a:solidFill>
                  <a:srgbClr val="FFFFFF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inicial</a:t>
            </a:r>
            <a:r>
              <a:rPr lang="en-US" sz="1600" dirty="0">
                <a:solidFill>
                  <a:srgbClr val="FFFFFF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 e </a:t>
            </a:r>
            <a:r>
              <a:rPr lang="en-US" sz="1600" dirty="0" err="1">
                <a:solidFill>
                  <a:srgbClr val="FFFFFF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triagem</a:t>
            </a:r>
            <a:r>
              <a:rPr lang="en-US" sz="1600" dirty="0">
                <a:solidFill>
                  <a:srgbClr val="FFFFFF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.</a:t>
            </a:r>
            <a:endParaRPr lang="en-US" sz="1600" dirty="0">
              <a:latin typeface="Roboto Bold" panose="02000000000000000000" pitchFamily="2" charset="0"/>
              <a:ea typeface="Roboto Bold" panose="02000000000000000000" pitchFamily="2" charset="0"/>
              <a:cs typeface="Roboto Bol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19771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44421AE6-8520-F202-5C7B-D462EB73A5E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46383" y="3868386"/>
            <a:ext cx="2819400" cy="1082290"/>
          </a:xfrm>
        </p:spPr>
        <p:txBody>
          <a:bodyPr/>
          <a:lstStyle/>
          <a:p>
            <a:r>
              <a:rPr lang="en-US" sz="1800" dirty="0" err="1">
                <a:solidFill>
                  <a:srgbClr val="172033"/>
                </a:solidFill>
              </a:rPr>
              <a:t>jargão</a:t>
            </a:r>
            <a:r>
              <a:rPr lang="en-US" sz="1800" dirty="0">
                <a:solidFill>
                  <a:srgbClr val="172033"/>
                </a:solidFill>
              </a:rPr>
              <a:t>, </a:t>
            </a:r>
            <a:r>
              <a:rPr lang="en-US" sz="1800" dirty="0" err="1">
                <a:solidFill>
                  <a:srgbClr val="172033"/>
                </a:solidFill>
              </a:rPr>
              <a:t>termos</a:t>
            </a:r>
            <a:r>
              <a:rPr lang="en-US" sz="1800" dirty="0">
                <a:solidFill>
                  <a:srgbClr val="172033"/>
                </a:solidFill>
              </a:rPr>
              <a:t> </a:t>
            </a:r>
            <a:r>
              <a:rPr lang="en-US" sz="1800" dirty="0" err="1">
                <a:solidFill>
                  <a:srgbClr val="172033"/>
                </a:solidFill>
              </a:rPr>
              <a:t>técnicos</a:t>
            </a:r>
            <a:r>
              <a:rPr lang="en-US" sz="1800" dirty="0">
                <a:solidFill>
                  <a:srgbClr val="172033"/>
                </a:solidFill>
              </a:rPr>
              <a:t>, </a:t>
            </a:r>
            <a:r>
              <a:rPr lang="en-US" sz="1800" dirty="0" err="1">
                <a:solidFill>
                  <a:srgbClr val="172033"/>
                </a:solidFill>
              </a:rPr>
              <a:t>expressões</a:t>
            </a:r>
            <a:r>
              <a:rPr lang="en-US" sz="1800" dirty="0">
                <a:solidFill>
                  <a:srgbClr val="172033"/>
                </a:solidFill>
              </a:rPr>
              <a:t> </a:t>
            </a:r>
            <a:r>
              <a:rPr lang="en-US" sz="1800" dirty="0" err="1">
                <a:solidFill>
                  <a:srgbClr val="172033"/>
                </a:solidFill>
              </a:rPr>
              <a:t>pouco</a:t>
            </a:r>
            <a:r>
              <a:rPr lang="en-US" sz="1800" dirty="0">
                <a:solidFill>
                  <a:srgbClr val="172033"/>
                </a:solidFill>
              </a:rPr>
              <a:t> </a:t>
            </a:r>
            <a:r>
              <a:rPr lang="en-US" sz="1800" dirty="0" err="1">
                <a:solidFill>
                  <a:srgbClr val="172033"/>
                </a:solidFill>
              </a:rPr>
              <a:t>frequentes</a:t>
            </a:r>
            <a:endParaRPr lang="en-US" sz="1800" dirty="0"/>
          </a:p>
          <a:p>
            <a:pPr marL="0" indent="0">
              <a:buNone/>
            </a:pPr>
            <a:endParaRPr lang="pt-BR" dirty="0"/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7FF184B7-0ECC-C829-7F60-3F7953742C5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42968" y="3036329"/>
            <a:ext cx="2819400" cy="785342"/>
          </a:xfrm>
        </p:spPr>
        <p:txBody>
          <a:bodyPr/>
          <a:lstStyle/>
          <a:p>
            <a:pPr algn="ctr"/>
            <a:r>
              <a:rPr lang="pt-BR" dirty="0"/>
              <a:t>Complexidade lexical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8FC17DDD-D222-C156-57B5-C692775DF34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33258" y="4443667"/>
            <a:ext cx="2819400" cy="1010076"/>
          </a:xfrm>
        </p:spPr>
        <p:txBody>
          <a:bodyPr/>
          <a:lstStyle/>
          <a:p>
            <a:r>
              <a:rPr lang="en-US" sz="1800" dirty="0" err="1">
                <a:solidFill>
                  <a:srgbClr val="172033"/>
                </a:solidFill>
              </a:rPr>
              <a:t>frases</a:t>
            </a:r>
            <a:r>
              <a:rPr lang="en-US" sz="1800" dirty="0">
                <a:solidFill>
                  <a:srgbClr val="172033"/>
                </a:solidFill>
              </a:rPr>
              <a:t> longas, </a:t>
            </a:r>
            <a:r>
              <a:rPr lang="en-US" sz="1800" dirty="0" err="1">
                <a:solidFill>
                  <a:srgbClr val="172033"/>
                </a:solidFill>
              </a:rPr>
              <a:t>voz</a:t>
            </a:r>
            <a:r>
              <a:rPr lang="en-US" sz="1800" dirty="0">
                <a:solidFill>
                  <a:srgbClr val="172033"/>
                </a:solidFill>
              </a:rPr>
              <a:t> </a:t>
            </a:r>
            <a:r>
              <a:rPr lang="en-US" sz="1800" dirty="0" err="1">
                <a:solidFill>
                  <a:srgbClr val="172033"/>
                </a:solidFill>
              </a:rPr>
              <a:t>passiva</a:t>
            </a:r>
            <a:r>
              <a:rPr lang="en-US" sz="1800" dirty="0">
                <a:solidFill>
                  <a:srgbClr val="172033"/>
                </a:solidFill>
              </a:rPr>
              <a:t>, </a:t>
            </a:r>
            <a:r>
              <a:rPr lang="en-US" sz="1800" dirty="0" err="1">
                <a:solidFill>
                  <a:srgbClr val="172033"/>
                </a:solidFill>
              </a:rPr>
              <a:t>múltiplas</a:t>
            </a:r>
            <a:r>
              <a:rPr lang="en-US" sz="1800" dirty="0">
                <a:solidFill>
                  <a:srgbClr val="172033"/>
                </a:solidFill>
              </a:rPr>
              <a:t> </a:t>
            </a:r>
            <a:r>
              <a:rPr lang="en-US" sz="1800" dirty="0" err="1">
                <a:solidFill>
                  <a:srgbClr val="172033"/>
                </a:solidFill>
              </a:rPr>
              <a:t>subordinadas</a:t>
            </a:r>
            <a:endParaRPr lang="en-US" sz="1800" dirty="0"/>
          </a:p>
          <a:p>
            <a:endParaRPr lang="pt-BR" dirty="0"/>
          </a:p>
        </p:txBody>
      </p:sp>
      <p:sp>
        <p:nvSpPr>
          <p:cNvPr id="9" name="Espaço Reservado para Conteúdo 8">
            <a:extLst>
              <a:ext uri="{FF2B5EF4-FFF2-40B4-BE49-F238E27FC236}">
                <a16:creationId xmlns:a16="http://schemas.microsoft.com/office/drawing/2014/main" id="{C3B73C2C-E192-9A1F-09FA-1FDFB81A21E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686300" y="3658325"/>
            <a:ext cx="2819400" cy="785342"/>
          </a:xfrm>
        </p:spPr>
        <p:txBody>
          <a:bodyPr/>
          <a:lstStyle/>
          <a:p>
            <a:pPr algn="ctr"/>
            <a:r>
              <a:rPr lang="pt-BR" dirty="0"/>
              <a:t>Complexidade sintática</a:t>
            </a:r>
          </a:p>
        </p:txBody>
      </p:sp>
      <p:sp>
        <p:nvSpPr>
          <p:cNvPr id="10" name="Espaço Reservado para Conteúdo 9">
            <a:extLst>
              <a:ext uri="{FF2B5EF4-FFF2-40B4-BE49-F238E27FC236}">
                <a16:creationId xmlns:a16="http://schemas.microsoft.com/office/drawing/2014/main" id="{65421787-CDAA-E7CD-19DF-87CEE21B948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124825" y="3122148"/>
            <a:ext cx="2819400" cy="1139609"/>
          </a:xfrm>
        </p:spPr>
        <p:txBody>
          <a:bodyPr/>
          <a:lstStyle/>
          <a:p>
            <a:r>
              <a:rPr lang="en-US" sz="1800" dirty="0" err="1">
                <a:solidFill>
                  <a:srgbClr val="172033"/>
                </a:solidFill>
              </a:rPr>
              <a:t>condições</a:t>
            </a:r>
            <a:r>
              <a:rPr lang="en-US" sz="1800" dirty="0">
                <a:solidFill>
                  <a:srgbClr val="172033"/>
                </a:solidFill>
              </a:rPr>
              <a:t>, </a:t>
            </a:r>
            <a:r>
              <a:rPr lang="en-US" sz="1800" dirty="0" err="1">
                <a:solidFill>
                  <a:srgbClr val="172033"/>
                </a:solidFill>
              </a:rPr>
              <a:t>exceções</a:t>
            </a:r>
            <a:r>
              <a:rPr lang="en-US" sz="1800" dirty="0">
                <a:solidFill>
                  <a:srgbClr val="172033"/>
                </a:solidFill>
              </a:rPr>
              <a:t> e </a:t>
            </a:r>
            <a:r>
              <a:rPr lang="en-US" sz="1800" dirty="0" err="1">
                <a:solidFill>
                  <a:srgbClr val="172033"/>
                </a:solidFill>
              </a:rPr>
              <a:t>referências</a:t>
            </a:r>
            <a:r>
              <a:rPr lang="en-US" sz="1800" dirty="0">
                <a:solidFill>
                  <a:srgbClr val="172033"/>
                </a:solidFill>
              </a:rPr>
              <a:t> no </a:t>
            </a:r>
            <a:r>
              <a:rPr lang="en-US" sz="1800" dirty="0" err="1">
                <a:solidFill>
                  <a:srgbClr val="172033"/>
                </a:solidFill>
              </a:rPr>
              <a:t>mesmo</a:t>
            </a:r>
            <a:r>
              <a:rPr lang="en-US" sz="1800" dirty="0">
                <a:solidFill>
                  <a:srgbClr val="172033"/>
                </a:solidFill>
              </a:rPr>
              <a:t> </a:t>
            </a:r>
            <a:r>
              <a:rPr lang="en-US" sz="1800" dirty="0" err="1">
                <a:solidFill>
                  <a:srgbClr val="172033"/>
                </a:solidFill>
              </a:rPr>
              <a:t>parágrafo</a:t>
            </a:r>
            <a:endParaRPr lang="en-US" sz="1800" dirty="0"/>
          </a:p>
          <a:p>
            <a:endParaRPr lang="pt-BR" dirty="0"/>
          </a:p>
        </p:txBody>
      </p:sp>
      <p:sp>
        <p:nvSpPr>
          <p:cNvPr id="11" name="Espaço Reservado para Conteúdo 10">
            <a:extLst>
              <a:ext uri="{FF2B5EF4-FFF2-40B4-BE49-F238E27FC236}">
                <a16:creationId xmlns:a16="http://schemas.microsoft.com/office/drawing/2014/main" id="{9989210C-D0E7-9A80-F952-F32D042EA2F6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pPr algn="ctr"/>
            <a:r>
              <a:rPr lang="pt-BR" dirty="0"/>
              <a:t>Alta densidade informacional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177DE09-57B6-F77A-326E-683592D3200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17765" y="1467230"/>
            <a:ext cx="7287935" cy="1118045"/>
          </a:xfrm>
        </p:spPr>
        <p:txBody>
          <a:bodyPr/>
          <a:lstStyle/>
          <a:p>
            <a:r>
              <a:rPr lang="pt-BR" sz="2800" dirty="0"/>
              <a:t>O que torna o legalês difícil de processar? 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F71D34AC-CA12-7A33-4DB6-806F1D3F0E22}"/>
              </a:ext>
            </a:extLst>
          </p:cNvPr>
          <p:cNvSpPr txBox="1"/>
          <p:nvPr/>
        </p:nvSpPr>
        <p:spPr>
          <a:xfrm>
            <a:off x="2730968" y="6067946"/>
            <a:ext cx="6730064" cy="374571"/>
          </a:xfrm>
          <a:prstGeom prst="roundRect">
            <a:avLst/>
          </a:prstGeom>
          <a:solidFill>
            <a:srgbClr val="E94D1C"/>
          </a:solidFill>
        </p:spPr>
        <p:txBody>
          <a:bodyPr wrap="square">
            <a:spAutoFit/>
          </a:bodyPr>
          <a:lstStyle/>
          <a:p>
            <a:pPr algn="ctr"/>
            <a:r>
              <a:rPr lang="pt-BR" sz="16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Requisito técnico: simplificar sem apagar sentido jurídico essencial.</a:t>
            </a:r>
          </a:p>
        </p:txBody>
      </p:sp>
      <p:sp>
        <p:nvSpPr>
          <p:cNvPr id="2" name="Espaço Reservado para Conteúdo 5">
            <a:extLst>
              <a:ext uri="{FF2B5EF4-FFF2-40B4-BE49-F238E27FC236}">
                <a16:creationId xmlns:a16="http://schemas.microsoft.com/office/drawing/2014/main" id="{296B543B-C97C-A32D-7C36-E323810833DB}"/>
              </a:ext>
            </a:extLst>
          </p:cNvPr>
          <p:cNvSpPr txBox="1">
            <a:spLocks/>
          </p:cNvSpPr>
          <p:nvPr/>
        </p:nvSpPr>
        <p:spPr>
          <a:xfrm>
            <a:off x="2730968" y="482991"/>
            <a:ext cx="6734546" cy="1118045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4800" kern="1200">
                <a:solidFill>
                  <a:schemeClr val="bg1"/>
                </a:solidFill>
                <a:latin typeface="Roboto Black" panose="0200000000000000000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4000" spc="600" dirty="0"/>
              <a:t>PROBLEMA</a:t>
            </a:r>
          </a:p>
        </p:txBody>
      </p:sp>
    </p:spTree>
    <p:extLst>
      <p:ext uri="{BB962C8B-B14F-4D97-AF65-F5344CB8AC3E}">
        <p14:creationId xmlns:p14="http://schemas.microsoft.com/office/powerpoint/2010/main" val="7056874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ço Reservado para Conteúdo 9">
            <a:extLst>
              <a:ext uri="{FF2B5EF4-FFF2-40B4-BE49-F238E27FC236}">
                <a16:creationId xmlns:a16="http://schemas.microsoft.com/office/drawing/2014/main" id="{22EE5678-68AE-9B9E-7289-4F4A51C17A1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89202" y="630966"/>
            <a:ext cx="4386314" cy="461665"/>
          </a:xfrm>
        </p:spPr>
        <p:txBody>
          <a:bodyPr/>
          <a:lstStyle/>
          <a:p>
            <a:r>
              <a:rPr lang="pt-BR" sz="2400" spc="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Três Fundamentos que guiaram o </a:t>
            </a:r>
            <a:r>
              <a:rPr lang="pt-BR" sz="2400" b="1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LASCAS</a:t>
            </a:r>
          </a:p>
        </p:txBody>
      </p:sp>
      <p:sp>
        <p:nvSpPr>
          <p:cNvPr id="9" name="Espaço Reservado para Conteúdo 8">
            <a:extLst>
              <a:ext uri="{FF2B5EF4-FFF2-40B4-BE49-F238E27FC236}">
                <a16:creationId xmlns:a16="http://schemas.microsoft.com/office/drawing/2014/main" id="{D003F745-E9E2-44BC-49C3-BC4A22FD0A4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33136" y="1900012"/>
            <a:ext cx="708406" cy="1098093"/>
          </a:xfrm>
        </p:spPr>
        <p:txBody>
          <a:bodyPr/>
          <a:lstStyle/>
          <a:p>
            <a:r>
              <a:rPr lang="pt-BR" dirty="0">
                <a:solidFill>
                  <a:srgbClr val="E94D1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</a:p>
        </p:txBody>
      </p:sp>
      <p:sp>
        <p:nvSpPr>
          <p:cNvPr id="11" name="Espaço Reservado para Conteúdo 10">
            <a:extLst>
              <a:ext uri="{FF2B5EF4-FFF2-40B4-BE49-F238E27FC236}">
                <a16:creationId xmlns:a16="http://schemas.microsoft.com/office/drawing/2014/main" id="{B790202A-3125-83F8-45AB-013C154F390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166750" y="2079727"/>
            <a:ext cx="1691884" cy="754301"/>
          </a:xfrm>
        </p:spPr>
        <p:txBody>
          <a:bodyPr/>
          <a:lstStyle/>
          <a:p>
            <a:pPr algn="ctr"/>
            <a:r>
              <a:rPr lang="pt-BR" sz="1800" b="1" dirty="0"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Acessibilidade Cognitiva</a:t>
            </a:r>
            <a:r>
              <a:rPr lang="pt-BR" sz="1800" dirty="0"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	</a:t>
            </a:r>
          </a:p>
        </p:txBody>
      </p:sp>
      <p:sp>
        <p:nvSpPr>
          <p:cNvPr id="12" name="Espaço Reservado para Conteúdo 11">
            <a:extLst>
              <a:ext uri="{FF2B5EF4-FFF2-40B4-BE49-F238E27FC236}">
                <a16:creationId xmlns:a16="http://schemas.microsoft.com/office/drawing/2014/main" id="{8E8F583E-4286-7E21-CF9E-E95D1EC913B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2757586" y="2022025"/>
            <a:ext cx="3193880" cy="1287107"/>
          </a:xfrm>
        </p:spPr>
        <p:txBody>
          <a:bodyPr/>
          <a:lstStyle/>
          <a:p>
            <a:r>
              <a:rPr lang="pt-BR" sz="1800" dirty="0"/>
              <a:t>Informação compreensível para diferentes perfis cognitivos. </a:t>
            </a:r>
          </a:p>
        </p:txBody>
      </p:sp>
      <p:sp>
        <p:nvSpPr>
          <p:cNvPr id="13" name="Espaço Reservado para Conteúdo 12">
            <a:extLst>
              <a:ext uri="{FF2B5EF4-FFF2-40B4-BE49-F238E27FC236}">
                <a16:creationId xmlns:a16="http://schemas.microsoft.com/office/drawing/2014/main" id="{266D82B5-43E2-EB7D-3FA0-5360122B2E7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29692" y="1789450"/>
            <a:ext cx="708406" cy="1098093"/>
          </a:xfrm>
        </p:spPr>
        <p:txBody>
          <a:bodyPr/>
          <a:lstStyle/>
          <a:p>
            <a:r>
              <a:rPr lang="pt-BR" dirty="0">
                <a:solidFill>
                  <a:srgbClr val="E94D1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</a:p>
        </p:txBody>
      </p:sp>
      <p:sp>
        <p:nvSpPr>
          <p:cNvPr id="14" name="Espaço Reservado para Conteúdo 13">
            <a:extLst>
              <a:ext uri="{FF2B5EF4-FFF2-40B4-BE49-F238E27FC236}">
                <a16:creationId xmlns:a16="http://schemas.microsoft.com/office/drawing/2014/main" id="{49C06426-2100-0B6B-41A9-127D0D06484A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264354" y="1969165"/>
            <a:ext cx="1489788" cy="621148"/>
          </a:xfrm>
        </p:spPr>
        <p:txBody>
          <a:bodyPr/>
          <a:lstStyle/>
          <a:p>
            <a:pPr algn="ctr"/>
            <a:r>
              <a:rPr lang="pt-BR" sz="1800" b="1" dirty="0"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Linguagem</a:t>
            </a:r>
          </a:p>
          <a:p>
            <a:pPr algn="ctr"/>
            <a:r>
              <a:rPr lang="pt-BR" sz="1800" b="1" dirty="0"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Simples</a:t>
            </a:r>
            <a:r>
              <a:rPr lang="pt-BR" b="1" dirty="0"/>
              <a:t>	</a:t>
            </a:r>
          </a:p>
          <a:p>
            <a:endParaRPr lang="pt-BR" dirty="0"/>
          </a:p>
        </p:txBody>
      </p:sp>
      <p:sp>
        <p:nvSpPr>
          <p:cNvPr id="15" name="Espaço Reservado para Conteúdo 14">
            <a:extLst>
              <a:ext uri="{FF2B5EF4-FFF2-40B4-BE49-F238E27FC236}">
                <a16:creationId xmlns:a16="http://schemas.microsoft.com/office/drawing/2014/main" id="{0EA2E561-7F92-0D4B-4BCC-3D2216B9C67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718316" y="1900012"/>
            <a:ext cx="2998715" cy="1197116"/>
          </a:xfrm>
        </p:spPr>
        <p:txBody>
          <a:bodyPr/>
          <a:lstStyle/>
          <a:p>
            <a:r>
              <a:rPr lang="pt-BR" sz="1800" dirty="0"/>
              <a:t>Clareza, frases mais diretas, vocabulário acessível e estrutura visível</a:t>
            </a:r>
            <a:r>
              <a:rPr lang="pt-BR" dirty="0"/>
              <a:t>.</a:t>
            </a:r>
          </a:p>
          <a:p>
            <a:endParaRPr lang="pt-BR" dirty="0"/>
          </a:p>
        </p:txBody>
      </p:sp>
      <p:sp>
        <p:nvSpPr>
          <p:cNvPr id="16" name="Espaço Reservado para Conteúdo 15">
            <a:extLst>
              <a:ext uri="{FF2B5EF4-FFF2-40B4-BE49-F238E27FC236}">
                <a16:creationId xmlns:a16="http://schemas.microsoft.com/office/drawing/2014/main" id="{F2A2BD90-6DAD-FDAA-8BC5-EDDCFD28D7B2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33136" y="3987125"/>
            <a:ext cx="708406" cy="1098093"/>
          </a:xfrm>
        </p:spPr>
        <p:txBody>
          <a:bodyPr/>
          <a:lstStyle/>
          <a:p>
            <a:r>
              <a:rPr lang="pt-BR" dirty="0">
                <a:solidFill>
                  <a:srgbClr val="E94D1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</a:p>
        </p:txBody>
      </p:sp>
      <p:sp>
        <p:nvSpPr>
          <p:cNvPr id="17" name="Espaço Reservado para Conteúdo 16">
            <a:extLst>
              <a:ext uri="{FF2B5EF4-FFF2-40B4-BE49-F238E27FC236}">
                <a16:creationId xmlns:a16="http://schemas.microsoft.com/office/drawing/2014/main" id="{D9D6C292-15D7-19BA-ADDA-BBF4B92F21AF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1167717" y="4056004"/>
            <a:ext cx="1691884" cy="623719"/>
          </a:xfrm>
        </p:spPr>
        <p:txBody>
          <a:bodyPr/>
          <a:lstStyle/>
          <a:p>
            <a:pPr algn="ctr"/>
            <a:r>
              <a:rPr lang="pt-BR" sz="1800" b="1" dirty="0"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ATS + Transformers</a:t>
            </a:r>
            <a:r>
              <a:rPr lang="pt-BR" dirty="0"/>
              <a:t>	</a:t>
            </a:r>
          </a:p>
        </p:txBody>
      </p:sp>
      <p:sp>
        <p:nvSpPr>
          <p:cNvPr id="18" name="Espaço Reservado para Conteúdo 17">
            <a:extLst>
              <a:ext uri="{FF2B5EF4-FFF2-40B4-BE49-F238E27FC236}">
                <a16:creationId xmlns:a16="http://schemas.microsoft.com/office/drawing/2014/main" id="{A58676B7-F31B-D79D-1FF7-9595B1066EF1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2757585" y="3987125"/>
            <a:ext cx="3193881" cy="1287108"/>
          </a:xfrm>
        </p:spPr>
        <p:txBody>
          <a:bodyPr/>
          <a:lstStyle/>
          <a:p>
            <a:r>
              <a:rPr lang="en-US" sz="1800" dirty="0" err="1">
                <a:solidFill>
                  <a:srgbClr val="172033"/>
                </a:solidFill>
              </a:rPr>
              <a:t>Transformar</a:t>
            </a:r>
            <a:r>
              <a:rPr lang="en-US" sz="1800" dirty="0">
                <a:solidFill>
                  <a:srgbClr val="172033"/>
                </a:solidFill>
              </a:rPr>
              <a:t> </a:t>
            </a:r>
            <a:r>
              <a:rPr lang="en-US" sz="1800" dirty="0" err="1">
                <a:solidFill>
                  <a:srgbClr val="172033"/>
                </a:solidFill>
              </a:rPr>
              <a:t>texto</a:t>
            </a:r>
            <a:r>
              <a:rPr lang="en-US" sz="1800" dirty="0">
                <a:solidFill>
                  <a:srgbClr val="172033"/>
                </a:solidFill>
              </a:rPr>
              <a:t> </a:t>
            </a:r>
            <a:r>
              <a:rPr lang="en-US" sz="1800" dirty="0" err="1">
                <a:solidFill>
                  <a:srgbClr val="172033"/>
                </a:solidFill>
              </a:rPr>
              <a:t>complexo</a:t>
            </a:r>
            <a:r>
              <a:rPr lang="en-US" sz="1800" dirty="0">
                <a:solidFill>
                  <a:srgbClr val="172033"/>
                </a:solidFill>
              </a:rPr>
              <a:t> </a:t>
            </a:r>
            <a:r>
              <a:rPr lang="en-US" sz="1800" dirty="0" err="1">
                <a:solidFill>
                  <a:srgbClr val="172033"/>
                </a:solidFill>
              </a:rPr>
              <a:t>em</a:t>
            </a:r>
            <a:r>
              <a:rPr lang="en-US" sz="1800" dirty="0">
                <a:solidFill>
                  <a:srgbClr val="172033"/>
                </a:solidFill>
              </a:rPr>
              <a:t> </a:t>
            </a:r>
            <a:r>
              <a:rPr lang="en-US" sz="1800" dirty="0" err="1">
                <a:solidFill>
                  <a:srgbClr val="172033"/>
                </a:solidFill>
              </a:rPr>
              <a:t>versão</a:t>
            </a:r>
            <a:r>
              <a:rPr lang="en-US" sz="1800" dirty="0">
                <a:solidFill>
                  <a:srgbClr val="172033"/>
                </a:solidFill>
              </a:rPr>
              <a:t> </a:t>
            </a:r>
            <a:r>
              <a:rPr lang="en-US" sz="1800" dirty="0" err="1">
                <a:solidFill>
                  <a:srgbClr val="172033"/>
                </a:solidFill>
              </a:rPr>
              <a:t>mais</a:t>
            </a:r>
            <a:r>
              <a:rPr lang="en-US" sz="1800" dirty="0">
                <a:solidFill>
                  <a:srgbClr val="172033"/>
                </a:solidFill>
              </a:rPr>
              <a:t> simples, </a:t>
            </a:r>
            <a:r>
              <a:rPr lang="en-US" sz="1800" dirty="0" err="1">
                <a:solidFill>
                  <a:srgbClr val="172033"/>
                </a:solidFill>
              </a:rPr>
              <a:t>preservando</a:t>
            </a:r>
            <a:r>
              <a:rPr lang="en-US" sz="1800" dirty="0">
                <a:solidFill>
                  <a:srgbClr val="172033"/>
                </a:solidFill>
              </a:rPr>
              <a:t> </a:t>
            </a:r>
            <a:r>
              <a:rPr lang="en-US" sz="1800" dirty="0" err="1">
                <a:solidFill>
                  <a:srgbClr val="172033"/>
                </a:solidFill>
              </a:rPr>
              <a:t>sentido</a:t>
            </a:r>
            <a:r>
              <a:rPr lang="en-US" sz="1800" dirty="0">
                <a:solidFill>
                  <a:srgbClr val="172033"/>
                </a:solidFill>
              </a:rPr>
              <a:t>.</a:t>
            </a:r>
            <a:endParaRPr lang="en-US" sz="1800" dirty="0"/>
          </a:p>
        </p:txBody>
      </p:sp>
      <p:sp>
        <p:nvSpPr>
          <p:cNvPr id="21" name="Espaço Reservado para Conteúdo 20">
            <a:extLst>
              <a:ext uri="{FF2B5EF4-FFF2-40B4-BE49-F238E27FC236}">
                <a16:creationId xmlns:a16="http://schemas.microsoft.com/office/drawing/2014/main" id="{FFB0BA0C-D897-4EA8-8CC4-2A31B870E8F8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7114309" y="4367863"/>
            <a:ext cx="4640212" cy="737967"/>
          </a:xfrm>
          <a:prstGeom prst="roundRect">
            <a:avLst/>
          </a:prstGeom>
          <a:solidFill>
            <a:srgbClr val="E94D1C"/>
          </a:solidFill>
          <a:ln>
            <a:solidFill>
              <a:srgbClr val="E94D1C"/>
            </a:solidFill>
          </a:ln>
        </p:spPr>
        <p:txBody>
          <a:bodyPr/>
          <a:lstStyle/>
          <a:p>
            <a:pPr marL="0" indent="0" algn="ctr">
              <a:buNone/>
            </a:pPr>
            <a:r>
              <a:rPr lang="pt-BR" sz="16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Meta: Criar uma camada de leitura entre o documento jurídico e a compreensão inicial.</a:t>
            </a:r>
          </a:p>
        </p:txBody>
      </p:sp>
    </p:spTree>
    <p:extLst>
      <p:ext uri="{BB962C8B-B14F-4D97-AF65-F5344CB8AC3E}">
        <p14:creationId xmlns:p14="http://schemas.microsoft.com/office/powerpoint/2010/main" val="20035441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D623DFF7-786D-F592-A294-1D0A942972E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0" y="0"/>
            <a:ext cx="5449330" cy="1299552"/>
          </a:xfrm>
        </p:spPr>
        <p:txBody>
          <a:bodyPr/>
          <a:lstStyle/>
          <a:p>
            <a:pPr algn="ctr"/>
            <a:r>
              <a:rPr lang="pt-BR" sz="36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Trabalhos relacionados: </a:t>
            </a:r>
            <a:br>
              <a:rPr lang="pt-BR" sz="36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</a:br>
            <a:r>
              <a:rPr lang="pt-BR" sz="36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síntese comparativa</a:t>
            </a:r>
            <a:endParaRPr lang="pt-BR" sz="3600" dirty="0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DE16DA5-1D6A-ECB7-2B5E-FD9E6F6B6C5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452816" y="1089093"/>
            <a:ext cx="4652681" cy="4773825"/>
          </a:xfrm>
        </p:spPr>
        <p:txBody>
          <a:bodyPr/>
          <a:lstStyle/>
          <a:p>
            <a:pPr marL="0" indent="0" algn="ctr">
              <a:buNone/>
            </a:pPr>
            <a:r>
              <a:rPr lang="pt-BR" sz="1800" b="1" dirty="0">
                <a:solidFill>
                  <a:srgbClr val="E94D1C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Como cada estudo se conecta ao LASCAS:</a:t>
            </a:r>
          </a:p>
          <a:p>
            <a:pPr>
              <a:spcAft>
                <a:spcPts val="300"/>
              </a:spcAft>
            </a:pPr>
            <a:r>
              <a:rPr lang="pt-BR" sz="1800" dirty="0" err="1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Garimella</a:t>
            </a:r>
            <a:r>
              <a:rPr lang="pt-BR" sz="18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(2022): fluência não garante fidelidade jurídica.</a:t>
            </a:r>
          </a:p>
          <a:p>
            <a:pPr>
              <a:spcAft>
                <a:spcPts val="300"/>
              </a:spcAft>
            </a:pPr>
            <a:endParaRPr lang="pt-BR" sz="1800" dirty="0">
              <a:solidFill>
                <a:schemeClr val="bg1"/>
              </a:solidFill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  <a:p>
            <a:r>
              <a:rPr lang="pt-BR" sz="18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Alves (2023): reforça a viabilidade em português brasileiro.</a:t>
            </a:r>
          </a:p>
          <a:p>
            <a:endParaRPr lang="pt-BR" sz="1800" dirty="0">
              <a:solidFill>
                <a:schemeClr val="bg1"/>
              </a:solidFill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  <a:p>
            <a:r>
              <a:rPr lang="pt-BR" sz="1800" dirty="0" err="1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Athugodage</a:t>
            </a:r>
            <a:r>
              <a:rPr lang="pt-BR" sz="18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(2024): mostra fine-</a:t>
            </a:r>
            <a:r>
              <a:rPr lang="pt-BR" sz="1800" dirty="0" err="1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tuning</a:t>
            </a:r>
            <a:r>
              <a:rPr lang="pt-BR" sz="18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jurídico, mas com limites métricos.</a:t>
            </a:r>
          </a:p>
          <a:p>
            <a:endParaRPr lang="pt-BR" sz="1800" dirty="0">
              <a:solidFill>
                <a:schemeClr val="bg1"/>
              </a:solidFill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  <a:p>
            <a:r>
              <a:rPr lang="pt-BR" sz="1800" dirty="0" err="1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Toivonen</a:t>
            </a:r>
            <a:r>
              <a:rPr lang="pt-BR" sz="18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/ Zimina-Poirot (2025): linguagem simples, IA responsável e revisão humana.</a:t>
            </a:r>
          </a:p>
          <a:p>
            <a:pPr marL="0" indent="0">
              <a:buNone/>
            </a:pPr>
            <a:endParaRPr lang="pt-BR" b="1" dirty="0">
              <a:solidFill>
                <a:schemeClr val="bg1"/>
              </a:solidFill>
              <a:latin typeface="Roboto Bold" panose="02000000000000000000" pitchFamily="2" charset="0"/>
              <a:ea typeface="Roboto Bold" panose="02000000000000000000" pitchFamily="2" charset="0"/>
              <a:cs typeface="Roboto Bold" panose="02000000000000000000" pitchFamily="2" charset="0"/>
            </a:endParaRPr>
          </a:p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7FD1A9B-0C0D-B364-774F-AB8BA30874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03" y="1150094"/>
            <a:ext cx="4955053" cy="5707906"/>
          </a:xfrm>
          <a:prstGeom prst="rect">
            <a:avLst/>
          </a:prstGeom>
        </p:spPr>
      </p:pic>
      <p:sp>
        <p:nvSpPr>
          <p:cNvPr id="6" name="Shape 6">
            <a:extLst>
              <a:ext uri="{FF2B5EF4-FFF2-40B4-BE49-F238E27FC236}">
                <a16:creationId xmlns:a16="http://schemas.microsoft.com/office/drawing/2014/main" id="{D0490073-28CE-7BF4-990E-CD5046A89194}"/>
              </a:ext>
            </a:extLst>
          </p:cNvPr>
          <p:cNvSpPr/>
          <p:nvPr/>
        </p:nvSpPr>
        <p:spPr>
          <a:xfrm>
            <a:off x="5128060" y="5531224"/>
            <a:ext cx="5073776" cy="555811"/>
          </a:xfrm>
          <a:prstGeom prst="roundRect">
            <a:avLst>
              <a:gd name="adj" fmla="val 23529"/>
            </a:avLst>
          </a:prstGeom>
          <a:solidFill>
            <a:srgbClr val="E94D1C">
              <a:alpha val="92000"/>
            </a:srgbClr>
          </a:solidFill>
          <a:ln w="12700">
            <a:solidFill>
              <a:srgbClr val="E94D1C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/>
            <a:r>
              <a:rPr lang="pt-BR" sz="16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LASCAS: leva essa agenda a um workflow com PDF/HTML, validação e interface.</a:t>
            </a:r>
          </a:p>
        </p:txBody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C5D8ECF1-0BCA-4CD2-B3F1-529D19777338}"/>
              </a:ext>
            </a:extLst>
          </p:cNvPr>
          <p:cNvSpPr/>
          <p:nvPr/>
        </p:nvSpPr>
        <p:spPr>
          <a:xfrm>
            <a:off x="5128059" y="6185647"/>
            <a:ext cx="5073776" cy="555811"/>
          </a:xfrm>
          <a:prstGeom prst="roundRect">
            <a:avLst>
              <a:gd name="adj" fmla="val 23529"/>
            </a:avLst>
          </a:prstGeom>
          <a:solidFill>
            <a:srgbClr val="E94D1C">
              <a:alpha val="92000"/>
            </a:srgbClr>
          </a:solidFill>
          <a:ln w="12700">
            <a:solidFill>
              <a:srgbClr val="E94D1C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sz="1600" dirty="0" err="1">
                <a:solidFill>
                  <a:srgbClr val="FFFFFF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Direção</a:t>
            </a:r>
            <a:r>
              <a:rPr lang="en-US" sz="1600" dirty="0">
                <a:solidFill>
                  <a:srgbClr val="FFFFFF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escolhida</a:t>
            </a:r>
            <a:r>
              <a:rPr lang="en-US" sz="1600" dirty="0">
                <a:solidFill>
                  <a:srgbClr val="FFFFFF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: </a:t>
            </a:r>
            <a:r>
              <a:rPr lang="en-US" sz="1600" dirty="0" err="1">
                <a:solidFill>
                  <a:srgbClr val="FFFFFF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arquitetura</a:t>
            </a:r>
            <a:r>
              <a:rPr lang="en-US" sz="1600" dirty="0">
                <a:solidFill>
                  <a:srgbClr val="FFFFFF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híbrida</a:t>
            </a:r>
            <a:r>
              <a:rPr lang="en-US" sz="1600" dirty="0">
                <a:solidFill>
                  <a:srgbClr val="FFFFFF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 + local-first + </a:t>
            </a:r>
            <a:r>
              <a:rPr lang="en-US" sz="1600" dirty="0" err="1">
                <a:solidFill>
                  <a:srgbClr val="FFFFFF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avaliação</a:t>
            </a:r>
            <a:r>
              <a:rPr lang="en-US" sz="1600" dirty="0">
                <a:solidFill>
                  <a:srgbClr val="FFFFFF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aplicada</a:t>
            </a:r>
            <a:r>
              <a:rPr lang="en-US" sz="1600" dirty="0">
                <a:solidFill>
                  <a:srgbClr val="FFFFFF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.</a:t>
            </a:r>
            <a:endParaRPr lang="en-US" sz="1600" dirty="0">
              <a:latin typeface="Roboto Bold" panose="02000000000000000000" pitchFamily="2" charset="0"/>
              <a:ea typeface="Roboto Bold" panose="02000000000000000000" pitchFamily="2" charset="0"/>
              <a:cs typeface="Roboto Bol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74173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507C0-2B49-6797-0E4F-40D0CD005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6F0356E1-FC7F-701B-C858-94001CBA4E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820953" cy="7211786"/>
          </a:xfrm>
          <a:prstGeom prst="rect">
            <a:avLst/>
          </a:prstGeom>
        </p:spPr>
      </p:pic>
      <p:sp>
        <p:nvSpPr>
          <p:cNvPr id="15" name="CaixaDeTexto 14">
            <a:extLst>
              <a:ext uri="{FF2B5EF4-FFF2-40B4-BE49-F238E27FC236}">
                <a16:creationId xmlns:a16="http://schemas.microsoft.com/office/drawing/2014/main" id="{5D63176A-5B60-2002-3CF2-001D4BCB5988}"/>
              </a:ext>
            </a:extLst>
          </p:cNvPr>
          <p:cNvSpPr txBox="1"/>
          <p:nvPr/>
        </p:nvSpPr>
        <p:spPr>
          <a:xfrm>
            <a:off x="6236869" y="698876"/>
            <a:ext cx="4855673" cy="589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pt-BR" sz="4000" dirty="0">
                <a:solidFill>
                  <a:srgbClr val="21049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O que é o LASCAS?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52D1F72B-37BA-3CA6-B3E5-2525008CE75B}"/>
              </a:ext>
            </a:extLst>
          </p:cNvPr>
          <p:cNvSpPr txBox="1"/>
          <p:nvPr/>
        </p:nvSpPr>
        <p:spPr>
          <a:xfrm>
            <a:off x="5326686" y="4021426"/>
            <a:ext cx="6159348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• </a:t>
            </a:r>
            <a:r>
              <a:rPr lang="en-US" sz="2000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Executa</a:t>
            </a:r>
            <a:r>
              <a:rPr lang="en-US" sz="2000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no </a:t>
            </a:r>
            <a:r>
              <a:rPr lang="en-US" sz="2000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computador</a:t>
            </a:r>
            <a:r>
              <a:rPr lang="en-US" sz="2000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do </a:t>
            </a:r>
            <a:r>
              <a:rPr lang="en-US" sz="2000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usuário</a:t>
            </a:r>
            <a:r>
              <a:rPr lang="en-US" sz="2000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: </a:t>
            </a:r>
            <a:r>
              <a:rPr lang="en-US" sz="2000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reduz</a:t>
            </a:r>
            <a:r>
              <a:rPr lang="en-US" sz="2000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en-US" sz="2000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dependência</a:t>
            </a:r>
            <a:r>
              <a:rPr lang="en-US" sz="2000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de </a:t>
            </a:r>
            <a:r>
              <a:rPr lang="en-US" sz="2000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serviço</a:t>
            </a:r>
            <a:r>
              <a:rPr lang="en-US" sz="2000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en-US" sz="2000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externo</a:t>
            </a:r>
            <a:r>
              <a:rPr lang="en-US" sz="2000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.</a:t>
            </a:r>
          </a:p>
          <a:p>
            <a:endParaRPr lang="en-US" sz="2000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  <a:p>
            <a:r>
              <a:rPr lang="en-US" sz="2000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• </a:t>
            </a:r>
            <a:r>
              <a:rPr lang="en-US" sz="2000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Combina</a:t>
            </a:r>
            <a:r>
              <a:rPr lang="en-US" sz="2000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LLM com </a:t>
            </a:r>
            <a:r>
              <a:rPr lang="en-US" sz="2000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regras</a:t>
            </a:r>
            <a:r>
              <a:rPr lang="en-US" sz="2000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en-US" sz="2000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determinísticas</a:t>
            </a:r>
            <a:r>
              <a:rPr lang="en-US" sz="2000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e </a:t>
            </a:r>
            <a:r>
              <a:rPr lang="en-US" sz="2000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validação</a:t>
            </a:r>
            <a:r>
              <a:rPr lang="en-US" sz="2000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de </a:t>
            </a:r>
            <a:r>
              <a:rPr lang="en-US" sz="2000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integridade</a:t>
            </a:r>
            <a:r>
              <a:rPr lang="en-US" sz="2000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.</a:t>
            </a:r>
          </a:p>
          <a:p>
            <a:endParaRPr lang="en-US" sz="2000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  <a:p>
            <a:r>
              <a:rPr lang="en-US" sz="2000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• A interface </a:t>
            </a:r>
            <a:r>
              <a:rPr lang="en-US" sz="2000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deixa</a:t>
            </a:r>
            <a:r>
              <a:rPr lang="en-US" sz="2000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o </a:t>
            </a:r>
            <a:r>
              <a:rPr lang="en-US" sz="2000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texto</a:t>
            </a:r>
            <a:r>
              <a:rPr lang="en-US" sz="2000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en-US" sz="2000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simplificado</a:t>
            </a:r>
            <a:r>
              <a:rPr lang="en-US" sz="2000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en-US" sz="2000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ao</a:t>
            </a:r>
            <a:r>
              <a:rPr lang="en-US" sz="2000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en-US" sz="2000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lado</a:t>
            </a:r>
            <a:r>
              <a:rPr lang="en-US" sz="2000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do </a:t>
            </a:r>
            <a:r>
              <a:rPr lang="en-US" sz="2000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documento</a:t>
            </a:r>
            <a:r>
              <a:rPr lang="en-US" sz="2000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original.</a:t>
            </a:r>
            <a:endParaRPr lang="en-US" sz="2000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0F8C804B-32ED-B3D4-093C-3FF3DDD768DC}"/>
              </a:ext>
            </a:extLst>
          </p:cNvPr>
          <p:cNvSpPr txBox="1"/>
          <p:nvPr/>
        </p:nvSpPr>
        <p:spPr>
          <a:xfrm>
            <a:off x="5657046" y="1359747"/>
            <a:ext cx="6015318" cy="67710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pt-BR" sz="1900" dirty="0">
                <a:solidFill>
                  <a:schemeClr val="accent4">
                    <a:lumMod val="50000"/>
                  </a:schemeClr>
                </a:solidFill>
                <a:latin typeface="Roboto Black"/>
                <a:ea typeface="Roboto Black"/>
                <a:cs typeface="Roboto Black"/>
              </a:rPr>
              <a:t>PROTÓTIPO LOCAL-FIRST PARA SIMPLIFICAR TEXTOS JURÍDICOS BRASILEIROS EM HTML OU PDF</a:t>
            </a:r>
          </a:p>
        </p:txBody>
      </p:sp>
      <p:sp>
        <p:nvSpPr>
          <p:cNvPr id="2" name="Shape 5">
            <a:extLst>
              <a:ext uri="{FF2B5EF4-FFF2-40B4-BE49-F238E27FC236}">
                <a16:creationId xmlns:a16="http://schemas.microsoft.com/office/drawing/2014/main" id="{47E3564F-2E5C-9FDA-D7D5-DDDD1446BCFF}"/>
              </a:ext>
            </a:extLst>
          </p:cNvPr>
          <p:cNvSpPr/>
          <p:nvPr/>
        </p:nvSpPr>
        <p:spPr>
          <a:xfrm>
            <a:off x="5384058" y="2571554"/>
            <a:ext cx="1165988" cy="969496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38100">
            <a:solidFill>
              <a:srgbClr val="21049A"/>
            </a:solidFill>
            <a:prstDash val="solid"/>
          </a:ln>
        </p:spPr>
        <p:txBody>
          <a:bodyPr/>
          <a:lstStyle/>
          <a:p>
            <a:pPr algn="ctr"/>
            <a:r>
              <a:rPr lang="pt-BR" sz="16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Entrada HTML / PDF</a:t>
            </a:r>
          </a:p>
        </p:txBody>
      </p:sp>
      <p:sp>
        <p:nvSpPr>
          <p:cNvPr id="5" name="Shape 8">
            <a:extLst>
              <a:ext uri="{FF2B5EF4-FFF2-40B4-BE49-F238E27FC236}">
                <a16:creationId xmlns:a16="http://schemas.microsoft.com/office/drawing/2014/main" id="{E6B70695-2BBD-185D-4EA4-8F890FBFFAB1}"/>
              </a:ext>
            </a:extLst>
          </p:cNvPr>
          <p:cNvSpPr/>
          <p:nvPr/>
        </p:nvSpPr>
        <p:spPr>
          <a:xfrm>
            <a:off x="7051461" y="2530370"/>
            <a:ext cx="1165988" cy="987353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38100">
            <a:solidFill>
              <a:srgbClr val="E94D1C"/>
            </a:solidFill>
            <a:prstDash val="solid"/>
          </a:ln>
        </p:spPr>
        <p:txBody>
          <a:bodyPr/>
          <a:lstStyle/>
          <a:p>
            <a:pPr algn="ctr"/>
            <a:r>
              <a:rPr lang="pt-BR" sz="16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API local</a:t>
            </a:r>
          </a:p>
          <a:p>
            <a:pPr algn="ctr"/>
            <a:r>
              <a:rPr lang="pt-BR" sz="16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Node + Express</a:t>
            </a:r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D465D8A9-B77D-7046-967A-68C9ED40E2E2}"/>
              </a:ext>
            </a:extLst>
          </p:cNvPr>
          <p:cNvSpPr/>
          <p:nvPr/>
        </p:nvSpPr>
        <p:spPr>
          <a:xfrm>
            <a:off x="8584392" y="2702080"/>
            <a:ext cx="1465057" cy="684272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38100">
            <a:solidFill>
              <a:srgbClr val="21049A"/>
            </a:solidFill>
            <a:prstDash val="solid"/>
          </a:ln>
        </p:spPr>
        <p:txBody>
          <a:bodyPr/>
          <a:lstStyle/>
          <a:p>
            <a:pPr algn="ctr"/>
            <a:r>
              <a:rPr lang="pt-BR" sz="1600" b="1" dirty="0" err="1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Modelolocal</a:t>
            </a:r>
            <a:endParaRPr lang="pt-BR" sz="1600" b="1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  <a:p>
            <a:pPr algn="ctr"/>
            <a:r>
              <a:rPr lang="pt-BR" sz="1600" b="1" dirty="0" err="1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Ollama</a:t>
            </a:r>
            <a:r>
              <a:rPr lang="pt-BR" sz="16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+ LLM</a:t>
            </a:r>
            <a:r>
              <a:rPr lang="pt-BR" dirty="0"/>
              <a:t>	</a:t>
            </a:r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0C9E2573-AEBA-3BA1-CFC0-F8FE6A24A464}"/>
              </a:ext>
            </a:extLst>
          </p:cNvPr>
          <p:cNvSpPr/>
          <p:nvPr/>
        </p:nvSpPr>
        <p:spPr>
          <a:xfrm>
            <a:off x="10550864" y="2587863"/>
            <a:ext cx="1323831" cy="894853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38100">
            <a:solidFill>
              <a:srgbClr val="E94D1C"/>
            </a:solidFill>
            <a:prstDash val="solid"/>
          </a:ln>
        </p:spPr>
        <p:txBody>
          <a:bodyPr/>
          <a:lstStyle/>
          <a:p>
            <a:pPr algn="ctr"/>
            <a:r>
              <a:rPr lang="pt-BR" sz="16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Saída </a:t>
            </a:r>
            <a:r>
              <a:rPr lang="pt-BR" sz="1600" b="1" dirty="0" err="1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sidebar</a:t>
            </a:r>
            <a:r>
              <a:rPr lang="pt-BR" sz="16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simplificada</a:t>
            </a:r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6EE43A8D-EB75-84DD-6DB9-114CA38E950B}"/>
              </a:ext>
            </a:extLst>
          </p:cNvPr>
          <p:cNvSpPr/>
          <p:nvPr/>
        </p:nvSpPr>
        <p:spPr>
          <a:xfrm>
            <a:off x="6550045" y="3029140"/>
            <a:ext cx="501415" cy="0"/>
          </a:xfrm>
          <a:prstGeom prst="line">
            <a:avLst/>
          </a:prstGeom>
          <a:noFill/>
          <a:ln w="17780">
            <a:solidFill>
              <a:srgbClr val="21049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 dirty="0"/>
          </a:p>
        </p:txBody>
      </p:sp>
      <p:sp>
        <p:nvSpPr>
          <p:cNvPr id="14" name="Shape 7">
            <a:extLst>
              <a:ext uri="{FF2B5EF4-FFF2-40B4-BE49-F238E27FC236}">
                <a16:creationId xmlns:a16="http://schemas.microsoft.com/office/drawing/2014/main" id="{283A903A-D31E-C49C-E65C-3C55BF0D2050}"/>
              </a:ext>
            </a:extLst>
          </p:cNvPr>
          <p:cNvSpPr/>
          <p:nvPr/>
        </p:nvSpPr>
        <p:spPr>
          <a:xfrm flipV="1">
            <a:off x="8228328" y="3029140"/>
            <a:ext cx="356064" cy="0"/>
          </a:xfrm>
          <a:prstGeom prst="line">
            <a:avLst/>
          </a:prstGeom>
          <a:noFill/>
          <a:ln w="17780">
            <a:solidFill>
              <a:srgbClr val="21049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 dirty="0"/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280C39D4-E7BA-1F56-274D-ED0A9B9AA364}"/>
              </a:ext>
            </a:extLst>
          </p:cNvPr>
          <p:cNvSpPr/>
          <p:nvPr/>
        </p:nvSpPr>
        <p:spPr>
          <a:xfrm flipV="1">
            <a:off x="10060328" y="3035288"/>
            <a:ext cx="490536" cy="1"/>
          </a:xfrm>
          <a:prstGeom prst="line">
            <a:avLst/>
          </a:prstGeom>
          <a:noFill/>
          <a:ln w="17780">
            <a:solidFill>
              <a:srgbClr val="21049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849808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454BA3A6-CCB2-2572-8866-DF968A330E7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1502" y="2717307"/>
            <a:ext cx="3624762" cy="2001794"/>
          </a:xfrm>
        </p:spPr>
        <p:txBody>
          <a:bodyPr/>
          <a:lstStyle/>
          <a:p>
            <a:pPr algn="ctr"/>
            <a:r>
              <a:rPr lang="pt-BR" sz="400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Arquitetura em componentes </a:t>
            </a:r>
            <a:endParaRPr lang="pt-BR" sz="4000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848B5449-6BF2-E946-E0D0-DA0B9FFBEE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5757" y="689617"/>
            <a:ext cx="7836243" cy="6057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3948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6035E-D06C-0E40-A010-3ED8215F4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8C416CEE-B282-3466-1E2D-A51CE4963B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rgbClr val="E94D1C"/>
          </a:solidFill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6374644D-6E36-733F-CE25-534E7DCF5EC2}"/>
              </a:ext>
            </a:extLst>
          </p:cNvPr>
          <p:cNvSpPr txBox="1"/>
          <p:nvPr/>
        </p:nvSpPr>
        <p:spPr>
          <a:xfrm>
            <a:off x="3952988" y="4611206"/>
            <a:ext cx="645503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Dois modos principais:</a:t>
            </a:r>
          </a:p>
          <a:p>
            <a:pPr algn="just"/>
            <a:endParaRPr lang="fr-FR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Leve: </a:t>
            </a:r>
            <a:r>
              <a:rPr lang="fr-FR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reescrita frase a frase, alta fidelidade e quase mesmo tamanho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Médio/Forte: </a:t>
            </a:r>
            <a:r>
              <a:rPr lang="pt-BR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condensação em </a:t>
            </a:r>
            <a:r>
              <a:rPr lang="pt-BR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chunks</a:t>
            </a:r>
            <a:r>
              <a:rPr lang="pt-BR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com heurística de encolhimento garantido.</a:t>
            </a:r>
          </a:p>
        </p:txBody>
      </p:sp>
      <p:pic>
        <p:nvPicPr>
          <p:cNvPr id="17" name="Gráfico 16">
            <a:extLst>
              <a:ext uri="{FF2B5EF4-FFF2-40B4-BE49-F238E27FC236}">
                <a16:creationId xmlns:a16="http://schemas.microsoft.com/office/drawing/2014/main" id="{3EBD5842-1188-3138-2C22-681EDF500A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6648529" y="-781144"/>
            <a:ext cx="3844890" cy="2781300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B42E91A7-21B5-90AB-C86F-B486BDDB88D6}"/>
              </a:ext>
            </a:extLst>
          </p:cNvPr>
          <p:cNvSpPr txBox="1"/>
          <p:nvPr/>
        </p:nvSpPr>
        <p:spPr>
          <a:xfrm>
            <a:off x="0" y="355002"/>
            <a:ext cx="6804212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4400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Pipeline de simplificação: do bruto ao texto final</a:t>
            </a:r>
          </a:p>
        </p:txBody>
      </p:sp>
      <p:sp>
        <p:nvSpPr>
          <p:cNvPr id="2" name="Shape 4">
            <a:extLst>
              <a:ext uri="{FF2B5EF4-FFF2-40B4-BE49-F238E27FC236}">
                <a16:creationId xmlns:a16="http://schemas.microsoft.com/office/drawing/2014/main" id="{CCF2C313-829F-6B1C-DF33-3B8B22486B5A}"/>
              </a:ext>
            </a:extLst>
          </p:cNvPr>
          <p:cNvSpPr/>
          <p:nvPr/>
        </p:nvSpPr>
        <p:spPr>
          <a:xfrm>
            <a:off x="479611" y="3135854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E94D1C"/>
          </a:solidFill>
          <a:ln w="12700">
            <a:solidFill>
              <a:srgbClr val="E94D1C"/>
            </a:solidFill>
            <a:prstDash val="solid"/>
          </a:ln>
        </p:spPr>
        <p:txBody>
          <a:bodyPr/>
          <a:lstStyle/>
          <a:p>
            <a:pPr algn="ctr"/>
            <a:r>
              <a:rPr lang="pt-BR" b="1" dirty="0">
                <a:solidFill>
                  <a:srgbClr val="21049A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1</a:t>
            </a:r>
          </a:p>
          <a:p>
            <a:pPr algn="ctr"/>
            <a:r>
              <a:rPr lang="pt-BR" b="1" dirty="0">
                <a:solidFill>
                  <a:srgbClr val="21049A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Normalizar artefatos</a:t>
            </a:r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9DABB475-56C0-2E4E-23AF-B459C3F6636D}"/>
              </a:ext>
            </a:extLst>
          </p:cNvPr>
          <p:cNvSpPr/>
          <p:nvPr/>
        </p:nvSpPr>
        <p:spPr>
          <a:xfrm>
            <a:off x="2819401" y="3162748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E94D1C"/>
          </a:solidFill>
          <a:ln w="12700">
            <a:solidFill>
              <a:srgbClr val="E94D1C"/>
            </a:solidFill>
            <a:prstDash val="solid"/>
          </a:ln>
        </p:spPr>
        <p:txBody>
          <a:bodyPr/>
          <a:lstStyle/>
          <a:p>
            <a:pPr algn="ctr"/>
            <a:r>
              <a:rPr lang="pt-BR" b="1" dirty="0">
                <a:solidFill>
                  <a:srgbClr val="21049A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2</a:t>
            </a:r>
          </a:p>
          <a:p>
            <a:pPr algn="ctr"/>
            <a:r>
              <a:rPr lang="pt-BR" b="1" dirty="0">
                <a:solidFill>
                  <a:srgbClr val="21049A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Dividir em frases/</a:t>
            </a:r>
            <a:r>
              <a:rPr lang="pt-BR" b="1" dirty="0" err="1">
                <a:solidFill>
                  <a:srgbClr val="21049A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chunks</a:t>
            </a:r>
            <a:endParaRPr lang="pt-BR" b="1" dirty="0">
              <a:solidFill>
                <a:srgbClr val="21049A"/>
              </a:solidFill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2D224533-7B55-E5BB-0BE3-227C5BF9C2CC}"/>
              </a:ext>
            </a:extLst>
          </p:cNvPr>
          <p:cNvSpPr/>
          <p:nvPr/>
        </p:nvSpPr>
        <p:spPr>
          <a:xfrm>
            <a:off x="5159191" y="3162748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E94D1C"/>
          </a:solidFill>
          <a:ln w="12700">
            <a:solidFill>
              <a:srgbClr val="E94D1C"/>
            </a:solidFill>
            <a:prstDash val="solid"/>
          </a:ln>
        </p:spPr>
        <p:txBody>
          <a:bodyPr/>
          <a:lstStyle/>
          <a:p>
            <a:pPr algn="ctr"/>
            <a:r>
              <a:rPr lang="pt-BR" b="1" dirty="0">
                <a:solidFill>
                  <a:srgbClr val="21049A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3</a:t>
            </a:r>
          </a:p>
          <a:p>
            <a:pPr algn="ctr"/>
            <a:r>
              <a:rPr lang="pt-BR" b="1" dirty="0">
                <a:solidFill>
                  <a:srgbClr val="21049A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LLM local ou </a:t>
            </a:r>
            <a:r>
              <a:rPr lang="pt-BR" b="1" dirty="0" err="1">
                <a:solidFill>
                  <a:srgbClr val="21049A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fallback</a:t>
            </a:r>
            <a:endParaRPr lang="pt-BR" b="1" dirty="0">
              <a:solidFill>
                <a:srgbClr val="21049A"/>
              </a:solidFill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B864BD16-DB50-1D76-C8E8-CDA1696D6627}"/>
              </a:ext>
            </a:extLst>
          </p:cNvPr>
          <p:cNvSpPr/>
          <p:nvPr/>
        </p:nvSpPr>
        <p:spPr>
          <a:xfrm>
            <a:off x="7625835" y="3162748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E94D1C"/>
          </a:solidFill>
          <a:ln w="12700">
            <a:solidFill>
              <a:srgbClr val="E94D1C"/>
            </a:solidFill>
            <a:prstDash val="solid"/>
          </a:ln>
        </p:spPr>
        <p:txBody>
          <a:bodyPr/>
          <a:lstStyle/>
          <a:p>
            <a:pPr algn="ctr"/>
            <a:r>
              <a:rPr lang="pt-BR" b="1" dirty="0">
                <a:solidFill>
                  <a:srgbClr val="21049A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4</a:t>
            </a:r>
          </a:p>
          <a:p>
            <a:pPr algn="ctr"/>
            <a:r>
              <a:rPr lang="pt-BR" b="1" dirty="0">
                <a:solidFill>
                  <a:srgbClr val="21049A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Glossário e estrutura</a:t>
            </a:r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FFBCC2D6-42A1-F77C-DA79-7038D12DA3EA}"/>
              </a:ext>
            </a:extLst>
          </p:cNvPr>
          <p:cNvSpPr/>
          <p:nvPr/>
        </p:nvSpPr>
        <p:spPr>
          <a:xfrm>
            <a:off x="10121627" y="3162748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E94D1C"/>
          </a:solidFill>
          <a:ln w="12700">
            <a:solidFill>
              <a:srgbClr val="E94D1C"/>
            </a:solidFill>
            <a:prstDash val="solid"/>
          </a:ln>
        </p:spPr>
        <p:txBody>
          <a:bodyPr/>
          <a:lstStyle/>
          <a:p>
            <a:pPr algn="ctr"/>
            <a:r>
              <a:rPr lang="pt-BR" b="1" dirty="0">
                <a:solidFill>
                  <a:srgbClr val="21049A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5</a:t>
            </a:r>
          </a:p>
          <a:p>
            <a:pPr algn="ctr"/>
            <a:r>
              <a:rPr lang="pt-BR" b="1" dirty="0">
                <a:solidFill>
                  <a:srgbClr val="21049A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Validar integridade</a:t>
            </a: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2DD84E24-A78A-5BFD-ABCB-0896FF344E7C}"/>
              </a:ext>
            </a:extLst>
          </p:cNvPr>
          <p:cNvSpPr/>
          <p:nvPr/>
        </p:nvSpPr>
        <p:spPr>
          <a:xfrm>
            <a:off x="2262691" y="3619948"/>
            <a:ext cx="556710" cy="0"/>
          </a:xfrm>
          <a:prstGeom prst="line">
            <a:avLst/>
          </a:prstGeom>
          <a:noFill/>
          <a:ln w="17780">
            <a:solidFill>
              <a:schemeClr val="bg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67F0F482-7448-5F02-B38E-8735D00BD0D2}"/>
              </a:ext>
            </a:extLst>
          </p:cNvPr>
          <p:cNvSpPr/>
          <p:nvPr/>
        </p:nvSpPr>
        <p:spPr>
          <a:xfrm>
            <a:off x="4602481" y="3619948"/>
            <a:ext cx="556710" cy="0"/>
          </a:xfrm>
          <a:prstGeom prst="line">
            <a:avLst/>
          </a:prstGeom>
          <a:noFill/>
          <a:ln w="17780">
            <a:solidFill>
              <a:schemeClr val="bg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4DC59459-626E-06A1-6203-7E0A62A9437B}"/>
              </a:ext>
            </a:extLst>
          </p:cNvPr>
          <p:cNvSpPr/>
          <p:nvPr/>
        </p:nvSpPr>
        <p:spPr>
          <a:xfrm>
            <a:off x="6942271" y="3630706"/>
            <a:ext cx="683564" cy="10758"/>
          </a:xfrm>
          <a:prstGeom prst="line">
            <a:avLst/>
          </a:prstGeom>
          <a:noFill/>
          <a:ln w="17780">
            <a:solidFill>
              <a:schemeClr val="bg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219FCAA3-96F8-2D2B-5585-C2A80232F340}"/>
              </a:ext>
            </a:extLst>
          </p:cNvPr>
          <p:cNvSpPr/>
          <p:nvPr/>
        </p:nvSpPr>
        <p:spPr>
          <a:xfrm flipV="1">
            <a:off x="9408915" y="3630706"/>
            <a:ext cx="712712" cy="10758"/>
          </a:xfrm>
          <a:prstGeom prst="line">
            <a:avLst/>
          </a:prstGeom>
          <a:noFill/>
          <a:ln w="17780">
            <a:solidFill>
              <a:schemeClr val="bg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96572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Espaço Reservado para Conteúdo 18">
            <a:extLst>
              <a:ext uri="{FF2B5EF4-FFF2-40B4-BE49-F238E27FC236}">
                <a16:creationId xmlns:a16="http://schemas.microsoft.com/office/drawing/2014/main" id="{C741F2B9-A1E1-78D1-BA04-EC37E6C6009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971518" y="145118"/>
            <a:ext cx="3658306" cy="1430368"/>
          </a:xfrm>
        </p:spPr>
        <p:txBody>
          <a:bodyPr/>
          <a:lstStyle/>
          <a:p>
            <a:r>
              <a:rPr lang="pt-BR" sz="4000" dirty="0">
                <a:solidFill>
                  <a:srgbClr val="E94D1C"/>
                </a:solidFill>
              </a:rPr>
              <a:t>FORMULAÇÃO </a:t>
            </a:r>
          </a:p>
          <a:p>
            <a:r>
              <a:rPr lang="pt-BR" sz="4000" dirty="0">
                <a:solidFill>
                  <a:srgbClr val="E94D1C"/>
                </a:solidFill>
              </a:rPr>
              <a:t>DO </a:t>
            </a:r>
          </a:p>
          <a:p>
            <a:r>
              <a:rPr lang="pt-BR" sz="4000" dirty="0">
                <a:solidFill>
                  <a:srgbClr val="E94D1C"/>
                </a:solidFill>
              </a:rPr>
              <a:t>LASCAS</a:t>
            </a:r>
          </a:p>
        </p:txBody>
      </p:sp>
      <p:sp>
        <p:nvSpPr>
          <p:cNvPr id="21" name="Espaço Reservado para Conteúdo 3">
            <a:extLst>
              <a:ext uri="{FF2B5EF4-FFF2-40B4-BE49-F238E27FC236}">
                <a16:creationId xmlns:a16="http://schemas.microsoft.com/office/drawing/2014/main" id="{4BE244A4-F15B-07CB-F8C1-A03AE373EC6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4785" y="2156206"/>
            <a:ext cx="6654042" cy="4658546"/>
          </a:xfrm>
          <a:solidFill>
            <a:srgbClr val="21049A"/>
          </a:solidFill>
          <a:ln w="38100">
            <a:solidFill>
              <a:srgbClr val="21049A"/>
            </a:solidFill>
          </a:ln>
        </p:spPr>
        <p:txBody>
          <a:bodyPr/>
          <a:lstStyle/>
          <a:p>
            <a:pPr algn="just">
              <a:spcAft>
                <a:spcPts val="200"/>
              </a:spcAft>
            </a:pPr>
            <a:r>
              <a:rPr lang="pt-BR" sz="1200" b="1" dirty="0">
                <a:latin typeface="Courier New"/>
              </a:rPr>
              <a:t>T = texto original</a:t>
            </a:r>
          </a:p>
          <a:p>
            <a:pPr algn="just">
              <a:spcAft>
                <a:spcPts val="200"/>
              </a:spcAft>
            </a:pPr>
            <a:r>
              <a:rPr lang="pt-BR" sz="1200" b="1" dirty="0">
                <a:latin typeface="Courier New"/>
              </a:rPr>
              <a:t>S = texto simplificado</a:t>
            </a:r>
          </a:p>
          <a:p>
            <a:pPr algn="just">
              <a:spcAft>
                <a:spcPts val="200"/>
              </a:spcAft>
            </a:pPr>
            <a:endParaRPr lang="pt-BR" sz="1200" b="1" dirty="0">
              <a:latin typeface="Courier New"/>
            </a:endParaRPr>
          </a:p>
          <a:p>
            <a:pPr algn="just">
              <a:spcAft>
                <a:spcPts val="200"/>
              </a:spcAft>
            </a:pPr>
            <a:r>
              <a:rPr lang="pt-BR" sz="1200" b="1" dirty="0">
                <a:latin typeface="Courier New"/>
              </a:rPr>
              <a:t>1. T0 ← normalizar artefatos jurídicos de T</a:t>
            </a:r>
          </a:p>
          <a:p>
            <a:pPr algn="just">
              <a:spcAft>
                <a:spcPts val="200"/>
              </a:spcAft>
            </a:pPr>
            <a:r>
              <a:rPr lang="pt-BR" sz="1200" b="1" dirty="0">
                <a:latin typeface="Courier New"/>
              </a:rPr>
              <a:t>2. T1 ← </a:t>
            </a:r>
            <a:r>
              <a:rPr lang="pt-BR" sz="1200" b="1" dirty="0" err="1">
                <a:latin typeface="Courier New"/>
              </a:rPr>
              <a:t>pré</a:t>
            </a:r>
            <a:r>
              <a:rPr lang="pt-BR" sz="1200" b="1" dirty="0">
                <a:latin typeface="Courier New"/>
              </a:rPr>
              <a:t>-estruturar T0</a:t>
            </a:r>
          </a:p>
          <a:p>
            <a:pPr algn="just">
              <a:spcAft>
                <a:spcPts val="200"/>
              </a:spcAft>
            </a:pPr>
            <a:r>
              <a:rPr lang="pt-BR" sz="1200" b="1" dirty="0">
                <a:latin typeface="Courier New"/>
              </a:rPr>
              <a:t>3. Se nível = light:</a:t>
            </a:r>
          </a:p>
          <a:p>
            <a:pPr algn="just">
              <a:spcAft>
                <a:spcPts val="200"/>
              </a:spcAft>
            </a:pPr>
            <a:r>
              <a:rPr lang="pt-BR" sz="1200" b="1" dirty="0">
                <a:latin typeface="Courier New"/>
              </a:rPr>
              <a:t>   • proteger datas, valores, números, leis e negações</a:t>
            </a:r>
          </a:p>
          <a:p>
            <a:pPr algn="just">
              <a:spcAft>
                <a:spcPts val="200"/>
              </a:spcAft>
            </a:pPr>
            <a:r>
              <a:rPr lang="pt-BR" sz="1200" b="1" dirty="0">
                <a:latin typeface="Courier New"/>
              </a:rPr>
              <a:t>   • separar T1 em parágrafos e frases</a:t>
            </a:r>
          </a:p>
          <a:p>
            <a:pPr algn="just">
              <a:spcAft>
                <a:spcPts val="200"/>
              </a:spcAft>
            </a:pPr>
            <a:r>
              <a:rPr lang="pt-BR" sz="1200" b="1" dirty="0">
                <a:latin typeface="Courier New"/>
              </a:rPr>
              <a:t>   • reescrever cada frase com o modelo local</a:t>
            </a:r>
          </a:p>
          <a:p>
            <a:pPr algn="just">
              <a:spcAft>
                <a:spcPts val="200"/>
              </a:spcAft>
            </a:pPr>
            <a:r>
              <a:rPr lang="pt-BR" sz="1200" b="1" dirty="0">
                <a:latin typeface="Courier New"/>
              </a:rPr>
              <a:t>   • aceitar a nova versão ou manter a original</a:t>
            </a:r>
          </a:p>
          <a:p>
            <a:pPr algn="just">
              <a:spcAft>
                <a:spcPts val="200"/>
              </a:spcAft>
            </a:pPr>
            <a:r>
              <a:rPr lang="pt-BR" sz="1200" b="1" dirty="0">
                <a:latin typeface="Courier New"/>
              </a:rPr>
              <a:t>   • restaurar os elementos protegidos</a:t>
            </a:r>
          </a:p>
          <a:p>
            <a:pPr algn="just">
              <a:spcAft>
                <a:spcPts val="200"/>
              </a:spcAft>
            </a:pPr>
            <a:r>
              <a:rPr lang="pt-BR" sz="1200" b="1" dirty="0">
                <a:latin typeface="Courier New"/>
              </a:rPr>
              <a:t>   • pós-estruturar, normalizar e aplicar glossário</a:t>
            </a:r>
          </a:p>
          <a:p>
            <a:pPr algn="just">
              <a:spcAft>
                <a:spcPts val="200"/>
              </a:spcAft>
            </a:pPr>
            <a:r>
              <a:rPr lang="pt-BR" sz="1200" b="1" dirty="0">
                <a:latin typeface="Courier New"/>
              </a:rPr>
              <a:t>   • se a integridade estrita falhar: </a:t>
            </a:r>
            <a:r>
              <a:rPr lang="pt-BR" sz="1200" b="1" dirty="0" err="1">
                <a:latin typeface="Courier New"/>
              </a:rPr>
              <a:t>fallback</a:t>
            </a:r>
            <a:r>
              <a:rPr lang="pt-BR" sz="1200" b="1" dirty="0">
                <a:latin typeface="Courier New"/>
              </a:rPr>
              <a:t> determinístico</a:t>
            </a:r>
          </a:p>
          <a:p>
            <a:pPr algn="just">
              <a:spcAft>
                <a:spcPts val="200"/>
              </a:spcAft>
            </a:pPr>
            <a:r>
              <a:rPr lang="pt-BR" sz="1200" b="1" dirty="0">
                <a:latin typeface="Courier New"/>
              </a:rPr>
              <a:t>4. Senão, para </a:t>
            </a:r>
            <a:r>
              <a:rPr lang="pt-BR" sz="1200" b="1" dirty="0" err="1">
                <a:latin typeface="Courier New"/>
              </a:rPr>
              <a:t>medium</a:t>
            </a:r>
            <a:r>
              <a:rPr lang="pt-BR" sz="1200" b="1" dirty="0">
                <a:latin typeface="Courier New"/>
              </a:rPr>
              <a:t>/</a:t>
            </a:r>
            <a:r>
              <a:rPr lang="pt-BR" sz="1200" b="1" dirty="0" err="1">
                <a:latin typeface="Courier New"/>
              </a:rPr>
              <a:t>strong</a:t>
            </a:r>
            <a:r>
              <a:rPr lang="pt-BR" sz="1200" b="1" dirty="0">
                <a:latin typeface="Courier New"/>
              </a:rPr>
              <a:t>:</a:t>
            </a:r>
          </a:p>
          <a:p>
            <a:pPr algn="just">
              <a:spcAft>
                <a:spcPts val="200"/>
              </a:spcAft>
            </a:pPr>
            <a:r>
              <a:rPr lang="pt-BR" sz="1200" b="1" dirty="0">
                <a:latin typeface="Courier New"/>
              </a:rPr>
              <a:t>   • separar T1 em blocos controlados</a:t>
            </a:r>
          </a:p>
          <a:p>
            <a:pPr algn="just">
              <a:spcAft>
                <a:spcPts val="200"/>
              </a:spcAft>
            </a:pPr>
            <a:r>
              <a:rPr lang="pt-BR" sz="1200" b="1" dirty="0">
                <a:latin typeface="Courier New"/>
              </a:rPr>
              <a:t>   • selecionar elementos essenciais a preservar</a:t>
            </a:r>
          </a:p>
          <a:p>
            <a:pPr algn="just">
              <a:spcAft>
                <a:spcPts val="200"/>
              </a:spcAft>
            </a:pPr>
            <a:r>
              <a:rPr lang="pt-BR" sz="1200" b="1" dirty="0">
                <a:latin typeface="Courier New"/>
              </a:rPr>
              <a:t>   • condensar cada bloco com o modelo local</a:t>
            </a:r>
          </a:p>
          <a:p>
            <a:pPr algn="just">
              <a:spcAft>
                <a:spcPts val="200"/>
              </a:spcAft>
            </a:pPr>
            <a:r>
              <a:rPr lang="pt-BR" sz="1200" b="1" dirty="0">
                <a:latin typeface="Courier New"/>
              </a:rPr>
              <a:t>   • se a condensação falhar: condensação heurística/determinística</a:t>
            </a:r>
          </a:p>
          <a:p>
            <a:pPr algn="just">
              <a:spcAft>
                <a:spcPts val="200"/>
              </a:spcAft>
            </a:pPr>
            <a:r>
              <a:rPr lang="pt-BR" sz="1200" b="1" dirty="0">
                <a:latin typeface="Courier New"/>
              </a:rPr>
              <a:t>   • juntar blocos, normalizar e aplicar glossário</a:t>
            </a:r>
          </a:p>
          <a:p>
            <a:pPr algn="just">
              <a:spcAft>
                <a:spcPts val="200"/>
              </a:spcAft>
            </a:pPr>
            <a:r>
              <a:rPr lang="pt-BR" sz="1200" b="1" dirty="0">
                <a:latin typeface="Courier New"/>
              </a:rPr>
              <a:t>   • se a integridade modo resumo falhar: </a:t>
            </a:r>
            <a:r>
              <a:rPr lang="pt-BR" sz="1200" b="1" dirty="0" err="1">
                <a:latin typeface="Courier New"/>
              </a:rPr>
              <a:t>fallback</a:t>
            </a:r>
            <a:r>
              <a:rPr lang="pt-BR" sz="1200" b="1" dirty="0">
                <a:latin typeface="Courier New"/>
              </a:rPr>
              <a:t> determinístico</a:t>
            </a:r>
          </a:p>
          <a:p>
            <a:pPr algn="just">
              <a:spcAft>
                <a:spcPts val="200"/>
              </a:spcAft>
            </a:pPr>
            <a:r>
              <a:rPr lang="pt-BR" sz="1200" b="1" dirty="0">
                <a:latin typeface="Courier New"/>
              </a:rPr>
              <a:t>5. Retornar S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5EA4B541-E77D-4130-67B8-7A952B629E4E}"/>
              </a:ext>
            </a:extLst>
          </p:cNvPr>
          <p:cNvSpPr txBox="1"/>
          <p:nvPr/>
        </p:nvSpPr>
        <p:spPr>
          <a:xfrm>
            <a:off x="-224942" y="1330473"/>
            <a:ext cx="32767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spc="6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PSEUDO-CÓDIGO SIMPLIFICADO</a:t>
            </a:r>
          </a:p>
        </p:txBody>
      </p:sp>
      <p:pic>
        <p:nvPicPr>
          <p:cNvPr id="23" name="Picture 26" descr="image.png">
            <a:extLst>
              <a:ext uri="{FF2B5EF4-FFF2-40B4-BE49-F238E27FC236}">
                <a16:creationId xmlns:a16="http://schemas.microsoft.com/office/drawing/2014/main" id="{AAA8BB9B-3E1B-32D3-2475-AF96B79802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842" t="4046" r="32222" b="10488"/>
          <a:stretch>
            <a:fillRect/>
          </a:stretch>
        </p:blipFill>
        <p:spPr>
          <a:xfrm>
            <a:off x="6956854" y="633709"/>
            <a:ext cx="4158049" cy="6181043"/>
          </a:xfrm>
          <a:prstGeom prst="rect">
            <a:avLst/>
          </a:prstGeom>
          <a:ln w="38100">
            <a:solidFill>
              <a:srgbClr val="21049A"/>
            </a:solidFill>
          </a:ln>
        </p:spPr>
      </p:pic>
    </p:spTree>
    <p:extLst>
      <p:ext uri="{BB962C8B-B14F-4D97-AF65-F5344CB8AC3E}">
        <p14:creationId xmlns:p14="http://schemas.microsoft.com/office/powerpoint/2010/main" val="12026684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823E648D-ADAA-B427-103E-D27FD6E8DAF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23757" y="1332595"/>
            <a:ext cx="6971020" cy="1670102"/>
          </a:xfrm>
        </p:spPr>
        <p:txBody>
          <a:bodyPr/>
          <a:lstStyle/>
          <a:p>
            <a:r>
              <a:rPr lang="pt-BR" sz="1600" dirty="0"/>
              <a:t>• Extração com </a:t>
            </a:r>
            <a:r>
              <a:rPr lang="pt-BR" sz="1600" dirty="0" err="1"/>
              <a:t>pdfjs-dist</a:t>
            </a:r>
            <a:r>
              <a:rPr lang="pt-BR" sz="1600" dirty="0"/>
              <a:t> </a:t>
            </a:r>
            <a:r>
              <a:rPr lang="pt-BR" sz="1600" dirty="0" err="1"/>
              <a:t>legacy</a:t>
            </a:r>
            <a:r>
              <a:rPr lang="pt-BR" sz="1600" dirty="0"/>
              <a:t> build</a:t>
            </a:r>
          </a:p>
          <a:p>
            <a:endParaRPr lang="pt-BR" sz="1600" dirty="0"/>
          </a:p>
          <a:p>
            <a:r>
              <a:rPr lang="pt-BR" sz="1600" dirty="0"/>
              <a:t>• Reconstrução por coordenadas x-y</a:t>
            </a:r>
          </a:p>
          <a:p>
            <a:endParaRPr lang="pt-BR" sz="1600" dirty="0"/>
          </a:p>
          <a:p>
            <a:endParaRPr lang="pt-BR" sz="1600" dirty="0"/>
          </a:p>
          <a:p>
            <a:endParaRPr lang="pt-BR" sz="1600" dirty="0"/>
          </a:p>
          <a:p>
            <a:r>
              <a:rPr lang="pt-BR" sz="1600" dirty="0"/>
              <a:t>• União de páginas sem parágrafos falsos</a:t>
            </a:r>
          </a:p>
          <a:p>
            <a:endParaRPr lang="pt-BR" dirty="0"/>
          </a:p>
          <a:p>
            <a:r>
              <a:rPr lang="pt-BR" sz="1600" dirty="0"/>
              <a:t>• Correção de artefatos em números, moeda e abreviações</a:t>
            </a:r>
          </a:p>
          <a:p>
            <a:endParaRPr lang="pt-BR" dirty="0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4E43571-400A-1CF7-FC5B-5017336CA17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094595" y="197704"/>
            <a:ext cx="6900182" cy="600156"/>
          </a:xfrm>
        </p:spPr>
        <p:txBody>
          <a:bodyPr/>
          <a:lstStyle/>
          <a:p>
            <a:pPr algn="ctr"/>
            <a:r>
              <a:rPr lang="pt-BR" dirty="0"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PDF foi tratado como problema de engenharia</a:t>
            </a:r>
          </a:p>
        </p:txBody>
      </p:sp>
      <p:sp>
        <p:nvSpPr>
          <p:cNvPr id="6" name="Espaço Reservado para Conteúdo 4">
            <a:extLst>
              <a:ext uri="{FF2B5EF4-FFF2-40B4-BE49-F238E27FC236}">
                <a16:creationId xmlns:a16="http://schemas.microsoft.com/office/drawing/2014/main" id="{0B48434D-925D-1A93-ECD6-811FEAC2C121}"/>
              </a:ext>
            </a:extLst>
          </p:cNvPr>
          <p:cNvSpPr txBox="1">
            <a:spLocks/>
          </p:cNvSpPr>
          <p:nvPr/>
        </p:nvSpPr>
        <p:spPr>
          <a:xfrm>
            <a:off x="5094595" y="3537432"/>
            <a:ext cx="6098785" cy="1670102"/>
          </a:xfrm>
          <a:prstGeom prst="rect">
            <a:avLst/>
          </a:prstGeom>
        </p:spPr>
        <p:txBody>
          <a:bodyPr numCol="1" spcCol="18000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kern="1200">
                <a:solidFill>
                  <a:schemeClr val="bg1"/>
                </a:solidFill>
                <a:latin typeface="Roboto Light" panose="0200000000000000000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800" b="1" dirty="0"/>
              <a:t>Exemplos de normalização</a:t>
            </a:r>
          </a:p>
          <a:p>
            <a:endParaRPr lang="pt-BR" dirty="0"/>
          </a:p>
          <a:p>
            <a:endParaRPr lang="pt-BR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BC353D63-4E70-C0EE-2A6E-BA2F714453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1833" y="4103763"/>
            <a:ext cx="3744308" cy="1861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601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1CD9C-F48F-D004-3BD7-BA9963146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Ícone&#10;&#10;O conteúdo gerado por IA pode estar incorreto.">
            <a:extLst>
              <a:ext uri="{FF2B5EF4-FFF2-40B4-BE49-F238E27FC236}">
                <a16:creationId xmlns:a16="http://schemas.microsoft.com/office/drawing/2014/main" id="{77BFE504-436C-4C65-EE78-975B0D651E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9633FBB-DDC2-0E94-CDD8-8187A26E296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50447" y="388389"/>
            <a:ext cx="7024623" cy="1229453"/>
          </a:xfrm>
        </p:spPr>
        <p:txBody>
          <a:bodyPr>
            <a:normAutofit fontScale="90000"/>
          </a:bodyPr>
          <a:lstStyle/>
          <a:p>
            <a:r>
              <a:rPr lang="pt-BR" sz="40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SEGURANÇA SEMÂNTICA:</a:t>
            </a:r>
            <a:br>
              <a:rPr lang="pt-BR" sz="4000" b="0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</a:br>
            <a:r>
              <a:rPr lang="pt-BR" sz="3600" b="0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simplificar sem perder o essencial</a:t>
            </a:r>
            <a:endParaRPr lang="pt-BR" sz="4000" b="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0D5C901B-C6DD-476A-314F-7A22B3F9F1AE}"/>
              </a:ext>
            </a:extLst>
          </p:cNvPr>
          <p:cNvSpPr txBox="1"/>
          <p:nvPr/>
        </p:nvSpPr>
        <p:spPr>
          <a:xfrm>
            <a:off x="7977466" y="1453896"/>
            <a:ext cx="3971365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• No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nível</a:t>
            </a:r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leve</a:t>
            </a:r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, placeholders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preservam</a:t>
            </a:r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itens</a:t>
            </a:r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frágeis</a:t>
            </a:r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antes da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chamada</a:t>
            </a:r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ao</a:t>
            </a:r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LLM.</a:t>
            </a:r>
          </a:p>
          <a:p>
            <a:pPr algn="r"/>
            <a:endParaRPr lang="en-US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  <a:p>
            <a:pPr algn="r"/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• No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médio</a:t>
            </a:r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/forte, o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validador</a:t>
            </a:r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preserva</a:t>
            </a:r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o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essencial</a:t>
            </a:r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e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permite</a:t>
            </a:r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omitir</a:t>
            </a:r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qualificações</a:t>
            </a:r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não</a:t>
            </a:r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essenciais</a:t>
            </a:r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como</a:t>
            </a:r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CPF/RG/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endereço</a:t>
            </a:r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quando</a:t>
            </a:r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não</a:t>
            </a:r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afetam</a:t>
            </a:r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o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sentido</a:t>
            </a:r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.</a:t>
            </a:r>
          </a:p>
          <a:p>
            <a:pPr algn="r"/>
            <a:endParaRPr lang="en-US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  <a:p>
            <a:pPr algn="r"/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• Se o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resultado</a:t>
            </a:r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falha</a:t>
            </a:r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na</a:t>
            </a:r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validação</a:t>
            </a:r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, o fallback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determinístico</a:t>
            </a:r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entra</a:t>
            </a:r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em</a:t>
            </a:r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ação</a:t>
            </a:r>
            <a:r>
              <a:rPr lang="en-US" sz="1400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.</a:t>
            </a:r>
            <a:endParaRPr lang="en-US" sz="1400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9CB1CEB-ECB2-74C4-E9B4-89E65DC86534}"/>
              </a:ext>
            </a:extLst>
          </p:cNvPr>
          <p:cNvSpPr txBox="1"/>
          <p:nvPr/>
        </p:nvSpPr>
        <p:spPr>
          <a:xfrm>
            <a:off x="243169" y="3300556"/>
            <a:ext cx="348614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dirty="0">
                <a:solidFill>
                  <a:srgbClr val="21049A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O sistema protege ou valida itens que alteram o significado jurídico.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6484F852-56AF-FC02-757F-8BF6374799E3}"/>
              </a:ext>
            </a:extLst>
          </p:cNvPr>
          <p:cNvSpPr/>
          <p:nvPr/>
        </p:nvSpPr>
        <p:spPr>
          <a:xfrm>
            <a:off x="99621" y="4934644"/>
            <a:ext cx="2430890" cy="310896"/>
          </a:xfrm>
          <a:prstGeom prst="roundRect">
            <a:avLst>
              <a:gd name="adj" fmla="val 23529"/>
            </a:avLst>
          </a:prstGeom>
          <a:solidFill>
            <a:srgbClr val="E94D1C">
              <a:alpha val="92000"/>
            </a:srgbClr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/>
            <a:r>
              <a:rPr lang="pt-BR" b="1" spc="3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datas</a:t>
            </a:r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8227989C-7B56-AA4B-A5DB-C2B0063425E8}"/>
              </a:ext>
            </a:extLst>
          </p:cNvPr>
          <p:cNvSpPr/>
          <p:nvPr/>
        </p:nvSpPr>
        <p:spPr>
          <a:xfrm>
            <a:off x="2680109" y="4944796"/>
            <a:ext cx="2348754" cy="310896"/>
          </a:xfrm>
          <a:prstGeom prst="roundRect">
            <a:avLst>
              <a:gd name="adj" fmla="val 23529"/>
            </a:avLst>
          </a:prstGeom>
          <a:solidFill>
            <a:srgbClr val="21049A">
              <a:alpha val="92000"/>
            </a:srgbClr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/>
            <a:r>
              <a:rPr lang="pt-BR" b="1" spc="3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    valores</a:t>
            </a:r>
            <a:r>
              <a:rPr lang="pt-BR" dirty="0"/>
              <a:t>	</a:t>
            </a:r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5CD1A6BC-1990-D84A-BB5D-BA978D3274B5}"/>
              </a:ext>
            </a:extLst>
          </p:cNvPr>
          <p:cNvSpPr/>
          <p:nvPr/>
        </p:nvSpPr>
        <p:spPr>
          <a:xfrm>
            <a:off x="5178461" y="4934644"/>
            <a:ext cx="2374861" cy="310896"/>
          </a:xfrm>
          <a:prstGeom prst="roundRect">
            <a:avLst>
              <a:gd name="adj" fmla="val 23529"/>
            </a:avLst>
          </a:prstGeom>
          <a:solidFill>
            <a:srgbClr val="E94D1C">
              <a:alpha val="92000"/>
            </a:srgbClr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/>
            <a:r>
              <a:rPr lang="pt-BR" b="1" spc="3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percentuais</a:t>
            </a:r>
          </a:p>
        </p:txBody>
      </p:sp>
      <p:sp>
        <p:nvSpPr>
          <p:cNvPr id="14" name="Shape 5">
            <a:extLst>
              <a:ext uri="{FF2B5EF4-FFF2-40B4-BE49-F238E27FC236}">
                <a16:creationId xmlns:a16="http://schemas.microsoft.com/office/drawing/2014/main" id="{0A79C5B1-6479-C948-8518-361348D4FAAC}"/>
              </a:ext>
            </a:extLst>
          </p:cNvPr>
          <p:cNvSpPr/>
          <p:nvPr/>
        </p:nvSpPr>
        <p:spPr>
          <a:xfrm>
            <a:off x="127636" y="5575731"/>
            <a:ext cx="2374861" cy="310896"/>
          </a:xfrm>
          <a:prstGeom prst="roundRect">
            <a:avLst>
              <a:gd name="adj" fmla="val 23529"/>
            </a:avLst>
          </a:prstGeom>
          <a:solidFill>
            <a:srgbClr val="21049A">
              <a:alpha val="92000"/>
            </a:srgbClr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/>
            <a:r>
              <a:rPr lang="pt-BR" sz="1600" b="1" spc="3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citações</a:t>
            </a:r>
            <a:r>
              <a:rPr lang="pt-BR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pt-BR" sz="1600" b="1" spc="3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legais</a:t>
            </a:r>
          </a:p>
        </p:txBody>
      </p:sp>
      <p:sp>
        <p:nvSpPr>
          <p:cNvPr id="15" name="Shape 5">
            <a:extLst>
              <a:ext uri="{FF2B5EF4-FFF2-40B4-BE49-F238E27FC236}">
                <a16:creationId xmlns:a16="http://schemas.microsoft.com/office/drawing/2014/main" id="{13785166-1F88-30A5-3B38-6D097C34C25F}"/>
              </a:ext>
            </a:extLst>
          </p:cNvPr>
          <p:cNvSpPr/>
          <p:nvPr/>
        </p:nvSpPr>
        <p:spPr>
          <a:xfrm>
            <a:off x="2653048" y="5600171"/>
            <a:ext cx="2374862" cy="310896"/>
          </a:xfrm>
          <a:prstGeom prst="roundRect">
            <a:avLst>
              <a:gd name="adj" fmla="val 23529"/>
            </a:avLst>
          </a:prstGeom>
          <a:solidFill>
            <a:srgbClr val="E94D1C">
              <a:alpha val="92000"/>
            </a:srgbClr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  <p:txBody>
          <a:bodyPr/>
          <a:lstStyle/>
          <a:p>
            <a:pPr algn="ctr"/>
            <a:r>
              <a:rPr lang="pt-BR" sz="1200" b="1" spc="3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processos</a:t>
            </a:r>
            <a:r>
              <a:rPr lang="pt-BR" sz="1200" b="1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/</a:t>
            </a:r>
            <a:r>
              <a:rPr lang="pt-BR" sz="12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pt-BR" sz="1200" b="1" spc="3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registros</a:t>
            </a:r>
          </a:p>
        </p:txBody>
      </p:sp>
      <p:sp>
        <p:nvSpPr>
          <p:cNvPr id="16" name="Shape 5">
            <a:extLst>
              <a:ext uri="{FF2B5EF4-FFF2-40B4-BE49-F238E27FC236}">
                <a16:creationId xmlns:a16="http://schemas.microsoft.com/office/drawing/2014/main" id="{E53D3249-71D0-1FC7-9ECF-8C3A92006F76}"/>
              </a:ext>
            </a:extLst>
          </p:cNvPr>
          <p:cNvSpPr/>
          <p:nvPr/>
        </p:nvSpPr>
        <p:spPr>
          <a:xfrm>
            <a:off x="5178461" y="5575731"/>
            <a:ext cx="2374861" cy="310896"/>
          </a:xfrm>
          <a:prstGeom prst="roundRect">
            <a:avLst>
              <a:gd name="adj" fmla="val 23529"/>
            </a:avLst>
          </a:prstGeom>
          <a:solidFill>
            <a:srgbClr val="21049A">
              <a:alpha val="92000"/>
            </a:srgbClr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/>
            <a:r>
              <a:rPr lang="pt-BR" b="1" spc="3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negações</a:t>
            </a:r>
            <a:r>
              <a:rPr lang="pt-B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562351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B47E7B16-8FC4-97CF-EF88-ABEB42CFF39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50694" y="173037"/>
            <a:ext cx="3927494" cy="1118045"/>
          </a:xfrm>
        </p:spPr>
        <p:txBody>
          <a:bodyPr/>
          <a:lstStyle/>
          <a:p>
            <a:r>
              <a:rPr lang="pt-BR" dirty="0"/>
              <a:t>GLOSSÁRIO 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9CFD92BC-F4D9-3B7A-58FE-F0453CEBECF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18960" y="1545388"/>
            <a:ext cx="3927494" cy="941129"/>
          </a:xfrm>
        </p:spPr>
        <p:txBody>
          <a:bodyPr/>
          <a:lstStyle/>
          <a:p>
            <a:pPr algn="just"/>
            <a:r>
              <a:rPr lang="pt-BR" sz="2000" dirty="0">
                <a:solidFill>
                  <a:srgbClr val="E94D1C"/>
                </a:solidFill>
              </a:rPr>
              <a:t>Na primeira ocorrência, termos jurídicos podem receber uma explicação curta em português.</a:t>
            </a:r>
          </a:p>
          <a:p>
            <a:pPr algn="just"/>
            <a:endParaRPr lang="pt-BR" sz="2000" dirty="0">
              <a:solidFill>
                <a:srgbClr val="E94D1C"/>
              </a:solidFill>
            </a:endParaRPr>
          </a:p>
          <a:p>
            <a:endParaRPr lang="pt-BR" sz="1800" dirty="0">
              <a:solidFill>
                <a:srgbClr val="E94D1C"/>
              </a:solidFill>
            </a:endParaRPr>
          </a:p>
        </p:txBody>
      </p:sp>
      <p:sp>
        <p:nvSpPr>
          <p:cNvPr id="9" name="Espaço Reservado para Conteúdo 8">
            <a:extLst>
              <a:ext uri="{FF2B5EF4-FFF2-40B4-BE49-F238E27FC236}">
                <a16:creationId xmlns:a16="http://schemas.microsoft.com/office/drawing/2014/main" id="{60C64E63-80DC-5291-E593-2AAA0F85C98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18960" y="2740823"/>
            <a:ext cx="4459228" cy="3077271"/>
          </a:xfrm>
        </p:spPr>
        <p:txBody>
          <a:bodyPr/>
          <a:lstStyle/>
          <a:p>
            <a:r>
              <a:rPr lang="pt-BR" sz="2000" b="1" dirty="0">
                <a:solidFill>
                  <a:srgbClr val="E94D1C"/>
                </a:solidFill>
              </a:rPr>
              <a:t>Espólio: </a:t>
            </a:r>
            <a:r>
              <a:rPr lang="pt-BR" sz="2000" dirty="0">
                <a:solidFill>
                  <a:srgbClr val="21049A"/>
                </a:solidFill>
              </a:rPr>
              <a:t>conjunto de bens e dívidas deixados pelo falecido.</a:t>
            </a:r>
          </a:p>
          <a:p>
            <a:r>
              <a:rPr lang="pt-BR" sz="2000" b="1" dirty="0">
                <a:solidFill>
                  <a:srgbClr val="E94D1C"/>
                </a:solidFill>
              </a:rPr>
              <a:t>Transitado em julgado: </a:t>
            </a:r>
            <a:r>
              <a:rPr lang="pt-BR" sz="2000" dirty="0">
                <a:solidFill>
                  <a:srgbClr val="21049A"/>
                </a:solidFill>
              </a:rPr>
              <a:t>decisão definitiva, sem recurso.</a:t>
            </a:r>
          </a:p>
          <a:p>
            <a:r>
              <a:rPr lang="pt-BR" sz="2000" b="1" dirty="0">
                <a:solidFill>
                  <a:srgbClr val="E94D1C"/>
                </a:solidFill>
              </a:rPr>
              <a:t>Valor da causa: </a:t>
            </a:r>
            <a:r>
              <a:rPr lang="en-US" sz="2000" dirty="0">
                <a:solidFill>
                  <a:srgbClr val="21049A"/>
                </a:solidFill>
              </a:rPr>
              <a:t>valor </a:t>
            </a:r>
            <a:r>
              <a:rPr lang="en-US" sz="2000" dirty="0" err="1">
                <a:solidFill>
                  <a:srgbClr val="21049A"/>
                </a:solidFill>
              </a:rPr>
              <a:t>atribuído</a:t>
            </a:r>
            <a:r>
              <a:rPr lang="en-US" sz="2000" dirty="0">
                <a:solidFill>
                  <a:srgbClr val="21049A"/>
                </a:solidFill>
              </a:rPr>
              <a:t> </a:t>
            </a:r>
            <a:r>
              <a:rPr lang="en-US" sz="2000" dirty="0" err="1">
                <a:solidFill>
                  <a:srgbClr val="21049A"/>
                </a:solidFill>
              </a:rPr>
              <a:t>ao</a:t>
            </a:r>
            <a:r>
              <a:rPr lang="en-US" sz="2000" dirty="0">
                <a:solidFill>
                  <a:srgbClr val="21049A"/>
                </a:solidFill>
              </a:rPr>
              <a:t> </a:t>
            </a:r>
            <a:r>
              <a:rPr lang="en-US" sz="2000" dirty="0" err="1">
                <a:solidFill>
                  <a:srgbClr val="21049A"/>
                </a:solidFill>
              </a:rPr>
              <a:t>processo</a:t>
            </a:r>
            <a:r>
              <a:rPr lang="en-US" sz="2000" dirty="0">
                <a:solidFill>
                  <a:srgbClr val="21049A"/>
                </a:solidFill>
              </a:rPr>
              <a:t> para fins </a:t>
            </a:r>
            <a:r>
              <a:rPr lang="en-US" sz="2000" dirty="0" err="1">
                <a:solidFill>
                  <a:srgbClr val="21049A"/>
                </a:solidFill>
              </a:rPr>
              <a:t>processuais</a:t>
            </a:r>
            <a:r>
              <a:rPr lang="en-US" sz="2000" dirty="0">
                <a:solidFill>
                  <a:srgbClr val="21049A"/>
                </a:solidFill>
              </a:rPr>
              <a:t>.</a:t>
            </a:r>
          </a:p>
          <a:p>
            <a:r>
              <a:rPr lang="pt-BR" sz="2000" b="1" dirty="0">
                <a:solidFill>
                  <a:srgbClr val="E94D1C"/>
                </a:solidFill>
              </a:rPr>
              <a:t>Ônus da prova:</a:t>
            </a:r>
            <a:r>
              <a:rPr lang="pt-BR" sz="2000" dirty="0"/>
              <a:t> </a:t>
            </a:r>
            <a:r>
              <a:rPr lang="pt-BR" sz="2000" dirty="0">
                <a:solidFill>
                  <a:srgbClr val="21049A"/>
                </a:solidFill>
              </a:rPr>
              <a:t>responsabilidade de provar um fato.</a:t>
            </a:r>
          </a:p>
          <a:p>
            <a:pPr marL="0" indent="0">
              <a:buNone/>
            </a:pPr>
            <a:endParaRPr lang="pt-BR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F20BA02-99AA-F4F5-FEB7-6144A12B8B42}"/>
              </a:ext>
            </a:extLst>
          </p:cNvPr>
          <p:cNvSpPr txBox="1"/>
          <p:nvPr/>
        </p:nvSpPr>
        <p:spPr>
          <a:xfrm>
            <a:off x="6386639" y="2993777"/>
            <a:ext cx="445922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b="1" dirty="0">
                <a:solidFill>
                  <a:srgbClr val="E94D1C"/>
                </a:solidFill>
                <a:latin typeface="Roboto Bold" panose="02000000000000000000"/>
              </a:rPr>
              <a:t>Não resolve todo vocabulário jurídico, mas reduz a barreira no primeiro contato com o documento.</a:t>
            </a:r>
          </a:p>
        </p:txBody>
      </p:sp>
    </p:spTree>
    <p:extLst>
      <p:ext uri="{BB962C8B-B14F-4D97-AF65-F5344CB8AC3E}">
        <p14:creationId xmlns:p14="http://schemas.microsoft.com/office/powerpoint/2010/main" val="1153331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BC668F1F-8EE6-FB80-7991-E4DFD5EA8E2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70893" y="-94426"/>
            <a:ext cx="4264538" cy="766779"/>
          </a:xfrm>
        </p:spPr>
        <p:txBody>
          <a:bodyPr/>
          <a:lstStyle/>
          <a:p>
            <a:r>
              <a:rPr lang="pt-BR" b="1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INTERFACE DA EXTENSÃO </a:t>
            </a:r>
          </a:p>
        </p:txBody>
      </p:sp>
      <p:sp>
        <p:nvSpPr>
          <p:cNvPr id="4" name="Espaço Reservado para Conteúdo 1">
            <a:extLst>
              <a:ext uri="{FF2B5EF4-FFF2-40B4-BE49-F238E27FC236}">
                <a16:creationId xmlns:a16="http://schemas.microsoft.com/office/drawing/2014/main" id="{6EE9153B-9AC1-A03C-16C3-5B7AFA787321}"/>
              </a:ext>
            </a:extLst>
          </p:cNvPr>
          <p:cNvSpPr txBox="1">
            <a:spLocks/>
          </p:cNvSpPr>
          <p:nvPr/>
        </p:nvSpPr>
        <p:spPr>
          <a:xfrm>
            <a:off x="63641" y="1506072"/>
            <a:ext cx="3339893" cy="564776"/>
          </a:xfrm>
          <a:prstGeom prst="rect">
            <a:avLst/>
          </a:prstGeom>
        </p:spPr>
        <p:txBody>
          <a:bodyPr anchor="b"/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Roboto Light" panose="0200000000000000000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800" b="1" spc="300" dirty="0"/>
              <a:t>Pop-up de escolha do nível 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6B3D3DA7-6C4A-97F2-514D-DBBCBB1097E3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2"/>
          <a:stretch>
            <a:fillRect/>
          </a:stretch>
        </p:blipFill>
        <p:spPr>
          <a:xfrm>
            <a:off x="112163" y="2248528"/>
            <a:ext cx="3242850" cy="2278648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C17F48CC-A9EB-38B0-F7EC-14A6B13074E0}"/>
              </a:ext>
            </a:extLst>
          </p:cNvPr>
          <p:cNvSpPr txBox="1"/>
          <p:nvPr/>
        </p:nvSpPr>
        <p:spPr>
          <a:xfrm>
            <a:off x="4477392" y="6185647"/>
            <a:ext cx="6612319" cy="646986"/>
          </a:xfrm>
          <a:prstGeom prst="roundRect">
            <a:avLst/>
          </a:prstGeom>
          <a:solidFill>
            <a:srgbClr val="E94D1C"/>
          </a:solidFill>
        </p:spPr>
        <p:txBody>
          <a:bodyPr wrap="square">
            <a:spAutoFit/>
          </a:bodyPr>
          <a:lstStyle/>
          <a:p>
            <a:pPr algn="ctr"/>
            <a:r>
              <a:rPr lang="pt-BR" sz="16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Resultado em uso: PDF original à esquerda e texto simplificado na </a:t>
            </a:r>
            <a:r>
              <a:rPr lang="pt-BR" sz="1600" dirty="0" err="1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sidebar</a:t>
            </a:r>
            <a:r>
              <a:rPr lang="pt-BR" sz="16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 à direita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199EF7D-BC25-3FAD-9144-2D65B72D7C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5998" y="672353"/>
            <a:ext cx="8675109" cy="5513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3325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FEAD9ACB-8547-E2C1-747A-EDAC59946A5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66340" y="1940872"/>
            <a:ext cx="2057594" cy="1118045"/>
          </a:xfrm>
        </p:spPr>
        <p:txBody>
          <a:bodyPr/>
          <a:lstStyle/>
          <a:p>
            <a:r>
              <a:rPr lang="pt-BR" sz="2400" dirty="0"/>
              <a:t>VANTAGENS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612BCC4-C634-63B6-1F51-5A2376DC2BA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0" y="2876776"/>
            <a:ext cx="2622914" cy="1528407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• Menor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exposição</a:t>
            </a:r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de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documentos</a:t>
            </a:r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sensíveis</a:t>
            </a:r>
            <a:endParaRPr lang="en-US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  <a:p>
            <a:pPr algn="ctr"/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•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Independência</a:t>
            </a:r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de API externa</a:t>
            </a:r>
            <a:endParaRPr lang="en-US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  <a:p>
            <a:pPr algn="ctr"/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• Controle do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fluxo</a:t>
            </a:r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e dos logs</a:t>
            </a:r>
            <a:endParaRPr lang="en-US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  <a:p>
            <a:endParaRPr lang="pt-BR" dirty="0"/>
          </a:p>
        </p:txBody>
      </p:sp>
      <p:sp>
        <p:nvSpPr>
          <p:cNvPr id="5" name="Espaço Reservado para Conteúdo 1">
            <a:extLst>
              <a:ext uri="{FF2B5EF4-FFF2-40B4-BE49-F238E27FC236}">
                <a16:creationId xmlns:a16="http://schemas.microsoft.com/office/drawing/2014/main" id="{8A55AB12-66B3-C451-4E3B-64A9263C6907}"/>
              </a:ext>
            </a:extLst>
          </p:cNvPr>
          <p:cNvSpPr txBox="1">
            <a:spLocks/>
          </p:cNvSpPr>
          <p:nvPr/>
        </p:nvSpPr>
        <p:spPr>
          <a:xfrm>
            <a:off x="3913906" y="1940872"/>
            <a:ext cx="2057594" cy="1118045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4800" kern="1200">
                <a:solidFill>
                  <a:srgbClr val="21049A"/>
                </a:solidFill>
                <a:latin typeface="Roboto Black" panose="0200000000000000000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400" dirty="0"/>
              <a:t>CUSTOS</a:t>
            </a:r>
          </a:p>
        </p:txBody>
      </p:sp>
      <p:sp>
        <p:nvSpPr>
          <p:cNvPr id="6" name="Espaço Reservado para Conteúdo 3">
            <a:extLst>
              <a:ext uri="{FF2B5EF4-FFF2-40B4-BE49-F238E27FC236}">
                <a16:creationId xmlns:a16="http://schemas.microsoft.com/office/drawing/2014/main" id="{628F0D32-A27D-6CD7-EA66-8C22C3EEEF5D}"/>
              </a:ext>
            </a:extLst>
          </p:cNvPr>
          <p:cNvSpPr txBox="1">
            <a:spLocks/>
          </p:cNvSpPr>
          <p:nvPr/>
        </p:nvSpPr>
        <p:spPr>
          <a:xfrm>
            <a:off x="3154061" y="2831612"/>
            <a:ext cx="3150973" cy="119477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Roboto Light" panose="0200000000000000000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• </a:t>
            </a:r>
            <a:r>
              <a:rPr lang="pt-BR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Performance depende do hardware</a:t>
            </a:r>
          </a:p>
          <a:p>
            <a:pPr algn="ctr"/>
            <a:r>
              <a:rPr lang="pt-BR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• Modelo local é menor</a:t>
            </a:r>
          </a:p>
          <a:p>
            <a:pPr algn="ctr"/>
            <a:r>
              <a:rPr lang="pt-BR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• </a:t>
            </a:r>
            <a:r>
              <a:rPr lang="pt-BR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PDFs</a:t>
            </a:r>
            <a:r>
              <a:rPr lang="pt-BR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grandes podem demorar</a:t>
            </a:r>
          </a:p>
          <a:p>
            <a:pPr algn="ctr"/>
            <a:r>
              <a:rPr lang="pt-BR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• Sem OCR robusto para </a:t>
            </a:r>
            <a:r>
              <a:rPr lang="pt-BR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PDFs</a:t>
            </a:r>
            <a:r>
              <a:rPr lang="pt-BR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escaneados</a:t>
            </a:r>
          </a:p>
          <a:p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8D5DAAA-5EE3-BFE6-AEF2-C5A68BE73817}"/>
              </a:ext>
            </a:extLst>
          </p:cNvPr>
          <p:cNvSpPr txBox="1"/>
          <p:nvPr/>
        </p:nvSpPr>
        <p:spPr>
          <a:xfrm>
            <a:off x="92386" y="5442208"/>
            <a:ext cx="6642046" cy="646986"/>
          </a:xfrm>
          <a:prstGeom prst="roundRect">
            <a:avLst/>
          </a:prstGeom>
          <a:solidFill>
            <a:srgbClr val="E94D1C"/>
          </a:solidFill>
        </p:spPr>
        <p:txBody>
          <a:bodyPr wrap="square">
            <a:spAutoFit/>
          </a:bodyPr>
          <a:lstStyle/>
          <a:p>
            <a:pPr algn="ctr"/>
            <a:r>
              <a:rPr lang="pt-BR" sz="16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A decisão favorece um protótipo factível e reproduzível, mas não elimina a necessidade de melhorias futuras.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8327CFB9-EBE6-F90C-A361-E9ECC4A46EF3}"/>
              </a:ext>
            </a:extLst>
          </p:cNvPr>
          <p:cNvCxnSpPr/>
          <p:nvPr/>
        </p:nvCxnSpPr>
        <p:spPr>
          <a:xfrm>
            <a:off x="2971799" y="2172875"/>
            <a:ext cx="0" cy="1853513"/>
          </a:xfrm>
          <a:prstGeom prst="line">
            <a:avLst/>
          </a:prstGeom>
          <a:ln>
            <a:solidFill>
              <a:srgbClr val="E94D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spaço Reservado para Conteúdo 1">
            <a:extLst>
              <a:ext uri="{FF2B5EF4-FFF2-40B4-BE49-F238E27FC236}">
                <a16:creationId xmlns:a16="http://schemas.microsoft.com/office/drawing/2014/main" id="{C8FBF75F-940F-8D7C-99D0-AD90EC347A75}"/>
              </a:ext>
            </a:extLst>
          </p:cNvPr>
          <p:cNvSpPr txBox="1">
            <a:spLocks/>
          </p:cNvSpPr>
          <p:nvPr/>
        </p:nvSpPr>
        <p:spPr>
          <a:xfrm>
            <a:off x="490645" y="649013"/>
            <a:ext cx="4264538" cy="76677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b="1" dirty="0">
                <a:solidFill>
                  <a:srgbClr val="21049A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Por que local-</a:t>
            </a:r>
            <a:r>
              <a:rPr lang="pt-BR" b="1" dirty="0" err="1">
                <a:solidFill>
                  <a:srgbClr val="21049A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first</a:t>
            </a:r>
            <a:r>
              <a:rPr lang="pt-BR" b="1" dirty="0">
                <a:solidFill>
                  <a:srgbClr val="21049A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40427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6A4AF-F219-00F0-DC3C-EFB707BA4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Forma, Retângulo&#10;&#10;O conteúdo gerado por IA pode estar incorreto.">
            <a:extLst>
              <a:ext uri="{FF2B5EF4-FFF2-40B4-BE49-F238E27FC236}">
                <a16:creationId xmlns:a16="http://schemas.microsoft.com/office/drawing/2014/main" id="{F78E2C83-D6A9-3BFC-8EDA-0CD7DF4E9B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8AD9F44B-1E04-5C83-2374-7BFB1496442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573866" y="1269772"/>
            <a:ext cx="7065434" cy="998009"/>
          </a:xfrm>
        </p:spPr>
        <p:txBody>
          <a:bodyPr>
            <a:normAutofit/>
          </a:bodyPr>
          <a:lstStyle/>
          <a:p>
            <a:pPr algn="ctr">
              <a:lnSpc>
                <a:spcPct val="80000"/>
              </a:lnSpc>
            </a:pPr>
            <a:r>
              <a:rPr lang="pt-BR" sz="4000" dirty="0">
                <a:solidFill>
                  <a:srgbClr val="21049A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Metodologia da avaliação 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DE5C336-ED14-C28F-126F-334E3575E876}"/>
              </a:ext>
            </a:extLst>
          </p:cNvPr>
          <p:cNvSpPr txBox="1"/>
          <p:nvPr/>
        </p:nvSpPr>
        <p:spPr>
          <a:xfrm>
            <a:off x="2573866" y="2821615"/>
            <a:ext cx="306705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pt-BR" sz="16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Pré-teste formativo</a:t>
            </a:r>
          </a:p>
          <a:p>
            <a:pPr marL="0" indent="0" algn="ctr">
              <a:buNone/>
            </a:pPr>
            <a:endParaRPr lang="pt-BR" sz="1600" b="1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  <a:p>
            <a:pPr marL="0" indent="0" algn="ctr">
              <a:buNone/>
            </a:pPr>
            <a:r>
              <a:rPr lang="pt-BR" sz="16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3 participantes da área jurídica</a:t>
            </a:r>
          </a:p>
          <a:p>
            <a:pPr marL="0" indent="0" algn="ctr">
              <a:buNone/>
            </a:pPr>
            <a:r>
              <a:rPr lang="pt-BR" sz="16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3 documentos públicos anonimizados</a:t>
            </a:r>
          </a:p>
          <a:p>
            <a:pPr marL="0" indent="0" algn="ctr">
              <a:buNone/>
            </a:pPr>
            <a:endParaRPr lang="pt-BR" sz="1600" b="1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  <a:p>
            <a:pPr marL="0" indent="0" algn="ctr">
              <a:buNone/>
            </a:pPr>
            <a:r>
              <a:rPr lang="pt-BR" sz="16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Resultado: adoção do nível médio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7DA23E36-9C8E-55E1-7DCC-BE9CA5D22F22}"/>
              </a:ext>
            </a:extLst>
          </p:cNvPr>
          <p:cNvSpPr txBox="1"/>
          <p:nvPr/>
        </p:nvSpPr>
        <p:spPr>
          <a:xfrm>
            <a:off x="6807574" y="2714038"/>
            <a:ext cx="268605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 err="1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Estudo</a:t>
            </a:r>
            <a:r>
              <a:rPr lang="en-US" sz="16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 principal</a:t>
            </a:r>
          </a:p>
          <a:p>
            <a:pPr algn="ctr"/>
            <a:endParaRPr lang="en-US" sz="1600" b="1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  <a:p>
            <a:pPr algn="ctr"/>
            <a:r>
              <a:rPr lang="en-US" sz="16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30 </a:t>
            </a:r>
            <a:r>
              <a:rPr lang="en-US" sz="1600" b="1" dirty="0" err="1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participantes</a:t>
            </a:r>
            <a:endParaRPr lang="en-US" sz="1600" b="1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  <a:p>
            <a:pPr algn="ctr"/>
            <a:r>
              <a:rPr lang="en-US" sz="16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1 </a:t>
            </a:r>
            <a:r>
              <a:rPr lang="en-US" sz="1600" b="1" dirty="0" err="1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documento</a:t>
            </a:r>
            <a:r>
              <a:rPr lang="en-US" sz="16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anonimizado</a:t>
            </a:r>
            <a:r>
              <a:rPr lang="en-US" sz="16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por</a:t>
            </a:r>
            <a:r>
              <a:rPr lang="en-US" sz="16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participante</a:t>
            </a:r>
            <a:endParaRPr lang="en-US" sz="1600" b="1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  <a:p>
            <a:pPr algn="ctr"/>
            <a:r>
              <a:rPr lang="en-US" sz="1600" b="1" dirty="0" err="1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Comparação</a:t>
            </a:r>
            <a:r>
              <a:rPr lang="en-US" sz="16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 entre original e </a:t>
            </a:r>
            <a:r>
              <a:rPr lang="en-US" sz="1600" b="1" dirty="0" err="1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versão</a:t>
            </a:r>
            <a:r>
              <a:rPr lang="en-US" sz="16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média</a:t>
            </a:r>
            <a:endParaRPr lang="en-US" sz="1600" b="1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  <a:p>
            <a:pPr algn="ctr"/>
            <a:endParaRPr lang="en-US" sz="1600" b="1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  <a:p>
            <a:pPr algn="ctr"/>
            <a:r>
              <a:rPr lang="en-US" sz="1600" b="1" dirty="0" err="1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Questionário</a:t>
            </a:r>
            <a:r>
              <a:rPr lang="en-US" sz="16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 Likert + </a:t>
            </a:r>
            <a:r>
              <a:rPr lang="en-US" sz="1600" b="1" dirty="0" err="1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pergunta</a:t>
            </a:r>
            <a:r>
              <a:rPr lang="en-US" sz="16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aberta</a:t>
            </a:r>
            <a:endParaRPr lang="en-US" sz="1600" b="1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C6C33CD-A00D-CBC4-C0EA-B2E4EB298129}"/>
              </a:ext>
            </a:extLst>
          </p:cNvPr>
          <p:cNvSpPr txBox="1"/>
          <p:nvPr/>
        </p:nvSpPr>
        <p:spPr>
          <a:xfrm>
            <a:off x="2178423" y="5822417"/>
            <a:ext cx="8041341" cy="646986"/>
          </a:xfrm>
          <a:prstGeom prst="roundRect">
            <a:avLst/>
          </a:prstGeom>
          <a:solidFill>
            <a:srgbClr val="E94D1C"/>
          </a:solidFill>
          <a:ln>
            <a:solidFill>
              <a:srgbClr val="E94D1C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pt-BR" sz="1600" dirty="0">
                <a:solidFill>
                  <a:schemeClr val="bg1"/>
                </a:solidFill>
                <a:latin typeface="Roboto Bold" panose="02000000000000000000"/>
                <a:ea typeface="Roboto" panose="02000000000000000000" pitchFamily="2" charset="0"/>
                <a:cs typeface="Roboto" panose="02000000000000000000" pitchFamily="2" charset="0"/>
              </a:rPr>
              <a:t>A avaliação priorizou validade ecológica: documentos reais, uso realista e percepção humana.</a:t>
            </a:r>
          </a:p>
        </p:txBody>
      </p:sp>
    </p:spTree>
    <p:extLst>
      <p:ext uri="{BB962C8B-B14F-4D97-AF65-F5344CB8AC3E}">
        <p14:creationId xmlns:p14="http://schemas.microsoft.com/office/powerpoint/2010/main" val="16109471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3B2920FB-2A01-7F22-52D4-3CBDB2269B3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003180" y="455791"/>
            <a:ext cx="5312947" cy="604942"/>
          </a:xfrm>
        </p:spPr>
        <p:txBody>
          <a:bodyPr/>
          <a:lstStyle/>
          <a:p>
            <a:r>
              <a:rPr lang="pt-BR" sz="3600" dirty="0">
                <a:solidFill>
                  <a:srgbClr val="21049A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Perfil dos participantes</a:t>
            </a:r>
          </a:p>
        </p:txBody>
      </p:sp>
      <p:sp>
        <p:nvSpPr>
          <p:cNvPr id="11" name="Espaço Reservado para Conteúdo 10">
            <a:extLst>
              <a:ext uri="{FF2B5EF4-FFF2-40B4-BE49-F238E27FC236}">
                <a16:creationId xmlns:a16="http://schemas.microsoft.com/office/drawing/2014/main" id="{064B6F85-7E10-CD6C-2BE5-2724FED30C2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756214" y="4528195"/>
            <a:ext cx="4333127" cy="1282519"/>
          </a:xfrm>
        </p:spPr>
        <p:txBody>
          <a:bodyPr/>
          <a:lstStyle/>
          <a:p>
            <a:pPr algn="just"/>
            <a:r>
              <a:rPr lang="en-US" b="1" dirty="0">
                <a:solidFill>
                  <a:srgbClr val="172033"/>
                </a:solidFill>
              </a:rPr>
              <a:t>• 30 </a:t>
            </a:r>
            <a:r>
              <a:rPr lang="en-US" b="1" dirty="0" err="1">
                <a:solidFill>
                  <a:srgbClr val="172033"/>
                </a:solidFill>
              </a:rPr>
              <a:t>participantes</a:t>
            </a:r>
            <a:r>
              <a:rPr lang="en-US" b="1" dirty="0">
                <a:solidFill>
                  <a:srgbClr val="172033"/>
                </a:solidFill>
              </a:rPr>
              <a:t> no </a:t>
            </a:r>
            <a:r>
              <a:rPr lang="en-US" b="1" dirty="0" err="1">
                <a:solidFill>
                  <a:srgbClr val="172033"/>
                </a:solidFill>
              </a:rPr>
              <a:t>estudo</a:t>
            </a:r>
            <a:r>
              <a:rPr lang="en-US" b="1" dirty="0">
                <a:solidFill>
                  <a:srgbClr val="172033"/>
                </a:solidFill>
              </a:rPr>
              <a:t> principal.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>
                <a:solidFill>
                  <a:srgbClr val="172033"/>
                </a:solidFill>
              </a:rPr>
              <a:t>• </a:t>
            </a:r>
            <a:r>
              <a:rPr lang="en-US" b="1" dirty="0" err="1">
                <a:solidFill>
                  <a:srgbClr val="172033"/>
                </a:solidFill>
              </a:rPr>
              <a:t>Equilíbrio</a:t>
            </a:r>
            <a:r>
              <a:rPr lang="en-US" b="1" dirty="0">
                <a:solidFill>
                  <a:srgbClr val="172033"/>
                </a:solidFill>
              </a:rPr>
              <a:t> entre </a:t>
            </a:r>
            <a:r>
              <a:rPr lang="en-US" b="1" dirty="0" err="1">
                <a:solidFill>
                  <a:srgbClr val="172033"/>
                </a:solidFill>
              </a:rPr>
              <a:t>área</a:t>
            </a:r>
            <a:r>
              <a:rPr lang="en-US" b="1" dirty="0">
                <a:solidFill>
                  <a:srgbClr val="172033"/>
                </a:solidFill>
              </a:rPr>
              <a:t> </a:t>
            </a:r>
            <a:r>
              <a:rPr lang="en-US" b="1" dirty="0" err="1">
                <a:solidFill>
                  <a:srgbClr val="172033"/>
                </a:solidFill>
              </a:rPr>
              <a:t>jurídica</a:t>
            </a:r>
            <a:r>
              <a:rPr lang="en-US" b="1" dirty="0">
                <a:solidFill>
                  <a:srgbClr val="172033"/>
                </a:solidFill>
              </a:rPr>
              <a:t> e </a:t>
            </a:r>
            <a:r>
              <a:rPr lang="en-US" b="1" dirty="0" err="1">
                <a:solidFill>
                  <a:srgbClr val="172033"/>
                </a:solidFill>
              </a:rPr>
              <a:t>não</a:t>
            </a:r>
            <a:r>
              <a:rPr lang="en-US" b="1" dirty="0">
                <a:solidFill>
                  <a:srgbClr val="172033"/>
                </a:solidFill>
              </a:rPr>
              <a:t> </a:t>
            </a:r>
            <a:r>
              <a:rPr lang="en-US" b="1" dirty="0" err="1">
                <a:solidFill>
                  <a:srgbClr val="172033"/>
                </a:solidFill>
              </a:rPr>
              <a:t>jurídica</a:t>
            </a:r>
            <a:r>
              <a:rPr lang="en-US" b="1" dirty="0">
                <a:solidFill>
                  <a:srgbClr val="172033"/>
                </a:solidFill>
              </a:rPr>
              <a:t>: 15 / 15.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>
                <a:solidFill>
                  <a:srgbClr val="172033"/>
                </a:solidFill>
              </a:rPr>
              <a:t>• 22 com </a:t>
            </a:r>
            <a:r>
              <a:rPr lang="en-US" b="1" dirty="0" err="1">
                <a:solidFill>
                  <a:srgbClr val="172033"/>
                </a:solidFill>
              </a:rPr>
              <a:t>ensino</a:t>
            </a:r>
            <a:r>
              <a:rPr lang="en-US" b="1" dirty="0">
                <a:solidFill>
                  <a:srgbClr val="172033"/>
                </a:solidFill>
              </a:rPr>
              <a:t> superior e 8 com </a:t>
            </a:r>
            <a:r>
              <a:rPr lang="en-US" b="1" dirty="0" err="1">
                <a:solidFill>
                  <a:srgbClr val="172033"/>
                </a:solidFill>
              </a:rPr>
              <a:t>ensino</a:t>
            </a:r>
            <a:r>
              <a:rPr lang="en-US" b="1" dirty="0">
                <a:solidFill>
                  <a:srgbClr val="172033"/>
                </a:solidFill>
              </a:rPr>
              <a:t> </a:t>
            </a:r>
            <a:r>
              <a:rPr lang="en-US" b="1" dirty="0" err="1">
                <a:solidFill>
                  <a:srgbClr val="172033"/>
                </a:solidFill>
              </a:rPr>
              <a:t>médio</a:t>
            </a:r>
            <a:r>
              <a:rPr lang="en-US" b="1" dirty="0">
                <a:solidFill>
                  <a:srgbClr val="172033"/>
                </a:solidFill>
              </a:rPr>
              <a:t>.</a:t>
            </a:r>
          </a:p>
          <a:p>
            <a:pPr algn="just"/>
            <a:endParaRPr lang="en-US" dirty="0"/>
          </a:p>
        </p:txBody>
      </p:sp>
      <p:pic>
        <p:nvPicPr>
          <p:cNvPr id="14" name="Image 0" descr="/mnt/data/assets/final/participant_page-1.png">
            <a:extLst>
              <a:ext uri="{FF2B5EF4-FFF2-40B4-BE49-F238E27FC236}">
                <a16:creationId xmlns:a16="http://schemas.microsoft.com/office/drawing/2014/main" id="{0A060C34-F766-E3B6-28F4-2F530801FBF7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5205826" y="1181755"/>
            <a:ext cx="6017986" cy="3225418"/>
          </a:xfrm>
          <a:prstGeom prst="rect">
            <a:avLst/>
          </a:prstGeom>
        </p:spPr>
      </p:pic>
      <p:sp>
        <p:nvSpPr>
          <p:cNvPr id="17" name="CaixaDeTexto 16">
            <a:extLst>
              <a:ext uri="{FF2B5EF4-FFF2-40B4-BE49-F238E27FC236}">
                <a16:creationId xmlns:a16="http://schemas.microsoft.com/office/drawing/2014/main" id="{093D9702-2823-570B-477C-6DE5E7F33C91}"/>
              </a:ext>
            </a:extLst>
          </p:cNvPr>
          <p:cNvSpPr txBox="1"/>
          <p:nvPr/>
        </p:nvSpPr>
        <p:spPr>
          <a:xfrm>
            <a:off x="3185481" y="6209765"/>
            <a:ext cx="4735201" cy="578882"/>
          </a:xfrm>
          <a:prstGeom prst="roundRect">
            <a:avLst/>
          </a:prstGeom>
          <a:solidFill>
            <a:srgbClr val="E94D1C"/>
          </a:solidFill>
          <a:ln>
            <a:solidFill>
              <a:srgbClr val="E94D1C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pt-BR" sz="14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Essa composição permite observar valor tanto para especialistas quanto para não especialistas.</a:t>
            </a:r>
          </a:p>
        </p:txBody>
      </p:sp>
    </p:spTree>
    <p:extLst>
      <p:ext uri="{BB962C8B-B14F-4D97-AF65-F5344CB8AC3E}">
        <p14:creationId xmlns:p14="http://schemas.microsoft.com/office/powerpoint/2010/main" val="28600405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31BD2D9F-4E69-044A-D910-D491C0F9419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92701" y="2013954"/>
            <a:ext cx="3927494" cy="1118045"/>
          </a:xfrm>
        </p:spPr>
        <p:txBody>
          <a:bodyPr/>
          <a:lstStyle/>
          <a:p>
            <a:r>
              <a:rPr lang="pt-BR" dirty="0"/>
              <a:t>Resultados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9AE30E7-98F0-DBAA-D65C-538641B0EB51}"/>
              </a:ext>
            </a:extLst>
          </p:cNvPr>
          <p:cNvSpPr txBox="1"/>
          <p:nvPr/>
        </p:nvSpPr>
        <p:spPr>
          <a:xfrm>
            <a:off x="-100319" y="2830855"/>
            <a:ext cx="56262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b="0" spc="600" dirty="0">
                <a:solidFill>
                  <a:srgbClr val="21049A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Quantitativos por constructo</a:t>
            </a:r>
          </a:p>
        </p:txBody>
      </p:sp>
      <p:pic>
        <p:nvPicPr>
          <p:cNvPr id="6" name="Image 0" descr="/mnt/data/assets/final/construct_page-1.png">
            <a:extLst>
              <a:ext uri="{FF2B5EF4-FFF2-40B4-BE49-F238E27FC236}">
                <a16:creationId xmlns:a16="http://schemas.microsoft.com/office/drawing/2014/main" id="{1BEAB1B8-7368-7C45-21F5-09C71F34701C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5719483" y="885499"/>
            <a:ext cx="6386767" cy="3431585"/>
          </a:xfrm>
          <a:prstGeom prst="rect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B82CA103-F160-79BC-6147-732ACBDC0A08}"/>
              </a:ext>
            </a:extLst>
          </p:cNvPr>
          <p:cNvSpPr/>
          <p:nvPr/>
        </p:nvSpPr>
        <p:spPr>
          <a:xfrm>
            <a:off x="5719483" y="4570207"/>
            <a:ext cx="1539240" cy="840173"/>
          </a:xfrm>
          <a:prstGeom prst="roundRect">
            <a:avLst/>
          </a:prstGeom>
          <a:solidFill>
            <a:srgbClr val="E94D1C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21049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4,68</a:t>
            </a:r>
            <a:r>
              <a:rPr lang="en-US" sz="2900" b="1" dirty="0">
                <a:solidFill>
                  <a:srgbClr val="2F80E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
</a:t>
            </a:r>
            <a:r>
              <a:rPr lang="en-US" sz="1170" dirty="0">
                <a:solidFill>
                  <a:srgbClr val="1720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Facilidade de uso</a:t>
            </a:r>
            <a:endParaRPr lang="en-US" sz="29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DF02FFA3-B027-EC2D-20A5-353E6A01F0C3}"/>
              </a:ext>
            </a:extLst>
          </p:cNvPr>
          <p:cNvSpPr/>
          <p:nvPr/>
        </p:nvSpPr>
        <p:spPr>
          <a:xfrm>
            <a:off x="7702027" y="4562317"/>
            <a:ext cx="1539240" cy="840173"/>
          </a:xfrm>
          <a:prstGeom prst="roundRect">
            <a:avLst/>
          </a:prstGeom>
          <a:solidFill>
            <a:srgbClr val="E94D1C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21049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4,68</a:t>
            </a:r>
            <a:r>
              <a:rPr lang="en-US" sz="2900" b="1" dirty="0">
                <a:solidFill>
                  <a:srgbClr val="00A6A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
</a:t>
            </a:r>
            <a:r>
              <a:rPr lang="en-US" sz="1170" dirty="0" err="1">
                <a:solidFill>
                  <a:srgbClr val="1720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Aprendizagem</a:t>
            </a:r>
            <a:endParaRPr lang="en-US" sz="29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1194C984-D8F7-E030-9163-69B62A8AAF6B}"/>
              </a:ext>
            </a:extLst>
          </p:cNvPr>
          <p:cNvSpPr/>
          <p:nvPr/>
        </p:nvSpPr>
        <p:spPr>
          <a:xfrm>
            <a:off x="9611510" y="4570207"/>
            <a:ext cx="1539240" cy="824395"/>
          </a:xfrm>
          <a:prstGeom prst="roundRect">
            <a:avLst/>
          </a:prstGeom>
          <a:solidFill>
            <a:srgbClr val="E94D1C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21049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4,63</a:t>
            </a:r>
            <a:r>
              <a:rPr lang="en-US" sz="2900" b="1" dirty="0">
                <a:solidFill>
                  <a:srgbClr val="6B5DD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
</a:t>
            </a:r>
            <a:r>
              <a:rPr lang="en-US" sz="1170" dirty="0">
                <a:solidFill>
                  <a:srgbClr val="1720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Utilidade percebida</a:t>
            </a:r>
            <a:endParaRPr lang="en-US" sz="29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882328DB-C28A-B8B0-C463-189504E2331B}"/>
              </a:ext>
            </a:extLst>
          </p:cNvPr>
          <p:cNvSpPr/>
          <p:nvPr/>
        </p:nvSpPr>
        <p:spPr>
          <a:xfrm>
            <a:off x="6366222" y="5812481"/>
            <a:ext cx="3818965" cy="320040"/>
          </a:xfrm>
          <a:prstGeom prst="roundRect">
            <a:avLst/>
          </a:prstGeom>
          <a:solidFill>
            <a:srgbClr val="E94D1C"/>
          </a:solidFill>
          <a:ln>
            <a:solidFill>
              <a:srgbClr val="E94D1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Todos </a:t>
            </a:r>
            <a:r>
              <a:rPr lang="en-US" sz="1400" dirty="0" err="1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os</a:t>
            </a:r>
            <a:r>
              <a:rPr lang="en-US" sz="14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constructos</a:t>
            </a:r>
            <a:r>
              <a:rPr lang="en-US" sz="14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 ficaram acima de 4,4.</a:t>
            </a:r>
          </a:p>
        </p:txBody>
      </p:sp>
    </p:spTree>
    <p:extLst>
      <p:ext uri="{BB962C8B-B14F-4D97-AF65-F5344CB8AC3E}">
        <p14:creationId xmlns:p14="http://schemas.microsoft.com/office/powerpoint/2010/main" val="32812818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4E953-608E-2B69-B3BC-91A9B0E03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Logotipo&#10;&#10;O conteúdo gerado por IA pode estar incorreto.">
            <a:extLst>
              <a:ext uri="{FF2B5EF4-FFF2-40B4-BE49-F238E27FC236}">
                <a16:creationId xmlns:a16="http://schemas.microsoft.com/office/drawing/2014/main" id="{97F6F0F3-8313-1C90-D6E7-FFC2FA5041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CaixaDeTexto 38">
            <a:extLst>
              <a:ext uri="{FF2B5EF4-FFF2-40B4-BE49-F238E27FC236}">
                <a16:creationId xmlns:a16="http://schemas.microsoft.com/office/drawing/2014/main" id="{BCFBB321-2963-EBB9-11C0-0B12E776FD4B}"/>
              </a:ext>
            </a:extLst>
          </p:cNvPr>
          <p:cNvSpPr txBox="1"/>
          <p:nvPr/>
        </p:nvSpPr>
        <p:spPr>
          <a:xfrm>
            <a:off x="284297" y="739459"/>
            <a:ext cx="6480639" cy="714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pt-BR" sz="5000" dirty="0">
                <a:solidFill>
                  <a:srgbClr val="21049A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Usabilidade geral:</a:t>
            </a:r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FC9D4D86-DA17-EBC4-22AB-C4FE04D858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663" b="40706"/>
          <a:stretch>
            <a:fillRect/>
          </a:stretch>
        </p:blipFill>
        <p:spPr>
          <a:xfrm>
            <a:off x="11287643" y="5957700"/>
            <a:ext cx="610847" cy="567947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51427EC1-1065-A40A-5E10-068256C3A4F3}"/>
              </a:ext>
            </a:extLst>
          </p:cNvPr>
          <p:cNvSpPr txBox="1"/>
          <p:nvPr/>
        </p:nvSpPr>
        <p:spPr>
          <a:xfrm>
            <a:off x="284297" y="1488400"/>
            <a:ext cx="53096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pc="600" dirty="0">
                <a:solidFill>
                  <a:srgbClr val="21049A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SUS-</a:t>
            </a:r>
            <a:r>
              <a:rPr lang="pt-BR" spc="600" dirty="0" err="1">
                <a:solidFill>
                  <a:srgbClr val="21049A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style</a:t>
            </a:r>
            <a:r>
              <a:rPr lang="pt-BR" spc="600" dirty="0">
                <a:solidFill>
                  <a:srgbClr val="21049A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pt-BR" spc="600" dirty="0" err="1">
                <a:solidFill>
                  <a:srgbClr val="21049A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composite</a:t>
            </a:r>
            <a:endParaRPr lang="pt-BR" spc="600" dirty="0">
              <a:solidFill>
                <a:srgbClr val="21049A"/>
              </a:solidFill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</p:txBody>
      </p:sp>
      <p:pic>
        <p:nvPicPr>
          <p:cNvPr id="4" name="Image 0" descr="/mnt/data/assets/final/sus_page-1.png">
            <a:extLst>
              <a:ext uri="{FF2B5EF4-FFF2-40B4-BE49-F238E27FC236}">
                <a16:creationId xmlns:a16="http://schemas.microsoft.com/office/drawing/2014/main" id="{AEA8D43F-900F-978A-07A4-AA31EFA58C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2140" y="2120088"/>
            <a:ext cx="6995160" cy="3749146"/>
          </a:xfrm>
          <a:prstGeom prst="rect">
            <a:avLst/>
          </a:prstGeom>
        </p:spPr>
      </p:pic>
      <p:sp>
        <p:nvSpPr>
          <p:cNvPr id="6" name="Text 6">
            <a:extLst>
              <a:ext uri="{FF2B5EF4-FFF2-40B4-BE49-F238E27FC236}">
                <a16:creationId xmlns:a16="http://schemas.microsoft.com/office/drawing/2014/main" id="{43903783-1CC4-ADFC-0B89-9E148E3875FC}"/>
              </a:ext>
            </a:extLst>
          </p:cNvPr>
          <p:cNvSpPr/>
          <p:nvPr/>
        </p:nvSpPr>
        <p:spPr>
          <a:xfrm>
            <a:off x="1825568" y="5100039"/>
            <a:ext cx="1539240" cy="824395"/>
          </a:xfrm>
          <a:prstGeom prst="roundRect">
            <a:avLst/>
          </a:prstGeom>
          <a:solidFill>
            <a:srgbClr val="21049A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E94D1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86,7%
</a:t>
            </a:r>
            <a:r>
              <a:rPr lang="en-US" sz="1170" dirty="0" err="1">
                <a:solidFill>
                  <a:srgbClr val="E94D1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pontuaram</a:t>
            </a:r>
            <a:r>
              <a:rPr lang="en-US" sz="1170" dirty="0">
                <a:solidFill>
                  <a:srgbClr val="E94D1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≥ 80</a:t>
            </a:r>
            <a:endParaRPr lang="en-US" sz="2900" dirty="0">
              <a:solidFill>
                <a:srgbClr val="E94D1C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CD9C3820-2EE1-6EDC-D16D-812E1922D7C2}"/>
              </a:ext>
            </a:extLst>
          </p:cNvPr>
          <p:cNvSpPr/>
          <p:nvPr/>
        </p:nvSpPr>
        <p:spPr>
          <a:xfrm>
            <a:off x="1825568" y="3741791"/>
            <a:ext cx="1539240" cy="824395"/>
          </a:xfrm>
          <a:prstGeom prst="roundRect">
            <a:avLst/>
          </a:prstGeom>
          <a:solidFill>
            <a:srgbClr val="21049A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E94D1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92,5
</a:t>
            </a:r>
            <a:r>
              <a:rPr lang="en-US" sz="1170" dirty="0" err="1">
                <a:solidFill>
                  <a:srgbClr val="E94D1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mediana</a:t>
            </a:r>
            <a:endParaRPr lang="en-US" sz="2900" dirty="0">
              <a:solidFill>
                <a:srgbClr val="E94D1C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6104126-B2F1-4178-E88D-143BAC637A83}"/>
              </a:ext>
            </a:extLst>
          </p:cNvPr>
          <p:cNvSpPr/>
          <p:nvPr/>
        </p:nvSpPr>
        <p:spPr>
          <a:xfrm>
            <a:off x="1825568" y="2391585"/>
            <a:ext cx="1539240" cy="824395"/>
          </a:xfrm>
          <a:prstGeom prst="roundRect">
            <a:avLst/>
          </a:prstGeom>
          <a:solidFill>
            <a:srgbClr val="21049A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E94D1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90,4
</a:t>
            </a:r>
            <a:r>
              <a:rPr lang="pt-BR" sz="1170" dirty="0">
                <a:solidFill>
                  <a:srgbClr val="E94D1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média geral / 100</a:t>
            </a:r>
            <a:endParaRPr lang="en-US" sz="2900" dirty="0">
              <a:solidFill>
                <a:srgbClr val="E94D1C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04450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5FE90-3C3D-9CFF-B10B-4ED42DC51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Uma imagem contendo 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1EA31A27-C7A6-4BFF-38FA-7A06A8FA16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81ED1A8D-1705-CB98-B7B9-210FFA7D45DF}"/>
              </a:ext>
            </a:extLst>
          </p:cNvPr>
          <p:cNvSpPr txBox="1"/>
          <p:nvPr/>
        </p:nvSpPr>
        <p:spPr>
          <a:xfrm>
            <a:off x="5940815" y="359067"/>
            <a:ext cx="6098785" cy="5401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pt-BR" sz="3600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Feedback qualitativo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2476C94-42E8-7F9F-8E5C-F06286D61F34}"/>
              </a:ext>
            </a:extLst>
          </p:cNvPr>
          <p:cNvSpPr txBox="1"/>
          <p:nvPr/>
        </p:nvSpPr>
        <p:spPr>
          <a:xfrm>
            <a:off x="5515935" y="984456"/>
            <a:ext cx="5914066" cy="2009061"/>
          </a:xfrm>
          <a:prstGeom prst="roundRect">
            <a:avLst/>
          </a:prstGeom>
          <a:solidFill>
            <a:srgbClr val="E94D1C"/>
          </a:solidFill>
        </p:spPr>
        <p:txBody>
          <a:bodyPr wrap="square">
            <a:spAutoFit/>
          </a:bodyPr>
          <a:lstStyle/>
          <a:p>
            <a:pPr algn="just"/>
            <a:r>
              <a:rPr lang="en-US" sz="16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• </a:t>
            </a:r>
            <a:r>
              <a:rPr lang="en-US" sz="1600" dirty="0" err="1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Reforçaram</a:t>
            </a:r>
            <a:r>
              <a:rPr lang="en-US" sz="16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 a </a:t>
            </a:r>
            <a:r>
              <a:rPr lang="en-US" sz="1600" dirty="0" err="1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ideia</a:t>
            </a:r>
            <a:r>
              <a:rPr lang="en-US" sz="16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 de </a:t>
            </a:r>
            <a:r>
              <a:rPr lang="en-US" sz="1600" dirty="0" err="1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leitura</a:t>
            </a:r>
            <a:r>
              <a:rPr lang="en-US" sz="16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mais</a:t>
            </a:r>
            <a:r>
              <a:rPr lang="en-US" sz="16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clara</a:t>
            </a:r>
            <a:r>
              <a:rPr lang="en-US" sz="16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 e </a:t>
            </a:r>
            <a:r>
              <a:rPr lang="en-US" sz="1600" dirty="0" err="1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rápida</a:t>
            </a:r>
            <a:r>
              <a:rPr lang="en-US" sz="16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.</a:t>
            </a:r>
          </a:p>
          <a:p>
            <a:pPr algn="just"/>
            <a:endParaRPr lang="en-US" sz="1600" dirty="0">
              <a:solidFill>
                <a:schemeClr val="bg1"/>
              </a:solidFill>
              <a:latin typeface="Roboto Bold" panose="02000000000000000000" pitchFamily="2" charset="0"/>
              <a:ea typeface="Roboto Bold" panose="02000000000000000000" pitchFamily="2" charset="0"/>
              <a:cs typeface="Roboto Bold" panose="02000000000000000000" pitchFamily="2" charset="0"/>
            </a:endParaRPr>
          </a:p>
          <a:p>
            <a:pPr algn="just"/>
            <a:r>
              <a:rPr lang="en-US" sz="16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• O </a:t>
            </a:r>
            <a:r>
              <a:rPr lang="en-US" sz="1600" dirty="0" err="1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sistema</a:t>
            </a:r>
            <a:r>
              <a:rPr lang="en-US" sz="16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foi</a:t>
            </a:r>
            <a:r>
              <a:rPr lang="en-US" sz="16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 visto </a:t>
            </a:r>
            <a:r>
              <a:rPr lang="en-US" sz="1600" dirty="0" err="1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como</a:t>
            </a:r>
            <a:r>
              <a:rPr lang="en-US" sz="16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apoio</a:t>
            </a:r>
            <a:r>
              <a:rPr lang="en-US" sz="16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 para </a:t>
            </a:r>
            <a:r>
              <a:rPr lang="en-US" sz="1600" dirty="0" err="1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triagem</a:t>
            </a:r>
            <a:r>
              <a:rPr lang="en-US" sz="16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, overview e consulta </a:t>
            </a:r>
            <a:r>
              <a:rPr lang="en-US" sz="1600" dirty="0" err="1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inicial</a:t>
            </a:r>
            <a:r>
              <a:rPr lang="en-US" sz="16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.</a:t>
            </a:r>
          </a:p>
          <a:p>
            <a:pPr algn="just"/>
            <a:endParaRPr lang="en-US" sz="1600" dirty="0">
              <a:solidFill>
                <a:schemeClr val="bg1"/>
              </a:solidFill>
              <a:latin typeface="Roboto Bold" panose="02000000000000000000" pitchFamily="2" charset="0"/>
              <a:ea typeface="Roboto Bold" panose="02000000000000000000" pitchFamily="2" charset="0"/>
              <a:cs typeface="Roboto Bold" panose="02000000000000000000" pitchFamily="2" charset="0"/>
            </a:endParaRPr>
          </a:p>
          <a:p>
            <a:pPr algn="just"/>
            <a:r>
              <a:rPr lang="en-US" sz="16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• As </a:t>
            </a:r>
            <a:r>
              <a:rPr lang="en-US" sz="1600" dirty="0" err="1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melhorias</a:t>
            </a:r>
            <a:r>
              <a:rPr lang="en-US" sz="16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pedidas</a:t>
            </a:r>
            <a:r>
              <a:rPr lang="en-US" sz="16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foram</a:t>
            </a:r>
            <a:r>
              <a:rPr lang="en-US" sz="16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refinamentos</a:t>
            </a:r>
            <a:r>
              <a:rPr lang="en-US" sz="16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: </a:t>
            </a:r>
            <a:r>
              <a:rPr lang="en-US" sz="1600" dirty="0" err="1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mais</a:t>
            </a:r>
            <a:r>
              <a:rPr lang="en-US" sz="16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detalhes</a:t>
            </a:r>
            <a:r>
              <a:rPr lang="en-US" sz="16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, </a:t>
            </a:r>
            <a:r>
              <a:rPr lang="en-US" sz="1600" dirty="0" err="1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formatação</a:t>
            </a:r>
            <a:r>
              <a:rPr lang="en-US" sz="16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, </a:t>
            </a:r>
            <a:r>
              <a:rPr lang="en-US" sz="1600" dirty="0" err="1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glossário</a:t>
            </a:r>
            <a:r>
              <a:rPr lang="en-US" sz="16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 e </a:t>
            </a:r>
            <a:r>
              <a:rPr lang="en-US" sz="1600" dirty="0" err="1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velocidade</a:t>
            </a:r>
            <a:r>
              <a:rPr lang="en-US" sz="16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.</a:t>
            </a:r>
          </a:p>
        </p:txBody>
      </p:sp>
      <p:pic>
        <p:nvPicPr>
          <p:cNvPr id="2" name="Image 0" descr="/mnt/data/assets/final/theme_page-1.png">
            <a:extLst>
              <a:ext uri="{FF2B5EF4-FFF2-40B4-BE49-F238E27FC236}">
                <a16:creationId xmlns:a16="http://schemas.microsoft.com/office/drawing/2014/main" id="{8324E991-4EFD-E710-092F-018527C3B6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0387" y="3134256"/>
            <a:ext cx="6863378" cy="3583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4930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E21C2073-BC84-F7EA-6D19-F5D83519A9B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99025" y="816094"/>
            <a:ext cx="3848744" cy="766779"/>
          </a:xfrm>
        </p:spPr>
        <p:txBody>
          <a:bodyPr/>
          <a:lstStyle/>
          <a:p>
            <a:r>
              <a:rPr lang="pt-BR" dirty="0"/>
              <a:t>Avaliação de performance (</a:t>
            </a:r>
            <a:r>
              <a:rPr lang="pt-BR" dirty="0" err="1"/>
              <a:t>backend</a:t>
            </a:r>
            <a:r>
              <a:rPr lang="pt-BR" dirty="0"/>
              <a:t>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F814DF2-AE9D-DC82-B6F2-0AC3FA96FBB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99025" y="1784862"/>
            <a:ext cx="3848743" cy="1189157"/>
          </a:xfrm>
        </p:spPr>
        <p:txBody>
          <a:bodyPr/>
          <a:lstStyle/>
          <a:p>
            <a:r>
              <a:rPr lang="pt-BR" dirty="0"/>
              <a:t>Petição inicial de 4.392 palavras</a:t>
            </a:r>
          </a:p>
          <a:p>
            <a:r>
              <a:rPr lang="pt-BR" dirty="0"/>
              <a:t>nível médio</a:t>
            </a:r>
          </a:p>
          <a:p>
            <a:r>
              <a:rPr lang="pt-BR" dirty="0"/>
              <a:t>10 execuções</a:t>
            </a:r>
          </a:p>
          <a:p>
            <a:r>
              <a:rPr lang="pt-BR" dirty="0"/>
              <a:t>RTX 4070 Laptop (8 GB)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521A55FD-C181-CE04-FECE-D546431A2C11}"/>
              </a:ext>
            </a:extLst>
          </p:cNvPr>
          <p:cNvSpPr/>
          <p:nvPr/>
        </p:nvSpPr>
        <p:spPr>
          <a:xfrm>
            <a:off x="652794" y="3429000"/>
            <a:ext cx="1753053" cy="903303"/>
          </a:xfrm>
          <a:prstGeom prst="roundRect">
            <a:avLst/>
          </a:prstGeom>
          <a:solidFill>
            <a:schemeClr val="bg1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E94D1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2min33s
</a:t>
            </a:r>
            <a:r>
              <a:rPr lang="pt-BR" sz="1170" dirty="0">
                <a:solidFill>
                  <a:srgbClr val="E94D1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por documento</a:t>
            </a:r>
            <a:endParaRPr lang="en-US" sz="2900" dirty="0">
              <a:solidFill>
                <a:srgbClr val="E94D1C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C082CE70-53D6-484C-3C0D-18D68376168F}"/>
              </a:ext>
            </a:extLst>
          </p:cNvPr>
          <p:cNvSpPr/>
          <p:nvPr/>
        </p:nvSpPr>
        <p:spPr>
          <a:xfrm>
            <a:off x="2923396" y="3429000"/>
            <a:ext cx="1753053" cy="903303"/>
          </a:xfrm>
          <a:prstGeom prst="roundRect">
            <a:avLst/>
          </a:prstGeom>
          <a:solidFill>
            <a:schemeClr val="bg1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E94D1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35s
</a:t>
            </a:r>
            <a:r>
              <a:rPr lang="pt-BR" sz="1170" dirty="0">
                <a:solidFill>
                  <a:srgbClr val="E94D1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por 1000 palavras</a:t>
            </a:r>
            <a:endParaRPr lang="en-US" sz="2900" dirty="0">
              <a:solidFill>
                <a:srgbClr val="E94D1C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469C1200-DF9F-5702-6385-33EDED7FCC84}"/>
              </a:ext>
            </a:extLst>
          </p:cNvPr>
          <p:cNvSpPr/>
          <p:nvPr/>
        </p:nvSpPr>
        <p:spPr>
          <a:xfrm>
            <a:off x="1690880" y="4787284"/>
            <a:ext cx="1913455" cy="903303"/>
          </a:xfrm>
          <a:prstGeom prst="roundRect">
            <a:avLst/>
          </a:prstGeom>
          <a:solidFill>
            <a:schemeClr val="bg1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E94D1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GPU a 94% 
</a:t>
            </a:r>
            <a:r>
              <a:rPr lang="pt-BR" sz="1170" dirty="0">
                <a:solidFill>
                  <a:srgbClr val="E94D1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6,6 de 8GB de VRAM</a:t>
            </a:r>
            <a:endParaRPr lang="en-US" sz="2900" dirty="0">
              <a:solidFill>
                <a:srgbClr val="E94D1C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94894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625EFF7A-989A-5A81-62F9-5ED59FE36ED8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pt-BR" dirty="0"/>
              <a:t>O QUE OS RESULTADOS INDICAM?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ABFBAD9-4752-2F8F-A210-106D6583A3C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pt-BR" dirty="0"/>
              <a:t>O LASCAS foi percebido como uma </a:t>
            </a:r>
            <a:r>
              <a:rPr lang="pt-BR" dirty="0">
                <a:solidFill>
                  <a:srgbClr val="E94D1C"/>
                </a:solidFill>
              </a:rPr>
              <a:t>camada de apoio</a:t>
            </a:r>
            <a:r>
              <a:rPr lang="pt-BR" dirty="0"/>
              <a:t>, não como substituto da leitura jurídica especializada.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EE8BBC4-683C-E510-5632-AA1649C02942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pt-BR" sz="1400" dirty="0"/>
              <a:t>• Ajuda na primeira leitura: entender tema, função do documento e pontos principais.</a:t>
            </a:r>
          </a:p>
          <a:p>
            <a:pPr>
              <a:lnSpc>
                <a:spcPct val="100000"/>
              </a:lnSpc>
            </a:pPr>
            <a:endParaRPr lang="pt-BR" sz="1400" dirty="0"/>
          </a:p>
          <a:p>
            <a:pPr>
              <a:lnSpc>
                <a:spcPct val="100000"/>
              </a:lnSpc>
            </a:pPr>
            <a:r>
              <a:rPr lang="pt-BR" sz="1400" dirty="0"/>
              <a:t>• Apoia triagem: decidir onde concentrar atenção antes de leitura técnica completa.</a:t>
            </a:r>
          </a:p>
          <a:p>
            <a:pPr>
              <a:lnSpc>
                <a:spcPct val="100000"/>
              </a:lnSpc>
            </a:pPr>
            <a:endParaRPr lang="pt-BR" sz="1400" dirty="0"/>
          </a:p>
          <a:p>
            <a:pPr>
              <a:lnSpc>
                <a:spcPct val="100000"/>
              </a:lnSpc>
            </a:pPr>
            <a:r>
              <a:rPr lang="pt-BR" sz="1400" dirty="0"/>
              <a:t>• A interface não virou nova barreira: facilidade de uso e aprendizagem ficaram muito altas.</a:t>
            </a:r>
          </a:p>
          <a:p>
            <a:pPr>
              <a:lnSpc>
                <a:spcPct val="100000"/>
              </a:lnSpc>
            </a:pPr>
            <a:endParaRPr lang="pt-BR" sz="1400" dirty="0"/>
          </a:p>
          <a:p>
            <a:pPr>
              <a:lnSpc>
                <a:spcPct val="100000"/>
              </a:lnSpc>
            </a:pPr>
            <a:r>
              <a:rPr lang="pt-BR" sz="1400" dirty="0"/>
              <a:t>• O valor está no conjunto: documento + simplificação + validação + apresentação.</a:t>
            </a:r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1551323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E04C76F9-74E5-C1D7-4F91-CFEC862E57F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30281" y="3328346"/>
            <a:ext cx="3884519" cy="785342"/>
          </a:xfrm>
        </p:spPr>
        <p:txBody>
          <a:bodyPr/>
          <a:lstStyle/>
          <a:p>
            <a:pPr algn="ctr"/>
            <a:r>
              <a:rPr lang="pt-BR" dirty="0"/>
              <a:t>O QUE O PROTÓTIPO  DEMONSTROU E O QUE PODE EVOLUIR: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463DE16-1186-E5B6-3CF1-41129E63C30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9619" y="368122"/>
            <a:ext cx="6734546" cy="1118045"/>
          </a:xfrm>
        </p:spPr>
        <p:txBody>
          <a:bodyPr/>
          <a:lstStyle/>
          <a:p>
            <a:r>
              <a:rPr lang="pt-BR" dirty="0"/>
              <a:t>LIMITAÇÕES E PRÓXIMOS PASSOS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709A37E2-C5E5-74A5-9318-1CCE826C1F90}"/>
              </a:ext>
            </a:extLst>
          </p:cNvPr>
          <p:cNvSpPr txBox="1"/>
          <p:nvPr/>
        </p:nvSpPr>
        <p:spPr>
          <a:xfrm>
            <a:off x="859410" y="4374290"/>
            <a:ext cx="2776418" cy="1464231"/>
          </a:xfrm>
          <a:prstGeom prst="roundRect">
            <a:avLst/>
          </a:prstGeom>
          <a:solidFill>
            <a:srgbClr val="E94D1C"/>
          </a:solidFill>
        </p:spPr>
        <p:txBody>
          <a:bodyPr wrap="square">
            <a:spAutoFit/>
          </a:bodyPr>
          <a:lstStyle/>
          <a:p>
            <a:pPr algn="ctr"/>
            <a:r>
              <a:rPr lang="pt-BR" sz="16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Avaliação mais forte</a:t>
            </a:r>
          </a:p>
          <a:p>
            <a:pPr algn="just"/>
            <a:endParaRPr lang="pt-BR" sz="16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ctr"/>
            <a:r>
              <a:rPr lang="pt-BR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Tarefas objetivas de compreensão e tempo de leitura.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1A481AB1-A0AF-461D-75BC-C01B1832AD51}"/>
              </a:ext>
            </a:extLst>
          </p:cNvPr>
          <p:cNvSpPr txBox="1"/>
          <p:nvPr/>
        </p:nvSpPr>
        <p:spPr>
          <a:xfrm>
            <a:off x="4250631" y="4374289"/>
            <a:ext cx="2776418" cy="1464231"/>
          </a:xfrm>
          <a:prstGeom prst="roundRect">
            <a:avLst/>
          </a:prstGeom>
          <a:solidFill>
            <a:srgbClr val="E94D1C"/>
          </a:solidFill>
        </p:spPr>
        <p:txBody>
          <a:bodyPr wrap="square">
            <a:spAutoFit/>
          </a:bodyPr>
          <a:lstStyle/>
          <a:p>
            <a:pPr algn="ctr"/>
            <a:r>
              <a:rPr lang="pt-BR" sz="16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Qualidade técnica</a:t>
            </a:r>
          </a:p>
          <a:p>
            <a:pPr algn="just"/>
            <a:endParaRPr lang="pt-BR" sz="16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ctr"/>
            <a:r>
              <a:rPr lang="pt-BR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OCR e otimização para melhorar tratamento de documentos longos.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78601398-B430-9EAD-F730-A18CCD0D4F6A}"/>
              </a:ext>
            </a:extLst>
          </p:cNvPr>
          <p:cNvSpPr txBox="1"/>
          <p:nvPr/>
        </p:nvSpPr>
        <p:spPr>
          <a:xfrm>
            <a:off x="7641852" y="4238082"/>
            <a:ext cx="2879191" cy="1736646"/>
          </a:xfrm>
          <a:prstGeom prst="roundRect">
            <a:avLst/>
          </a:prstGeom>
          <a:solidFill>
            <a:srgbClr val="E94D1C"/>
          </a:solidFill>
        </p:spPr>
        <p:txBody>
          <a:bodyPr wrap="square">
            <a:spAutoFit/>
          </a:bodyPr>
          <a:lstStyle/>
          <a:p>
            <a:pPr algn="ctr"/>
            <a:r>
              <a:rPr lang="pt-BR" sz="16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Domínio jurídico</a:t>
            </a:r>
          </a:p>
          <a:p>
            <a:pPr algn="just"/>
            <a:endParaRPr lang="pt-BR" sz="16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ctr"/>
            <a:r>
              <a:rPr lang="pt-BR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Glossário maior e modelos adaptados ao português jurídico brasileiro.</a:t>
            </a:r>
            <a:endParaRPr lang="en-US" sz="16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just"/>
            <a:endParaRPr lang="en-US" sz="16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63266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B15D18C-687C-345D-1E6E-29D37DF63F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015700" y="1382205"/>
            <a:ext cx="4391941" cy="599579"/>
          </a:xfrm>
        </p:spPr>
        <p:txBody>
          <a:bodyPr/>
          <a:lstStyle/>
          <a:p>
            <a:pPr algn="ctr"/>
            <a:r>
              <a:rPr lang="pt-BR" sz="5400" b="1" dirty="0">
                <a:solidFill>
                  <a:srgbClr val="E94D1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LASCAS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67430827-EEA0-02D6-6B6B-A9BCF914A97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59507" y="2284303"/>
            <a:ext cx="5504329" cy="1324583"/>
          </a:xfrm>
        </p:spPr>
        <p:txBody>
          <a:bodyPr/>
          <a:lstStyle/>
          <a:p>
            <a:pPr algn="ctr"/>
            <a:r>
              <a:rPr lang="pt-BR" dirty="0"/>
              <a:t>A simplificação jurídica mais segura não é só geração de texto.</a:t>
            </a:r>
          </a:p>
          <a:p>
            <a:pPr algn="ctr"/>
            <a:endParaRPr lang="pt-BR" dirty="0"/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944FBCCE-3EFC-1561-E9C5-44DEB0445BA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602943" y="3911405"/>
            <a:ext cx="5217458" cy="978863"/>
          </a:xfrm>
        </p:spPr>
        <p:txBody>
          <a:bodyPr/>
          <a:lstStyle/>
          <a:p>
            <a:pPr algn="ctr"/>
            <a:r>
              <a:rPr lang="pt-BR" sz="2000" dirty="0"/>
              <a:t>Ela exige processamento de documento, salvaguardas semânticas, linguagem simples e uma interface que apoie o usuário no momento da leitura.</a:t>
            </a:r>
          </a:p>
          <a:p>
            <a:endParaRPr lang="pt-BR" dirty="0"/>
          </a:p>
        </p:txBody>
      </p:sp>
      <p:sp>
        <p:nvSpPr>
          <p:cNvPr id="10" name="Rounded Rectangle 21">
            <a:extLst>
              <a:ext uri="{FF2B5EF4-FFF2-40B4-BE49-F238E27FC236}">
                <a16:creationId xmlns:a16="http://schemas.microsoft.com/office/drawing/2014/main" id="{CF45FC25-604D-CED8-15BE-4075ED0CAA6D}"/>
              </a:ext>
            </a:extLst>
          </p:cNvPr>
          <p:cNvSpPr/>
          <p:nvPr/>
        </p:nvSpPr>
        <p:spPr>
          <a:xfrm>
            <a:off x="6569364" y="5650964"/>
            <a:ext cx="3099608" cy="475488"/>
          </a:xfrm>
          <a:prstGeom prst="roundRect">
            <a:avLst/>
          </a:prstGeom>
          <a:solidFill>
            <a:srgbClr val="F5F7FB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l"/>
            <a:r>
              <a:rPr sz="1150">
                <a:solidFill>
                  <a:srgbClr val="49536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Repositório: </a:t>
            </a:r>
            <a:r>
              <a:rPr sz="1150" u="sng">
                <a:solidFill>
                  <a:srgbClr val="2F75E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2"/>
              </a:rPr>
              <a:t>github.com/StukerVitor/tcc_2</a:t>
            </a:r>
          </a:p>
        </p:txBody>
      </p:sp>
    </p:spTree>
    <p:extLst>
      <p:ext uri="{BB962C8B-B14F-4D97-AF65-F5344CB8AC3E}">
        <p14:creationId xmlns:p14="http://schemas.microsoft.com/office/powerpoint/2010/main" val="40703484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0A15F-9F7B-A02D-CD4A-C484406CA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Diagrama, Desenho técnico&#10;&#10;O conteúdo gerado por IA pode estar incorreto.">
            <a:extLst>
              <a:ext uri="{FF2B5EF4-FFF2-40B4-BE49-F238E27FC236}">
                <a16:creationId xmlns:a16="http://schemas.microsoft.com/office/drawing/2014/main" id="{EF36C1C0-AB27-4B16-01ED-7496B65CAF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1" name="CaixaDeTexto 20">
            <a:extLst>
              <a:ext uri="{FF2B5EF4-FFF2-40B4-BE49-F238E27FC236}">
                <a16:creationId xmlns:a16="http://schemas.microsoft.com/office/drawing/2014/main" id="{6B44C570-FD0B-CC4C-E094-9869CF02AC66}"/>
              </a:ext>
            </a:extLst>
          </p:cNvPr>
          <p:cNvSpPr txBox="1"/>
          <p:nvPr/>
        </p:nvSpPr>
        <p:spPr>
          <a:xfrm>
            <a:off x="1198964" y="1211463"/>
            <a:ext cx="11478647" cy="1253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pt-BR" sz="6600" dirty="0">
                <a:solidFill>
                  <a:srgbClr val="E94D1C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LASCAS</a:t>
            </a:r>
          </a:p>
          <a:p>
            <a:pPr>
              <a:lnSpc>
                <a:spcPct val="80000"/>
              </a:lnSpc>
            </a:pPr>
            <a:r>
              <a:rPr lang="en-US" sz="28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Legal Accessibility and Simplification for Cognitive Aid System.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4811DED7-07AB-B88A-84A4-777976653D4A}"/>
              </a:ext>
            </a:extLst>
          </p:cNvPr>
          <p:cNvSpPr txBox="1"/>
          <p:nvPr/>
        </p:nvSpPr>
        <p:spPr>
          <a:xfrm>
            <a:off x="1198964" y="854210"/>
            <a:ext cx="6591365" cy="2913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pt-BR" sz="16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Trabalho de Conclusão de Curso de Ciência da Computação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052EEF3-765C-A6FA-4160-7EC2E154E2AD}"/>
              </a:ext>
            </a:extLst>
          </p:cNvPr>
          <p:cNvSpPr txBox="1"/>
          <p:nvPr/>
        </p:nvSpPr>
        <p:spPr>
          <a:xfrm>
            <a:off x="1198964" y="2530519"/>
            <a:ext cx="8750947" cy="341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pt-BR" sz="20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Rumo à acessibilidade cognitiva em textos jurídicos brasileiros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567A676-B9D7-712D-5D70-9FEFF1E6F4F0}"/>
              </a:ext>
            </a:extLst>
          </p:cNvPr>
          <p:cNvSpPr txBox="1"/>
          <p:nvPr/>
        </p:nvSpPr>
        <p:spPr>
          <a:xfrm>
            <a:off x="8116249" y="6027126"/>
            <a:ext cx="36673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 err="1">
                <a:solidFill>
                  <a:srgbClr val="DDEBF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Aluno</a:t>
            </a:r>
            <a:r>
              <a:rPr lang="en-US" sz="1400" dirty="0">
                <a:solidFill>
                  <a:srgbClr val="DDEBF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: Vitor </a:t>
            </a:r>
            <a:r>
              <a:rPr lang="en-US" sz="1400" dirty="0" err="1">
                <a:solidFill>
                  <a:srgbClr val="DDEBF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Stüker</a:t>
            </a:r>
            <a:r>
              <a:rPr lang="en-US" sz="1400" dirty="0">
                <a:solidFill>
                  <a:srgbClr val="DDEBF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de Almeida</a:t>
            </a:r>
          </a:p>
          <a:p>
            <a:r>
              <a:rPr lang="en-US" sz="1400" dirty="0" err="1">
                <a:solidFill>
                  <a:srgbClr val="DDEBF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Orientador</a:t>
            </a:r>
            <a:r>
              <a:rPr lang="en-US" sz="1400" dirty="0">
                <a:solidFill>
                  <a:srgbClr val="DDEBF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: Prof. Dr. Alex Roehrs · 2026</a:t>
            </a:r>
            <a:endParaRPr lang="en-US" sz="1400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117901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unisinos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ema unisinos" id="{0EDEEB91-0736-441F-A7F5-4FA5717EFDDE}" vid="{6FB48B3F-96BA-4BC3-92BE-A09E0B32FF42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585AD953FC666642937FCE52CC8B4A6A" ma:contentTypeVersion="21" ma:contentTypeDescription="Crie um novo documento." ma:contentTypeScope="" ma:versionID="a0f0a53631578753e0de4c39d7473101">
  <xsd:schema xmlns:xsd="http://www.w3.org/2001/XMLSchema" xmlns:xs="http://www.w3.org/2001/XMLSchema" xmlns:p="http://schemas.microsoft.com/office/2006/metadata/properties" xmlns:ns2="5fb5f026-dc7b-485f-82fe-577aafb4abaa" xmlns:ns3="9970e0e6-68bd-454a-b013-2dc3f312d27d" targetNamespace="http://schemas.microsoft.com/office/2006/metadata/properties" ma:root="true" ma:fieldsID="1cb42779a8c523c71ef9e1ae6bb42114" ns2:_="" ns3:_="">
    <xsd:import namespace="5fb5f026-dc7b-485f-82fe-577aafb4abaa"/>
    <xsd:import namespace="9970e0e6-68bd-454a-b013-2dc3f312d27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  <xsd:element ref="ns2:MediaServiceBillingMetadata" minOccurs="0"/>
                <xsd:element ref="ns2:Na_x0020_sua_x0020_vis_x00e3_o_x002c__x0020_qual_x0020__x00e9__x0020_o_x0020_principal_x0020_diferencial_x0020_dos_x0020_cursos_x0020_em_x0020_rela_x00e7__x00e3_o_x0020_a_x0020_outras_x0020_especializa_x00e7__x00f5_es_x0020_semelhantes_x0020_no_x0020_Brasil_x003f_"/>
                <xsd:element ref="ns2:Que_x0020_tipo_x0020_de_x0020_profissional_x0020_voc_x00ea__x0020_acredita_x0020_que_x0020_mais_x0020_se_x0020_beneficia_x0020_deste_x0020_curso_x0020_hoje_x0020__x0028_perfil_x0020_t_x00e9_cnico_x002c__x0020_momento_x0020_de_x0020_carreira_x002c__x0020_lacunas_x0020_que_x0020_o_x0020_curso_x0020_supre_x0029__x003f_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b5f026-dc7b-485f-82fe-577aafb4aba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4" nillable="true" ma:displayName="Location" ma:internalName="MediaServiceLocatio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Marcações de imagem" ma:readOnly="false" ma:fieldId="{5cf76f15-5ced-4ddc-b409-7134ff3c332f}" ma:taxonomyMulti="true" ma:sspId="aac08c5c-6fe0-4712-b828-e958a9361e2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  <xsd:element name="Na_x0020_sua_x0020_vis_x00e3_o_x002c__x0020_qual_x0020__x00e9__x0020_o_x0020_principal_x0020_diferencial_x0020_dos_x0020_cursos_x0020_em_x0020_rela_x00e7__x00e3_o_x0020_a_x0020_outras_x0020_especializa_x00e7__x00f5_es_x0020_semelhantes_x0020_no_x0020_Brasil_x003f_" ma:index="26" ma:displayName="Na sua visão, qual é o principal diferencial dos cursos em relação a outras especializações semelhantes no Brasil?" ma:internalName="Na_x0020_sua_x0020_vis_x00e3_o_x002c__x0020_qual_x0020__x00e9__x0020_o_x0020_principal_x0020_diferencial_x0020_dos_x0020_cursos_x0020_em_x0020_rela_x00e7__x00e3_o_x0020_a_x0020_outras_x0020_especializa_x00e7__x00f5_es_x0020_semelhantes_x0020_no_x0020_Brasil_x003f_">
      <xsd:simpleType>
        <xsd:restriction base="dms:Note">
          <xsd:maxLength value="255"/>
        </xsd:restriction>
      </xsd:simpleType>
    </xsd:element>
    <xsd:element name="Que_x0020_tipo_x0020_de_x0020_profissional_x0020_voc_x00ea__x0020_acredita_x0020_que_x0020_mais_x0020_se_x0020_beneficia_x0020_deste_x0020_curso_x0020_hoje_x0020__x0028_perfil_x0020_t_x00e9_cnico_x002c__x0020_momento_x0020_de_x0020_carreira_x002c__x0020_lacunas_x0020_que_x0020_o_x0020_curso_x0020_supre_x0029__x003f_" ma:index="27" ma:displayName="Que tipo de profissional você acredita que mais se beneficia deste curso hoje (perfil técnico, momento de carreira, lacunas que o curso supre)?" ma:internalName="Que_x0020_tipo_x0020_de_x0020_profissional_x0020_voc_x00ea__x0020_acredita_x0020_que_x0020_mais_x0020_se_x0020_beneficia_x0020_deste_x0020_curso_x0020_hoje_x0020__x0028_perfil_x0020_t_x00e9_cnico_x002c__x0020_momento_x0020_de_x0020_carreira_x002c__x0020_lacunas_x0020_que_x0020_o_x0020_curso_x0020_supre_x0029__x003f_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970e0e6-68bd-454a-b013-2dc3f312d27d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f04e90fd-b40d-4e8a-9052-aed8cdd6606b}" ma:internalName="TaxCatchAll" ma:showField="CatchAllData" ma:web="9970e0e6-68bd-454a-b013-2dc3f312d27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fb5f026-dc7b-485f-82fe-577aafb4abaa">
      <Terms xmlns="http://schemas.microsoft.com/office/infopath/2007/PartnerControls"/>
    </lcf76f155ced4ddcb4097134ff3c332f>
    <TaxCatchAll xmlns="9970e0e6-68bd-454a-b013-2dc3f312d27d" xsi:nil="true"/>
    <Que_x0020_tipo_x0020_de_x0020_profissional_x0020_voc_x00ea__x0020_acredita_x0020_que_x0020_mais_x0020_se_x0020_beneficia_x0020_deste_x0020_curso_x0020_hoje_x0020__x0028_perfil_x0020_t_x00e9_cnico_x002c__x0020_momento_x0020_de_x0020_carreira_x002c__x0020_lacunas_x0020_que_x0020_o_x0020_curso_x0020_supre_x0029__x003f_ xmlns="5fb5f026-dc7b-485f-82fe-577aafb4abaa">a</Que_x0020_tipo_x0020_de_x0020_profissional_x0020_voc_x00ea__x0020_acredita_x0020_que_x0020_mais_x0020_se_x0020_beneficia_x0020_deste_x0020_curso_x0020_hoje_x0020__x0028_perfil_x0020_t_x00e9_cnico_x002c__x0020_momento_x0020_de_x0020_carreira_x002c__x0020_lacunas_x0020_que_x0020_o_x0020_curso_x0020_supre_x0029__x003f_>
    <Na_x0020_sua_x0020_vis_x00e3_o_x002c__x0020_qual_x0020__x00e9__x0020_o_x0020_principal_x0020_diferencial_x0020_dos_x0020_cursos_x0020_em_x0020_rela_x00e7__x00e3_o_x0020_a_x0020_outras_x0020_especializa_x00e7__x00f5_es_x0020_semelhantes_x0020_no_x0020_Brasil_x003f_ xmlns="5fb5f026-dc7b-485f-82fe-577aafb4abaa">a</Na_x0020_sua_x0020_vis_x00e3_o_x002c__x0020_qual_x0020__x00e9__x0020_o_x0020_principal_x0020_diferencial_x0020_dos_x0020_cursos_x0020_em_x0020_rela_x00e7__x00e3_o_x0020_a_x0020_outras_x0020_especializa_x00e7__x00f5_es_x0020_semelhantes_x0020_no_x0020_Brasil_x003f_>
  </documentManagement>
</p:properties>
</file>

<file path=customXml/itemProps1.xml><?xml version="1.0" encoding="utf-8"?>
<ds:datastoreItem xmlns:ds="http://schemas.openxmlformats.org/officeDocument/2006/customXml" ds:itemID="{5504F551-2F4B-4ED5-8A86-9AF9523DAD5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EFE6DF0-C827-427D-A5C4-577D5E296F4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fb5f026-dc7b-485f-82fe-577aafb4abaa"/>
    <ds:schemaRef ds:uri="9970e0e6-68bd-454a-b013-2dc3f312d27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D329F00-2A8C-46E7-9764-248AFFF1202A}">
  <ds:schemaRefs>
    <ds:schemaRef ds:uri="5fb5f026-dc7b-485f-82fe-577aafb4abaa"/>
    <ds:schemaRef ds:uri="http://schemas.microsoft.com/office/infopath/2007/PartnerControls"/>
    <ds:schemaRef ds:uri="http://schemas.microsoft.com/office/2006/metadata/properties"/>
    <ds:schemaRef ds:uri="http://purl.org/dc/elements/1.1/"/>
    <ds:schemaRef ds:uri="9970e0e6-68bd-454a-b013-2dc3f312d27d"/>
    <ds:schemaRef ds:uri="http://purl.org/dc/dcmitype/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tema unisinos</Template>
  <TotalTime>1828</TotalTime>
  <Words>1438</Words>
  <Application>Microsoft Office PowerPoint</Application>
  <PresentationFormat>Widescreen</PresentationFormat>
  <Paragraphs>237</Paragraphs>
  <Slides>25</Slides>
  <Notes>5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25</vt:i4>
      </vt:variant>
    </vt:vector>
  </HeadingPairs>
  <TitlesOfParts>
    <vt:vector size="33" baseType="lpstr">
      <vt:lpstr>Arial</vt:lpstr>
      <vt:lpstr>Calibri</vt:lpstr>
      <vt:lpstr>Courier New</vt:lpstr>
      <vt:lpstr>Roboto</vt:lpstr>
      <vt:lpstr>Roboto Black</vt:lpstr>
      <vt:lpstr>Roboto Bold</vt:lpstr>
      <vt:lpstr>Roboto Light</vt:lpstr>
      <vt:lpstr>tema unisinos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SEGURANÇA SEMÂNTICA: simplificar sem perder o essencial</vt:lpstr>
      <vt:lpstr>Apresentação do PowerPoint</vt:lpstr>
      <vt:lpstr>Apresentação do PowerPoint</vt:lpstr>
      <vt:lpstr>Apresentação do PowerPoint</vt:lpstr>
      <vt:lpstr>Metodologia da avaliação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Marcelo Krause de Verney</dc:creator>
  <cp:lastModifiedBy>Vitor Stüker</cp:lastModifiedBy>
  <cp:revision>24</cp:revision>
  <cp:lastPrinted>2026-08-11T19:29:05Z</cp:lastPrinted>
  <dcterms:created xsi:type="dcterms:W3CDTF">2012-07-30T23:50:35Z</dcterms:created>
  <dcterms:modified xsi:type="dcterms:W3CDTF">2026-08-11T19:49:07Z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0x010100585AD953FC666642937FCE52CC8B4A6A</vt:lpwstr>
  </property>
  <property fmtid="{D5CDD505-2E9C-101B-9397-08002B2CF9AE}" pid="3" name="MediaServiceImageTags">
    <vt:lpwstr/>
  </property>
</Properties>
</file>