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9"/>
  </p:notesMasterIdLst>
  <p:sldIdLst>
    <p:sldId id="577" r:id="rId5"/>
    <p:sldId id="323" r:id="rId6"/>
    <p:sldId id="565" r:id="rId7"/>
    <p:sldId id="551" r:id="rId8"/>
    <p:sldId id="554" r:id="rId9"/>
    <p:sldId id="572" r:id="rId10"/>
    <p:sldId id="289" r:id="rId11"/>
    <p:sldId id="573" r:id="rId12"/>
    <p:sldId id="541" r:id="rId13"/>
    <p:sldId id="271" r:id="rId14"/>
    <p:sldId id="569" r:id="rId15"/>
    <p:sldId id="578" r:id="rId16"/>
    <p:sldId id="568" r:id="rId17"/>
    <p:sldId id="273" r:id="rId18"/>
    <p:sldId id="550" r:id="rId19"/>
    <p:sldId id="547" r:id="rId20"/>
    <p:sldId id="320" r:id="rId21"/>
    <p:sldId id="291" r:id="rId22"/>
    <p:sldId id="575" r:id="rId23"/>
    <p:sldId id="552" r:id="rId24"/>
    <p:sldId id="576" r:id="rId25"/>
    <p:sldId id="564" r:id="rId26"/>
    <p:sldId id="563" r:id="rId27"/>
    <p:sldId id="256" r:id="rId2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049A"/>
    <a:srgbClr val="E94D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>
        <p:scale>
          <a:sx n="103" d="100"/>
          <a:sy n="103" d="100"/>
        </p:scale>
        <p:origin x="261" y="1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tor Stüker" userId="d009d297cc9197ea" providerId="LiveId" clId="{3F8D13FA-782D-46A8-9A20-0EDD290AD0B4}"/>
    <pc:docChg chg="undo redo custSel addSld delSld modSld sldOrd">
      <pc:chgData name="Vitor Stüker" userId="d009d297cc9197ea" providerId="LiveId" clId="{3F8D13FA-782D-46A8-9A20-0EDD290AD0B4}" dt="2026-10-20T18:36:14.803" v="253" actId="1076"/>
      <pc:docMkLst>
        <pc:docMk/>
      </pc:docMkLst>
      <pc:sldChg chg="add del">
        <pc:chgData name="Vitor Stüker" userId="d009d297cc9197ea" providerId="LiveId" clId="{3F8D13FA-782D-46A8-9A20-0EDD290AD0B4}" dt="2026-10-05T19:12:35.284" v="117"/>
        <pc:sldMkLst>
          <pc:docMk/>
          <pc:sldMk cId="3382422540" sldId="256"/>
        </pc:sldMkLst>
      </pc:sldChg>
      <pc:sldChg chg="modSp mod">
        <pc:chgData name="Vitor Stüker" userId="d009d297cc9197ea" providerId="LiveId" clId="{3F8D13FA-782D-46A8-9A20-0EDD290AD0B4}" dt="2026-10-05T19:26:06.095" v="142" actId="20577"/>
        <pc:sldMkLst>
          <pc:docMk/>
          <pc:sldMk cId="1784980829" sldId="289"/>
        </pc:sldMkLst>
        <pc:spChg chg="mod">
          <ac:chgData name="Vitor Stüker" userId="d009d297cc9197ea" providerId="LiveId" clId="{3F8D13FA-782D-46A8-9A20-0EDD290AD0B4}" dt="2026-10-05T19:26:06.095" v="142" actId="20577"/>
          <ac:spMkLst>
            <pc:docMk/>
            <pc:sldMk cId="1784980829" sldId="289"/>
            <ac:spMk id="11" creationId="{D465D8A9-B77D-7046-967A-68C9ED40E2E2}"/>
          </ac:spMkLst>
        </pc:spChg>
      </pc:sldChg>
      <pc:sldChg chg="addSp delSp modSp mod">
        <pc:chgData name="Vitor Stüker" userId="d009d297cc9197ea" providerId="LiveId" clId="{3F8D13FA-782D-46A8-9A20-0EDD290AD0B4}" dt="2026-10-05T19:35:14.946" v="163" actId="1076"/>
        <pc:sldMkLst>
          <pc:docMk/>
          <pc:sldMk cId="1721493029" sldId="291"/>
        </pc:sldMkLst>
        <pc:picChg chg="add mod">
          <ac:chgData name="Vitor Stüker" userId="d009d297cc9197ea" providerId="LiveId" clId="{3F8D13FA-782D-46A8-9A20-0EDD290AD0B4}" dt="2026-10-05T19:35:14.946" v="163" actId="1076"/>
          <ac:picMkLst>
            <pc:docMk/>
            <pc:sldMk cId="1721493029" sldId="291"/>
            <ac:picMk id="5" creationId="{E4ABE198-524A-7417-6A83-ABCE320087A4}"/>
          </ac:picMkLst>
        </pc:picChg>
      </pc:sldChg>
      <pc:sldChg chg="addSp delSp modSp mod">
        <pc:chgData name="Vitor Stüker" userId="d009d297cc9197ea" providerId="LiveId" clId="{3F8D13FA-782D-46A8-9A20-0EDD290AD0B4}" dt="2026-10-20T18:36:14.803" v="253" actId="1076"/>
        <pc:sldMkLst>
          <pc:docMk/>
          <pc:sldMk cId="3929657274" sldId="541"/>
        </pc:sldMkLst>
        <pc:spChg chg="mod">
          <ac:chgData name="Vitor Stüker" userId="d009d297cc9197ea" providerId="LiveId" clId="{3F8D13FA-782D-46A8-9A20-0EDD290AD0B4}" dt="2026-10-20T18:36:14.803" v="253" actId="1076"/>
          <ac:spMkLst>
            <pc:docMk/>
            <pc:sldMk cId="3929657274" sldId="541"/>
            <ac:spMk id="4" creationId="{6374644D-6E36-733F-CE25-534E7DCF5EC2}"/>
          </ac:spMkLst>
        </pc:spChg>
        <pc:spChg chg="add del mod">
          <ac:chgData name="Vitor Stüker" userId="d009d297cc9197ea" providerId="LiveId" clId="{3F8D13FA-782D-46A8-9A20-0EDD290AD0B4}" dt="2026-10-20T18:30:12.176" v="243" actId="22"/>
          <ac:spMkLst>
            <pc:docMk/>
            <pc:sldMk cId="3929657274" sldId="541"/>
            <ac:spMk id="14" creationId="{9F6716EF-176A-C490-848A-6047A67D1361}"/>
          </ac:spMkLst>
        </pc:spChg>
        <pc:picChg chg="mod">
          <ac:chgData name="Vitor Stüker" userId="d009d297cc9197ea" providerId="LiveId" clId="{3F8D13FA-782D-46A8-9A20-0EDD290AD0B4}" dt="2026-10-20T18:36:08.270" v="252" actId="1076"/>
          <ac:picMkLst>
            <pc:docMk/>
            <pc:sldMk cId="3929657274" sldId="541"/>
            <ac:picMk id="5" creationId="{8C416CEE-B282-3466-1E2D-A51CE4963BE9}"/>
          </ac:picMkLst>
        </pc:picChg>
      </pc:sldChg>
      <pc:sldChg chg="addSp delSp modSp mod">
        <pc:chgData name="Vitor Stüker" userId="d009d297cc9197ea" providerId="LiveId" clId="{3F8D13FA-782D-46A8-9A20-0EDD290AD0B4}" dt="2026-10-05T19:44:34.327" v="207" actId="14100"/>
        <pc:sldMkLst>
          <pc:docMk/>
          <pc:sldMk cId="3281281804" sldId="547"/>
        </pc:sldMkLst>
        <pc:spChg chg="add mod">
          <ac:chgData name="Vitor Stüker" userId="d009d297cc9197ea" providerId="LiveId" clId="{3F8D13FA-782D-46A8-9A20-0EDD290AD0B4}" dt="2026-10-05T19:44:20.609" v="201" actId="478"/>
          <ac:spMkLst>
            <pc:docMk/>
            <pc:sldMk cId="3281281804" sldId="547"/>
            <ac:spMk id="4" creationId="{E80044FF-C9DC-39BB-936D-B0DE5412D840}"/>
          </ac:spMkLst>
        </pc:spChg>
        <pc:picChg chg="add mod">
          <ac:chgData name="Vitor Stüker" userId="d009d297cc9197ea" providerId="LiveId" clId="{3F8D13FA-782D-46A8-9A20-0EDD290AD0B4}" dt="2026-10-05T19:44:34.327" v="207" actId="14100"/>
          <ac:picMkLst>
            <pc:docMk/>
            <pc:sldMk cId="3281281804" sldId="547"/>
            <ac:picMk id="12" creationId="{0320F852-B4B9-6601-0025-166CC9CA1AFA}"/>
          </ac:picMkLst>
        </pc:picChg>
      </pc:sldChg>
      <pc:sldChg chg="delSp modSp mod">
        <pc:chgData name="Vitor Stüker" userId="d009d297cc9197ea" providerId="LiveId" clId="{3F8D13FA-782D-46A8-9A20-0EDD290AD0B4}" dt="2026-10-05T19:27:39.730" v="147" actId="1076"/>
        <pc:sldMkLst>
          <pc:docMk/>
          <pc:sldMk cId="705687463" sldId="551"/>
        </pc:sldMkLst>
        <pc:spChg chg="mod">
          <ac:chgData name="Vitor Stüker" userId="d009d297cc9197ea" providerId="LiveId" clId="{3F8D13FA-782D-46A8-9A20-0EDD290AD0B4}" dt="2026-10-05T19:27:39.730" v="147" actId="1076"/>
          <ac:spMkLst>
            <pc:docMk/>
            <pc:sldMk cId="705687463" sldId="551"/>
            <ac:spMk id="6" creationId="{2177DE09-57B6-F77A-326E-683592D3200F}"/>
          </ac:spMkLst>
        </pc:spChg>
      </pc:sldChg>
      <pc:sldChg chg="modSp mod">
        <pc:chgData name="Vitor Stüker" userId="d009d297cc9197ea" providerId="LiveId" clId="{3F8D13FA-782D-46A8-9A20-0EDD290AD0B4}" dt="2026-10-19T23:40:21.322" v="215" actId="113"/>
        <pc:sldMkLst>
          <pc:docMk/>
          <pc:sldMk cId="2003544158" sldId="554"/>
        </pc:sldMkLst>
        <pc:spChg chg="mod">
          <ac:chgData name="Vitor Stüker" userId="d009d297cc9197ea" providerId="LiveId" clId="{3F8D13FA-782D-46A8-9A20-0EDD290AD0B4}" dt="2026-10-19T23:40:21.322" v="215" actId="113"/>
          <ac:spMkLst>
            <pc:docMk/>
            <pc:sldMk cId="2003544158" sldId="554"/>
            <ac:spMk id="10" creationId="{22EE5678-68AE-9B9E-7289-4F4A51C17A10}"/>
          </ac:spMkLst>
        </pc:spChg>
      </pc:sldChg>
      <pc:sldChg chg="addSp delSp modSp mod">
        <pc:chgData name="Vitor Stüker" userId="d009d297cc9197ea" providerId="LiveId" clId="{3F8D13FA-782D-46A8-9A20-0EDD290AD0B4}" dt="2026-10-05T19:18:25.164" v="127" actId="14100"/>
        <pc:sldMkLst>
          <pc:docMk/>
          <pc:sldMk cId="1107417328" sldId="572"/>
        </pc:sldMkLst>
      </pc:sldChg>
      <pc:sldChg chg="addSp delSp modSp mod">
        <pc:chgData name="Vitor Stüker" userId="d009d297cc9197ea" providerId="LiveId" clId="{3F8D13FA-782D-46A8-9A20-0EDD290AD0B4}" dt="2026-10-20T18:29:05.213" v="237" actId="22"/>
        <pc:sldMkLst>
          <pc:docMk/>
          <pc:sldMk cId="4190394831" sldId="573"/>
        </pc:sldMkLst>
        <pc:spChg chg="add del mod">
          <ac:chgData name="Vitor Stüker" userId="d009d297cc9197ea" providerId="LiveId" clId="{3F8D13FA-782D-46A8-9A20-0EDD290AD0B4}" dt="2026-10-20T18:29:05.213" v="237" actId="22"/>
          <ac:spMkLst>
            <pc:docMk/>
            <pc:sldMk cId="4190394831" sldId="573"/>
            <ac:spMk id="4" creationId="{D680C754-4133-1584-13E9-54ED3E46124B}"/>
          </ac:spMkLst>
        </pc:spChg>
      </pc:sldChg>
      <pc:sldChg chg="modSp mod">
        <pc:chgData name="Vitor Stüker" userId="d009d297cc9197ea" providerId="LiveId" clId="{3F8D13FA-782D-46A8-9A20-0EDD290AD0B4}" dt="2026-10-05T19:46:51.481" v="209" actId="20577"/>
        <pc:sldMkLst>
          <pc:docMk/>
          <pc:sldMk cId="3739489430" sldId="575"/>
        </pc:sldMkLst>
      </pc:sldChg>
      <pc:sldChg chg="modSp mod">
        <pc:chgData name="Vitor Stüker" userId="d009d297cc9197ea" providerId="LiveId" clId="{3F8D13FA-782D-46A8-9A20-0EDD290AD0B4}" dt="2026-10-05T19:26:23.104" v="144" actId="14100"/>
        <pc:sldMkLst>
          <pc:docMk/>
          <pc:sldMk cId="3892018796" sldId="576"/>
        </pc:sldMkLst>
        <pc:spChg chg="mod">
          <ac:chgData name="Vitor Stüker" userId="d009d297cc9197ea" providerId="LiveId" clId="{3F8D13FA-782D-46A8-9A20-0EDD290AD0B4}" dt="2026-10-05T19:26:23.104" v="144" actId="14100"/>
          <ac:spMkLst>
            <pc:docMk/>
            <pc:sldMk cId="3892018796" sldId="576"/>
            <ac:spMk id="4" creationId="{11A3B5B3-71DA-FA10-F83C-C85D067FF4F3}"/>
          </ac:spMkLst>
        </pc:spChg>
      </pc:sldChg>
      <pc:sldChg chg="add">
        <pc:chgData name="Vitor Stüker" userId="d009d297cc9197ea" providerId="LiveId" clId="{3F8D13FA-782D-46A8-9A20-0EDD290AD0B4}" dt="2026-10-05T19:12:28.816" v="115"/>
        <pc:sldMkLst>
          <pc:docMk/>
          <pc:sldMk cId="3979393245" sldId="5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EFFF79-EEE3-444A-9BA1-1453A65B916B}" type="datetimeFigureOut">
              <a:t>20/10/2026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DD6EE-BF3C-42FE-A967-089A0F35743B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1119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Diagrama, Desenho técnico&#10;&#10;O conteúdo gerado por IA pode estar incorreto.">
            <a:extLst>
              <a:ext uri="{FF2B5EF4-FFF2-40B4-BE49-F238E27FC236}">
                <a16:creationId xmlns:a16="http://schemas.microsoft.com/office/drawing/2014/main" id="{B12703BC-BA0D-49E1-5856-8172DFCF21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Espaço Reservado para Conteúdo 4">
            <a:extLst>
              <a:ext uri="{FF2B5EF4-FFF2-40B4-BE49-F238E27FC236}">
                <a16:creationId xmlns:a16="http://schemas.microsoft.com/office/drawing/2014/main" id="{9BA904D1-772F-4932-8EC4-AC8ABD79784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198963" y="854211"/>
            <a:ext cx="9794071" cy="2913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Roboto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CARTOLA </a:t>
            </a:r>
            <a:r>
              <a:rPr lang="pt-BR" dirty="0" err="1"/>
              <a:t>CARTOLA</a:t>
            </a:r>
            <a:endParaRPr lang="pt-BR" dirty="0"/>
          </a:p>
        </p:txBody>
      </p:sp>
      <p:sp>
        <p:nvSpPr>
          <p:cNvPr id="11" name="Espaço Reservado para Conteúdo 4">
            <a:extLst>
              <a:ext uri="{FF2B5EF4-FFF2-40B4-BE49-F238E27FC236}">
                <a16:creationId xmlns:a16="http://schemas.microsoft.com/office/drawing/2014/main" id="{798E2A19-B017-4014-9BCE-0EDA90228AE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98962" y="2685167"/>
            <a:ext cx="9794071" cy="2913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COMPLEMENTO </a:t>
            </a:r>
            <a:r>
              <a:rPr lang="pt-BR" err="1"/>
              <a:t>COMPLEMENTO</a:t>
            </a:r>
            <a:endParaRPr lang="pt-BR"/>
          </a:p>
        </p:txBody>
      </p:sp>
      <p:sp>
        <p:nvSpPr>
          <p:cNvPr id="14" name="Espaço Reservado para Conteúdo 4">
            <a:extLst>
              <a:ext uri="{FF2B5EF4-FFF2-40B4-BE49-F238E27FC236}">
                <a16:creationId xmlns:a16="http://schemas.microsoft.com/office/drawing/2014/main" id="{0FAFA1B5-CB3C-4B76-9115-38A3CFEBBED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198962" y="1376961"/>
            <a:ext cx="9794071" cy="111804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DA CAPA</a:t>
            </a:r>
          </a:p>
          <a:p>
            <a:pPr lvl="0"/>
            <a:r>
              <a:rPr lang="pt-BR" dirty="0"/>
              <a:t>TÍTULO DA CAPA</a:t>
            </a:r>
          </a:p>
        </p:txBody>
      </p:sp>
    </p:spTree>
    <p:extLst>
      <p:ext uri="{BB962C8B-B14F-4D97-AF65-F5344CB8AC3E}">
        <p14:creationId xmlns:p14="http://schemas.microsoft.com/office/powerpoint/2010/main" val="743268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Uma imagem contendo pessoa, segurando, raquete, homem&#10;&#10;O conteúdo gerado por IA pode estar incorreto.">
            <a:extLst>
              <a:ext uri="{FF2B5EF4-FFF2-40B4-BE49-F238E27FC236}">
                <a16:creationId xmlns:a16="http://schemas.microsoft.com/office/drawing/2014/main" id="{68201F9E-9442-51CA-D606-ADE185D215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Espaço Reservado para Conteúdo 4">
            <a:extLst>
              <a:ext uri="{FF2B5EF4-FFF2-40B4-BE49-F238E27FC236}">
                <a16:creationId xmlns:a16="http://schemas.microsoft.com/office/drawing/2014/main" id="{641F0451-2034-4B4C-B5BB-323C5B96055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99028" y="1721616"/>
            <a:ext cx="3848744" cy="7667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</a:t>
            </a:r>
            <a:br>
              <a:rPr lang="pt-BR" dirty="0"/>
            </a:br>
            <a:r>
              <a:rPr lang="pt-BR" dirty="0"/>
              <a:t>DE SEÇÃO</a:t>
            </a:r>
          </a:p>
        </p:txBody>
      </p:sp>
      <p:sp>
        <p:nvSpPr>
          <p:cNvPr id="13" name="Espaço Reservado para Conteúdo 4">
            <a:extLst>
              <a:ext uri="{FF2B5EF4-FFF2-40B4-BE49-F238E27FC236}">
                <a16:creationId xmlns:a16="http://schemas.microsoft.com/office/drawing/2014/main" id="{271D91BB-59F7-42EE-91A0-E9E7DAE29B4D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999026" y="2655324"/>
            <a:ext cx="3848743" cy="3288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  <a:p>
            <a:pPr lvl="0"/>
            <a:endParaRPr lang="pt-BR" dirty="0"/>
          </a:p>
          <a:p>
            <a:pPr lvl="0"/>
            <a:r>
              <a:rPr lang="pt-BR" dirty="0" err="1"/>
              <a:t>Maecenas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, </a:t>
            </a:r>
            <a:r>
              <a:rPr lang="pt-BR" dirty="0" err="1"/>
              <a:t>diam</a:t>
            </a:r>
            <a:r>
              <a:rPr lang="pt-BR" dirty="0"/>
              <a:t> vitae gravida </a:t>
            </a:r>
            <a:r>
              <a:rPr lang="pt-BR" dirty="0" err="1"/>
              <a:t>congue</a:t>
            </a:r>
            <a:r>
              <a:rPr lang="pt-BR" dirty="0"/>
              <a:t>, est sem </a:t>
            </a:r>
            <a:r>
              <a:rPr lang="pt-BR" dirty="0" err="1"/>
              <a:t>auctor</a:t>
            </a:r>
            <a:r>
              <a:rPr lang="pt-BR" dirty="0"/>
              <a:t> </a:t>
            </a:r>
            <a:r>
              <a:rPr lang="pt-BR" dirty="0" err="1"/>
              <a:t>orci</a:t>
            </a:r>
            <a:r>
              <a:rPr lang="pt-BR" dirty="0"/>
              <a:t>,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 </a:t>
            </a:r>
            <a:r>
              <a:rPr lang="pt-BR" dirty="0" err="1"/>
              <a:t>ullamcorper</a:t>
            </a:r>
            <a:r>
              <a:rPr lang="pt-BR" dirty="0"/>
              <a:t> sem </a:t>
            </a:r>
            <a:r>
              <a:rPr lang="pt-BR" dirty="0" err="1"/>
              <a:t>orci</a:t>
            </a:r>
            <a:r>
              <a:rPr lang="pt-BR" dirty="0"/>
              <a:t> in </a:t>
            </a:r>
            <a:r>
              <a:rPr lang="pt-BR" dirty="0" err="1"/>
              <a:t>tellus</a:t>
            </a:r>
            <a:r>
              <a:rPr lang="pt-BR" dirty="0"/>
              <a:t>. </a:t>
            </a:r>
            <a:r>
              <a:rPr lang="pt-BR" dirty="0" err="1"/>
              <a:t>Pellentesque</a:t>
            </a:r>
            <a:r>
              <a:rPr lang="pt-BR" dirty="0"/>
              <a:t> </a:t>
            </a:r>
            <a:r>
              <a:rPr lang="pt-BR" dirty="0" err="1"/>
              <a:t>habitant</a:t>
            </a:r>
            <a:r>
              <a:rPr lang="pt-BR" dirty="0"/>
              <a:t>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tristique</a:t>
            </a:r>
            <a:r>
              <a:rPr lang="pt-BR" dirty="0"/>
              <a:t> </a:t>
            </a:r>
            <a:r>
              <a:rPr lang="pt-BR" dirty="0" err="1"/>
              <a:t>senectus</a:t>
            </a:r>
            <a:r>
              <a:rPr lang="pt-BR" dirty="0"/>
              <a:t> et </a:t>
            </a:r>
            <a:r>
              <a:rPr lang="pt-BR" dirty="0" err="1"/>
              <a:t>netus</a:t>
            </a:r>
            <a:r>
              <a:rPr lang="pt-BR" dirty="0"/>
              <a:t> et </a:t>
            </a:r>
            <a:r>
              <a:rPr lang="pt-BR" dirty="0" err="1"/>
              <a:t>malesuada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8615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Forma&#10;&#10;O conteúdo gerado por IA pode estar incorreto.">
            <a:extLst>
              <a:ext uri="{FF2B5EF4-FFF2-40B4-BE49-F238E27FC236}">
                <a16:creationId xmlns:a16="http://schemas.microsoft.com/office/drawing/2014/main" id="{9D5AB3BD-B97C-7B52-83A2-3E5D5CD519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883A4AD6-7C2F-6DE8-E4EB-27627E6153B2}"/>
              </a:ext>
            </a:extLst>
          </p:cNvPr>
          <p:cNvCxnSpPr>
            <a:cxnSpLocks/>
          </p:cNvCxnSpPr>
          <p:nvPr userDrawn="1"/>
        </p:nvCxnSpPr>
        <p:spPr>
          <a:xfrm>
            <a:off x="5161560" y="3216203"/>
            <a:ext cx="5574224" cy="0"/>
          </a:xfrm>
          <a:prstGeom prst="straightConnector1">
            <a:avLst/>
          </a:prstGeom>
          <a:ln w="19050"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D832A813-B17C-DC29-723C-8DADDB8A2DE0}"/>
              </a:ext>
            </a:extLst>
          </p:cNvPr>
          <p:cNvCxnSpPr>
            <a:cxnSpLocks/>
          </p:cNvCxnSpPr>
          <p:nvPr userDrawn="1"/>
        </p:nvCxnSpPr>
        <p:spPr>
          <a:xfrm>
            <a:off x="5161560" y="3666615"/>
            <a:ext cx="5574224" cy="0"/>
          </a:xfrm>
          <a:prstGeom prst="straightConnector1">
            <a:avLst/>
          </a:prstGeom>
          <a:ln w="19050"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7950EE94-C4C8-17C8-8A38-D10AC5A0870E}"/>
              </a:ext>
            </a:extLst>
          </p:cNvPr>
          <p:cNvCxnSpPr>
            <a:cxnSpLocks/>
          </p:cNvCxnSpPr>
          <p:nvPr userDrawn="1"/>
        </p:nvCxnSpPr>
        <p:spPr>
          <a:xfrm>
            <a:off x="5161560" y="4078129"/>
            <a:ext cx="5574224" cy="0"/>
          </a:xfrm>
          <a:prstGeom prst="straightConnector1">
            <a:avLst/>
          </a:prstGeom>
          <a:ln w="19050"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A8422CA4-13D9-5447-94BF-81DFA61CFA8C}"/>
              </a:ext>
            </a:extLst>
          </p:cNvPr>
          <p:cNvSpPr/>
          <p:nvPr userDrawn="1"/>
        </p:nvSpPr>
        <p:spPr>
          <a:xfrm>
            <a:off x="5057617" y="2922847"/>
            <a:ext cx="5277795" cy="537509"/>
          </a:xfrm>
          <a:prstGeom prst="roundRect">
            <a:avLst>
              <a:gd name="adj" fmla="val 50000"/>
            </a:avLst>
          </a:prstGeom>
          <a:solidFill>
            <a:srgbClr val="432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CF33C47C-7543-6136-48FE-FFD7D5569582}"/>
              </a:ext>
            </a:extLst>
          </p:cNvPr>
          <p:cNvSpPr/>
          <p:nvPr userDrawn="1"/>
        </p:nvSpPr>
        <p:spPr>
          <a:xfrm>
            <a:off x="6067590" y="3387232"/>
            <a:ext cx="4267822" cy="537511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800FC918-C448-6DF0-E954-B06797063FAB}"/>
              </a:ext>
            </a:extLst>
          </p:cNvPr>
          <p:cNvSpPr/>
          <p:nvPr userDrawn="1"/>
        </p:nvSpPr>
        <p:spPr>
          <a:xfrm>
            <a:off x="7000073" y="3784591"/>
            <a:ext cx="3335340" cy="537512"/>
          </a:xfrm>
          <a:prstGeom prst="roundRect">
            <a:avLst>
              <a:gd name="adj" fmla="val 50000"/>
            </a:avLst>
          </a:prstGeom>
          <a:solidFill>
            <a:srgbClr val="2652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Espaço Reservado para Conteúdo 4">
            <a:extLst>
              <a:ext uri="{FF2B5EF4-FFF2-40B4-BE49-F238E27FC236}">
                <a16:creationId xmlns:a16="http://schemas.microsoft.com/office/drawing/2014/main" id="{756E2B9B-2FC7-4B61-8475-1E6F5501EE2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927463" y="1164272"/>
            <a:ext cx="10345783" cy="494711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6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</a:t>
            </a:r>
            <a:r>
              <a:rPr lang="pt-BR" dirty="0" err="1"/>
              <a:t>TÍTULO</a:t>
            </a:r>
            <a:r>
              <a:rPr lang="pt-BR" dirty="0"/>
              <a:t> </a:t>
            </a:r>
            <a:r>
              <a:rPr lang="pt-BR" dirty="0" err="1"/>
              <a:t>TÍTULO</a:t>
            </a:r>
            <a:endParaRPr lang="pt-BR" dirty="0"/>
          </a:p>
        </p:txBody>
      </p:sp>
      <p:sp>
        <p:nvSpPr>
          <p:cNvPr id="21" name="Espaço Reservado para Conteúdo 4">
            <a:extLst>
              <a:ext uri="{FF2B5EF4-FFF2-40B4-BE49-F238E27FC236}">
                <a16:creationId xmlns:a16="http://schemas.microsoft.com/office/drawing/2014/main" id="{3B400B1A-A24E-4444-BD47-E24B33C087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62141" y="2178956"/>
            <a:ext cx="3050460" cy="28756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Roboto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  <a:p>
            <a:pPr lvl="0"/>
            <a:endParaRPr lang="pt-BR" dirty="0"/>
          </a:p>
          <a:p>
            <a:pPr lvl="0"/>
            <a:r>
              <a:rPr lang="pt-BR" dirty="0" err="1"/>
              <a:t>Maecenas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, </a:t>
            </a:r>
            <a:r>
              <a:rPr lang="pt-BR" dirty="0" err="1"/>
              <a:t>diam</a:t>
            </a:r>
            <a:r>
              <a:rPr lang="pt-BR" dirty="0"/>
              <a:t> vitae gravida </a:t>
            </a:r>
            <a:r>
              <a:rPr lang="pt-BR" dirty="0" err="1"/>
              <a:t>congue</a:t>
            </a:r>
            <a:r>
              <a:rPr lang="pt-BR" dirty="0"/>
              <a:t>, est sem </a:t>
            </a:r>
            <a:r>
              <a:rPr lang="pt-BR" dirty="0" err="1"/>
              <a:t>auctor</a:t>
            </a:r>
            <a:r>
              <a:rPr lang="pt-BR" dirty="0"/>
              <a:t> </a:t>
            </a:r>
            <a:r>
              <a:rPr lang="pt-BR" dirty="0" err="1"/>
              <a:t>orci</a:t>
            </a:r>
            <a:r>
              <a:rPr lang="pt-BR" dirty="0"/>
              <a:t>,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 </a:t>
            </a:r>
            <a:r>
              <a:rPr lang="pt-BR" dirty="0" err="1"/>
              <a:t>ullamcorper</a:t>
            </a:r>
            <a:r>
              <a:rPr lang="pt-BR" dirty="0"/>
              <a:t> sem </a:t>
            </a:r>
            <a:r>
              <a:rPr lang="pt-BR" dirty="0" err="1"/>
              <a:t>orci</a:t>
            </a:r>
            <a:r>
              <a:rPr lang="pt-BR" dirty="0"/>
              <a:t> in </a:t>
            </a:r>
            <a:r>
              <a:rPr lang="pt-BR" dirty="0" err="1"/>
              <a:t>tellus</a:t>
            </a:r>
            <a:r>
              <a:rPr lang="pt-BR" dirty="0"/>
              <a:t>. </a:t>
            </a:r>
            <a:r>
              <a:rPr lang="pt-BR" dirty="0" err="1"/>
              <a:t>Pellentesque</a:t>
            </a:r>
            <a:r>
              <a:rPr lang="pt-BR" dirty="0"/>
              <a:t> </a:t>
            </a:r>
            <a:r>
              <a:rPr lang="pt-BR" dirty="0" err="1"/>
              <a:t>habitant</a:t>
            </a:r>
            <a:r>
              <a:rPr lang="pt-BR" dirty="0"/>
              <a:t>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tristique</a:t>
            </a:r>
            <a:r>
              <a:rPr lang="pt-BR" dirty="0"/>
              <a:t> </a:t>
            </a:r>
            <a:r>
              <a:rPr lang="pt-BR" dirty="0" err="1"/>
              <a:t>senectus</a:t>
            </a:r>
            <a:r>
              <a:rPr lang="pt-BR" dirty="0"/>
              <a:t> et </a:t>
            </a:r>
            <a:r>
              <a:rPr lang="pt-BR" dirty="0" err="1"/>
              <a:t>netus</a:t>
            </a:r>
            <a:r>
              <a:rPr lang="pt-BR" dirty="0"/>
              <a:t> et </a:t>
            </a:r>
            <a:r>
              <a:rPr lang="pt-BR" dirty="0" err="1"/>
              <a:t>malesuada</a:t>
            </a:r>
            <a:r>
              <a:rPr lang="pt-BR" dirty="0"/>
              <a:t>.</a:t>
            </a:r>
          </a:p>
        </p:txBody>
      </p:sp>
      <p:sp>
        <p:nvSpPr>
          <p:cNvPr id="25" name="Espaço Reservado para Conteúdo 4">
            <a:extLst>
              <a:ext uri="{FF2B5EF4-FFF2-40B4-BE49-F238E27FC236}">
                <a16:creationId xmlns:a16="http://schemas.microsoft.com/office/drawing/2014/main" id="{9DA28D68-018D-419D-A736-E64ACB9206E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208200" y="3032630"/>
            <a:ext cx="4850199" cy="30737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  <a:latin typeface="Roboto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Item 1</a:t>
            </a:r>
          </a:p>
        </p:txBody>
      </p:sp>
      <p:sp>
        <p:nvSpPr>
          <p:cNvPr id="26" name="Espaço Reservado para Conteúdo 4">
            <a:extLst>
              <a:ext uri="{FF2B5EF4-FFF2-40B4-BE49-F238E27FC236}">
                <a16:creationId xmlns:a16="http://schemas.microsoft.com/office/drawing/2014/main" id="{431D2614-3827-4A58-A31E-D9102D6BE68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42644" y="3500419"/>
            <a:ext cx="3815756" cy="3361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  <a:latin typeface="Roboto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Item 1</a:t>
            </a:r>
          </a:p>
        </p:txBody>
      </p:sp>
      <p:sp>
        <p:nvSpPr>
          <p:cNvPr id="27" name="Espaço Reservado para Conteúdo 4">
            <a:extLst>
              <a:ext uri="{FF2B5EF4-FFF2-40B4-BE49-F238E27FC236}">
                <a16:creationId xmlns:a16="http://schemas.microsoft.com/office/drawing/2014/main" id="{5E3BB5D0-837A-4037-AC95-AB1D4F64986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120214" y="3902767"/>
            <a:ext cx="2938185" cy="3361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  <a:latin typeface="Roboto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Item 1</a:t>
            </a:r>
          </a:p>
        </p:txBody>
      </p:sp>
    </p:spTree>
    <p:extLst>
      <p:ext uri="{BB962C8B-B14F-4D97-AF65-F5344CB8AC3E}">
        <p14:creationId xmlns:p14="http://schemas.microsoft.com/office/powerpoint/2010/main" val="1923941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8F673DBA-CB69-50BD-F973-A9E3A3FE152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Espaço Reservado para Conteúdo 4">
            <a:extLst>
              <a:ext uri="{FF2B5EF4-FFF2-40B4-BE49-F238E27FC236}">
                <a16:creationId xmlns:a16="http://schemas.microsoft.com/office/drawing/2014/main" id="{6BE41F8E-4F22-46F6-B0AE-D58832BE3FC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637006" y="780986"/>
            <a:ext cx="4391941" cy="111804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000">
                <a:solidFill>
                  <a:schemeClr val="bg1">
                    <a:lumMod val="8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NOME </a:t>
            </a:r>
            <a:br>
              <a:rPr lang="pt-BR" dirty="0"/>
            </a:br>
            <a:r>
              <a:rPr lang="pt-BR" dirty="0"/>
              <a:t>DA SEÇÃO</a:t>
            </a:r>
          </a:p>
        </p:txBody>
      </p:sp>
      <p:sp>
        <p:nvSpPr>
          <p:cNvPr id="18" name="Espaço Reservado para Conteúdo 4">
            <a:extLst>
              <a:ext uri="{FF2B5EF4-FFF2-40B4-BE49-F238E27FC236}">
                <a16:creationId xmlns:a16="http://schemas.microsoft.com/office/drawing/2014/main" id="{180BB7B2-EE70-4E52-A5A7-0F7F00EFB29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37006" y="2245217"/>
            <a:ext cx="3848744" cy="31619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4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INTERTÍTULO 1</a:t>
            </a:r>
          </a:p>
        </p:txBody>
      </p:sp>
      <p:sp>
        <p:nvSpPr>
          <p:cNvPr id="19" name="Espaço Reservado para Conteúdo 4">
            <a:extLst>
              <a:ext uri="{FF2B5EF4-FFF2-40B4-BE49-F238E27FC236}">
                <a16:creationId xmlns:a16="http://schemas.microsoft.com/office/drawing/2014/main" id="{664A7BCC-13C8-4944-BAC9-E32ACD6D1E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37006" y="2589090"/>
            <a:ext cx="3859001" cy="13245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22" name="Espaço Reservado para Conteúdo 4">
            <a:extLst>
              <a:ext uri="{FF2B5EF4-FFF2-40B4-BE49-F238E27FC236}">
                <a16:creationId xmlns:a16="http://schemas.microsoft.com/office/drawing/2014/main" id="{D2F372CA-7A81-4DC0-9C08-38BBC4518D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637006" y="4362546"/>
            <a:ext cx="3848744" cy="31619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4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INTERTÍTULO 2</a:t>
            </a:r>
          </a:p>
        </p:txBody>
      </p:sp>
      <p:sp>
        <p:nvSpPr>
          <p:cNvPr id="23" name="Espaço Reservado para Conteúdo 4">
            <a:extLst>
              <a:ext uri="{FF2B5EF4-FFF2-40B4-BE49-F238E27FC236}">
                <a16:creationId xmlns:a16="http://schemas.microsoft.com/office/drawing/2014/main" id="{99641B3D-FFEC-4170-9DE3-5965CE430DC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637006" y="4706419"/>
            <a:ext cx="3859001" cy="13245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82311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Forma&#10;&#10;O conteúdo gerado por IA pode estar incorreto.">
            <a:extLst>
              <a:ext uri="{FF2B5EF4-FFF2-40B4-BE49-F238E27FC236}">
                <a16:creationId xmlns:a16="http://schemas.microsoft.com/office/drawing/2014/main" id="{3C9A769A-63A3-DE23-592B-55245BC352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750"/>
            <a:ext cx="12192000" cy="6866749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1E1C6F54-8EED-6A4A-951E-8F53058EBB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61271" y="5963677"/>
            <a:ext cx="531242" cy="531242"/>
          </a:xfrm>
          <a:prstGeom prst="rect">
            <a:avLst/>
          </a:prstGeom>
        </p:spPr>
      </p:pic>
      <p:sp>
        <p:nvSpPr>
          <p:cNvPr id="7" name="Espaço Reservado para Conteúdo 4">
            <a:extLst>
              <a:ext uri="{FF2B5EF4-FFF2-40B4-BE49-F238E27FC236}">
                <a16:creationId xmlns:a16="http://schemas.microsoft.com/office/drawing/2014/main" id="{39251BE9-618E-42E3-99D7-A7567BEAC4F4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92701" y="2865601"/>
            <a:ext cx="3927494" cy="111804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</a:t>
            </a:r>
          </a:p>
          <a:p>
            <a:pPr lvl="0"/>
            <a:r>
              <a:rPr lang="pt-BR" dirty="0"/>
              <a:t>TÍTULO</a:t>
            </a:r>
          </a:p>
        </p:txBody>
      </p:sp>
      <p:sp>
        <p:nvSpPr>
          <p:cNvPr id="9" name="Espaço Reservado para Conteúdo 4">
            <a:extLst>
              <a:ext uri="{FF2B5EF4-FFF2-40B4-BE49-F238E27FC236}">
                <a16:creationId xmlns:a16="http://schemas.microsoft.com/office/drawing/2014/main" id="{37BB87C6-3A52-4563-8FED-B6B3781BF21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2701" y="794269"/>
            <a:ext cx="3927494" cy="111804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000">
                <a:solidFill>
                  <a:schemeClr val="bg1">
                    <a:lumMod val="8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</a:t>
            </a:r>
          </a:p>
          <a:p>
            <a:pPr lvl="0"/>
            <a:r>
              <a:rPr lang="pt-BR" dirty="0"/>
              <a:t>TÍTULO</a:t>
            </a:r>
          </a:p>
        </p:txBody>
      </p:sp>
      <p:sp>
        <p:nvSpPr>
          <p:cNvPr id="16" name="Espaço Reservado para Conteúdo 4">
            <a:extLst>
              <a:ext uri="{FF2B5EF4-FFF2-40B4-BE49-F238E27FC236}">
                <a16:creationId xmlns:a16="http://schemas.microsoft.com/office/drawing/2014/main" id="{74A45D75-7A9C-404D-BDF7-39D938D9204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31687" y="2271833"/>
            <a:ext cx="3927494" cy="1118045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Tx/>
              <a:buChar char="•"/>
              <a:defRPr sz="1600">
                <a:solidFill>
                  <a:schemeClr val="bg1">
                    <a:lumMod val="85000"/>
                  </a:schemeClr>
                </a:solidFill>
                <a:latin typeface="Roboto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ITEM 1</a:t>
            </a:r>
          </a:p>
          <a:p>
            <a:pPr lvl="0"/>
            <a:r>
              <a:rPr lang="pt-BR" dirty="0"/>
              <a:t>ITEM 2</a:t>
            </a:r>
          </a:p>
          <a:p>
            <a:pPr lvl="0"/>
            <a:r>
              <a:rPr lang="pt-BR" dirty="0"/>
              <a:t>ITEM 3</a:t>
            </a:r>
          </a:p>
          <a:p>
            <a:pPr lvl="0"/>
            <a:r>
              <a:rPr lang="pt-BR" dirty="0"/>
              <a:t>ITEM 4</a:t>
            </a:r>
          </a:p>
          <a:p>
            <a:pPr lvl="0"/>
            <a:r>
              <a:rPr lang="pt-BR" dirty="0"/>
              <a:t>ITEM 5</a:t>
            </a:r>
          </a:p>
          <a:p>
            <a:pPr lvl="0"/>
            <a:r>
              <a:rPr lang="pt-BR" dirty="0"/>
              <a:t>ITEM 6</a:t>
            </a:r>
          </a:p>
          <a:p>
            <a:pPr lvl="0"/>
            <a:r>
              <a:rPr lang="pt-BR" dirty="0"/>
              <a:t>ITEM 7</a:t>
            </a:r>
          </a:p>
        </p:txBody>
      </p:sp>
    </p:spTree>
    <p:extLst>
      <p:ext uri="{BB962C8B-B14F-4D97-AF65-F5344CB8AC3E}">
        <p14:creationId xmlns:p14="http://schemas.microsoft.com/office/powerpoint/2010/main" val="3467792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A036B0A-933A-2985-8269-6345DAD892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Espaço Reservado para Conteúdo 4">
            <a:extLst>
              <a:ext uri="{FF2B5EF4-FFF2-40B4-BE49-F238E27FC236}">
                <a16:creationId xmlns:a16="http://schemas.microsoft.com/office/drawing/2014/main" id="{45D534F8-C499-4401-B371-2922E2FC60F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815738" y="2608895"/>
            <a:ext cx="9013371" cy="82010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80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8" name="Espaço Reservado para Conteúdo 4">
            <a:extLst>
              <a:ext uri="{FF2B5EF4-FFF2-40B4-BE49-F238E27FC236}">
                <a16:creationId xmlns:a16="http://schemas.microsoft.com/office/drawing/2014/main" id="{BB3FE49F-E596-4FC6-AC93-7944FFF7244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971518" y="3526859"/>
            <a:ext cx="6851751" cy="235142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Roboto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62264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Ícone&#10;&#10;O conteúdo gerado por IA pode estar incorreto.">
            <a:extLst>
              <a:ext uri="{FF2B5EF4-FFF2-40B4-BE49-F238E27FC236}">
                <a16:creationId xmlns:a16="http://schemas.microsoft.com/office/drawing/2014/main" id="{AF2EB98D-EF35-397E-FA18-F906466EB5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Espaço Reservado para Conteúdo 4">
            <a:extLst>
              <a:ext uri="{FF2B5EF4-FFF2-40B4-BE49-F238E27FC236}">
                <a16:creationId xmlns:a16="http://schemas.microsoft.com/office/drawing/2014/main" id="{2B6F4DD1-33F3-4B49-95ED-C95B61876CA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76376" y="3916012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21" name="Espaço Reservado para Conteúdo 4">
            <a:extLst>
              <a:ext uri="{FF2B5EF4-FFF2-40B4-BE49-F238E27FC236}">
                <a16:creationId xmlns:a16="http://schemas.microsoft.com/office/drawing/2014/main" id="{141E17BE-679D-4780-A50B-95ABDEA8341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76375" y="3083044"/>
            <a:ext cx="2819400" cy="785342"/>
          </a:xfrm>
          <a:prstGeom prst="rect">
            <a:avLst/>
          </a:prstGeo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INTERTÍTULO</a:t>
            </a:r>
            <a:br>
              <a:rPr lang="pt-BR" dirty="0"/>
            </a:br>
            <a:r>
              <a:rPr lang="pt-BR" dirty="0" err="1"/>
              <a:t>INTERTÍTULO</a:t>
            </a:r>
            <a:endParaRPr lang="pt-BR" dirty="0"/>
          </a:p>
        </p:txBody>
      </p:sp>
      <p:sp>
        <p:nvSpPr>
          <p:cNvPr id="24" name="Espaço Reservado para Conteúdo 4">
            <a:extLst>
              <a:ext uri="{FF2B5EF4-FFF2-40B4-BE49-F238E27FC236}">
                <a16:creationId xmlns:a16="http://schemas.microsoft.com/office/drawing/2014/main" id="{BB3C5678-B5DE-4BCA-900A-F36CE17308F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800601" y="4823953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25" name="Espaço Reservado para Conteúdo 4">
            <a:extLst>
              <a:ext uri="{FF2B5EF4-FFF2-40B4-BE49-F238E27FC236}">
                <a16:creationId xmlns:a16="http://schemas.microsoft.com/office/drawing/2014/main" id="{063FB4E0-9626-4EF4-806F-71DFF51C651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800600" y="3990985"/>
            <a:ext cx="2819400" cy="785342"/>
          </a:xfrm>
          <a:prstGeom prst="rect">
            <a:avLst/>
          </a:prstGeo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INTERTÍTULO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INTERTÍTULO</a:t>
            </a:r>
          </a:p>
        </p:txBody>
      </p:sp>
      <p:sp>
        <p:nvSpPr>
          <p:cNvPr id="26" name="Espaço Reservado para Conteúdo 4">
            <a:extLst>
              <a:ext uri="{FF2B5EF4-FFF2-40B4-BE49-F238E27FC236}">
                <a16:creationId xmlns:a16="http://schemas.microsoft.com/office/drawing/2014/main" id="{188B0BB6-CE3D-4850-B5D3-213A7B0CB16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4825" y="3122148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27" name="Espaço Reservado para Conteúdo 4">
            <a:extLst>
              <a:ext uri="{FF2B5EF4-FFF2-40B4-BE49-F238E27FC236}">
                <a16:creationId xmlns:a16="http://schemas.microsoft.com/office/drawing/2014/main" id="{07A0879C-E9A3-4A48-A4AC-1DE60387F7C4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24824" y="2289180"/>
            <a:ext cx="2819400" cy="785342"/>
          </a:xfrm>
          <a:prstGeom prst="rect">
            <a:avLst/>
          </a:prstGeo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INTERTÍTULO</a:t>
            </a:r>
            <a:br>
              <a:rPr lang="pt-BR" dirty="0"/>
            </a:br>
            <a:r>
              <a:rPr lang="pt-BR" dirty="0" err="1"/>
              <a:t>INTERTÍTULO</a:t>
            </a:r>
            <a:endParaRPr lang="pt-BR" dirty="0"/>
          </a:p>
        </p:txBody>
      </p:sp>
      <p:sp>
        <p:nvSpPr>
          <p:cNvPr id="28" name="Espaço Reservado para Conteúdo 4">
            <a:extLst>
              <a:ext uri="{FF2B5EF4-FFF2-40B4-BE49-F238E27FC236}">
                <a16:creationId xmlns:a16="http://schemas.microsoft.com/office/drawing/2014/main" id="{C93AF59E-0B59-41F7-8D76-870509D7AAF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85455" y="1040475"/>
            <a:ext cx="6734546" cy="111804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DO SLIDE</a:t>
            </a:r>
          </a:p>
          <a:p>
            <a:pPr lvl="0"/>
            <a:r>
              <a:rPr lang="pt-BR" dirty="0"/>
              <a:t>TÍTULO DO SLIDE</a:t>
            </a:r>
          </a:p>
        </p:txBody>
      </p:sp>
    </p:spTree>
    <p:extLst>
      <p:ext uri="{BB962C8B-B14F-4D97-AF65-F5344CB8AC3E}">
        <p14:creationId xmlns:p14="http://schemas.microsoft.com/office/powerpoint/2010/main" val="3355958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m 25" descr="Forma&#10;&#10;O conteúdo gerado por IA pode estar incorreto.">
            <a:extLst>
              <a:ext uri="{FF2B5EF4-FFF2-40B4-BE49-F238E27FC236}">
                <a16:creationId xmlns:a16="http://schemas.microsoft.com/office/drawing/2014/main" id="{412108E6-D36D-1E5D-A463-5DB8DA6A1B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Espaço Reservado para Conteúdo 4">
            <a:extLst>
              <a:ext uri="{FF2B5EF4-FFF2-40B4-BE49-F238E27FC236}">
                <a16:creationId xmlns:a16="http://schemas.microsoft.com/office/drawing/2014/main" id="{82B24A9D-A588-4551-9139-9C6E041076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91887" y="378824"/>
            <a:ext cx="4602014" cy="612648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</a:t>
            </a:r>
            <a:br>
              <a:rPr lang="pt-BR" dirty="0"/>
            </a:br>
            <a:r>
              <a:rPr lang="pt-BR" dirty="0" err="1"/>
              <a:t>TÍTULO</a:t>
            </a:r>
            <a:endParaRPr lang="pt-BR" dirty="0"/>
          </a:p>
          <a:p>
            <a:pPr lvl="0"/>
            <a:r>
              <a:rPr lang="pt-BR" dirty="0"/>
              <a:t>TÍTULO</a:t>
            </a:r>
          </a:p>
        </p:txBody>
      </p:sp>
      <p:sp>
        <p:nvSpPr>
          <p:cNvPr id="24" name="Espaço Reservado para Conteúdo 4">
            <a:extLst>
              <a:ext uri="{FF2B5EF4-FFF2-40B4-BE49-F238E27FC236}">
                <a16:creationId xmlns:a16="http://schemas.microsoft.com/office/drawing/2014/main" id="{A21AE171-2175-4DAD-8189-61FFCBDB02B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392643" y="616721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1</a:t>
            </a:r>
          </a:p>
        </p:txBody>
      </p:sp>
      <p:sp>
        <p:nvSpPr>
          <p:cNvPr id="25" name="Espaço Reservado para Conteúdo 4">
            <a:extLst>
              <a:ext uri="{FF2B5EF4-FFF2-40B4-BE49-F238E27FC236}">
                <a16:creationId xmlns:a16="http://schemas.microsoft.com/office/drawing/2014/main" id="{56D3D759-453E-442D-AEC3-0FFF411B48A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788311" y="1023583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48" name="Espaço Reservado para Conteúdo 4">
            <a:extLst>
              <a:ext uri="{FF2B5EF4-FFF2-40B4-BE49-F238E27FC236}">
                <a16:creationId xmlns:a16="http://schemas.microsoft.com/office/drawing/2014/main" id="{8C3073B7-3423-46D9-8011-B23D48EB961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96653" y="616721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2</a:t>
            </a:r>
          </a:p>
        </p:txBody>
      </p:sp>
      <p:sp>
        <p:nvSpPr>
          <p:cNvPr id="49" name="Espaço Reservado para Conteúdo 4">
            <a:extLst>
              <a:ext uri="{FF2B5EF4-FFF2-40B4-BE49-F238E27FC236}">
                <a16:creationId xmlns:a16="http://schemas.microsoft.com/office/drawing/2014/main" id="{79C9CBE2-F540-4408-8EB3-A373311F163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792321" y="1023583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50" name="Espaço Reservado para Conteúdo 4">
            <a:extLst>
              <a:ext uri="{FF2B5EF4-FFF2-40B4-BE49-F238E27FC236}">
                <a16:creationId xmlns:a16="http://schemas.microsoft.com/office/drawing/2014/main" id="{7534DFE6-358C-4FF5-B3B9-6C34B078177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388289" y="2066007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3</a:t>
            </a:r>
          </a:p>
        </p:txBody>
      </p:sp>
      <p:sp>
        <p:nvSpPr>
          <p:cNvPr id="51" name="Espaço Reservado para Conteúdo 4">
            <a:extLst>
              <a:ext uri="{FF2B5EF4-FFF2-40B4-BE49-F238E27FC236}">
                <a16:creationId xmlns:a16="http://schemas.microsoft.com/office/drawing/2014/main" id="{2D4FC50B-1040-4A33-9D53-F74DFB48C83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783957" y="2472869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52" name="Espaço Reservado para Conteúdo 4">
            <a:extLst>
              <a:ext uri="{FF2B5EF4-FFF2-40B4-BE49-F238E27FC236}">
                <a16:creationId xmlns:a16="http://schemas.microsoft.com/office/drawing/2014/main" id="{F847EBBC-8153-4D80-BBEA-981CCB037D6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392299" y="2066007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4</a:t>
            </a:r>
          </a:p>
        </p:txBody>
      </p:sp>
      <p:sp>
        <p:nvSpPr>
          <p:cNvPr id="53" name="Espaço Reservado para Conteúdo 4">
            <a:extLst>
              <a:ext uri="{FF2B5EF4-FFF2-40B4-BE49-F238E27FC236}">
                <a16:creationId xmlns:a16="http://schemas.microsoft.com/office/drawing/2014/main" id="{170C864E-D912-46D5-B580-C79231F833A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787967" y="2472869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54" name="Espaço Reservado para Conteúdo 4">
            <a:extLst>
              <a:ext uri="{FF2B5EF4-FFF2-40B4-BE49-F238E27FC236}">
                <a16:creationId xmlns:a16="http://schemas.microsoft.com/office/drawing/2014/main" id="{C4786A3E-B372-4DCC-B4F6-D10391BC6344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392643" y="3515293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5</a:t>
            </a:r>
          </a:p>
        </p:txBody>
      </p:sp>
      <p:sp>
        <p:nvSpPr>
          <p:cNvPr id="55" name="Espaço Reservado para Conteúdo 4">
            <a:extLst>
              <a:ext uri="{FF2B5EF4-FFF2-40B4-BE49-F238E27FC236}">
                <a16:creationId xmlns:a16="http://schemas.microsoft.com/office/drawing/2014/main" id="{B330D9FC-3804-478B-8B2F-BD1D550EB72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5788311" y="3922155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56" name="Espaço Reservado para Conteúdo 4">
            <a:extLst>
              <a:ext uri="{FF2B5EF4-FFF2-40B4-BE49-F238E27FC236}">
                <a16:creationId xmlns:a16="http://schemas.microsoft.com/office/drawing/2014/main" id="{AADC77ED-B602-4D58-BF71-D63985E8F86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396653" y="3515293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6</a:t>
            </a:r>
          </a:p>
        </p:txBody>
      </p:sp>
      <p:sp>
        <p:nvSpPr>
          <p:cNvPr id="57" name="Espaço Reservado para Conteúdo 4">
            <a:extLst>
              <a:ext uri="{FF2B5EF4-FFF2-40B4-BE49-F238E27FC236}">
                <a16:creationId xmlns:a16="http://schemas.microsoft.com/office/drawing/2014/main" id="{E912F27E-5DAD-40E4-A876-B9139A7C4862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792321" y="3922155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58" name="Espaço Reservado para Conteúdo 4">
            <a:extLst>
              <a:ext uri="{FF2B5EF4-FFF2-40B4-BE49-F238E27FC236}">
                <a16:creationId xmlns:a16="http://schemas.microsoft.com/office/drawing/2014/main" id="{70F43E27-89B9-4AFE-9DB9-4B4A0555AEDA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5388289" y="4964579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7</a:t>
            </a:r>
          </a:p>
        </p:txBody>
      </p:sp>
      <p:sp>
        <p:nvSpPr>
          <p:cNvPr id="59" name="Espaço Reservado para Conteúdo 4">
            <a:extLst>
              <a:ext uri="{FF2B5EF4-FFF2-40B4-BE49-F238E27FC236}">
                <a16:creationId xmlns:a16="http://schemas.microsoft.com/office/drawing/2014/main" id="{7891A22C-0D7C-4E4E-B231-0A73D868DAF9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5783957" y="5371441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60" name="Espaço Reservado para Conteúdo 4">
            <a:extLst>
              <a:ext uri="{FF2B5EF4-FFF2-40B4-BE49-F238E27FC236}">
                <a16:creationId xmlns:a16="http://schemas.microsoft.com/office/drawing/2014/main" id="{9AA294D8-A530-4C47-987A-7D029688897B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392299" y="4964579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8</a:t>
            </a:r>
          </a:p>
        </p:txBody>
      </p:sp>
      <p:sp>
        <p:nvSpPr>
          <p:cNvPr id="61" name="Espaço Reservado para Conteúdo 4">
            <a:extLst>
              <a:ext uri="{FF2B5EF4-FFF2-40B4-BE49-F238E27FC236}">
                <a16:creationId xmlns:a16="http://schemas.microsoft.com/office/drawing/2014/main" id="{14C76703-4040-4320-BD4F-1DD7CBE8C563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8787967" y="5371441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563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>
            <a:extLst>
              <a:ext uri="{FF2B5EF4-FFF2-40B4-BE49-F238E27FC236}">
                <a16:creationId xmlns:a16="http://schemas.microsoft.com/office/drawing/2014/main" id="{C8A2A5EB-55E9-818C-5100-8E3EC4E96C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61271" y="5963677"/>
            <a:ext cx="531242" cy="531242"/>
          </a:xfrm>
          <a:prstGeom prst="rect">
            <a:avLst/>
          </a:prstGeom>
        </p:spPr>
      </p:pic>
      <p:sp>
        <p:nvSpPr>
          <p:cNvPr id="25" name="Espaço Reservado para Conteúdo 4">
            <a:extLst>
              <a:ext uri="{FF2B5EF4-FFF2-40B4-BE49-F238E27FC236}">
                <a16:creationId xmlns:a16="http://schemas.microsoft.com/office/drawing/2014/main" id="{F3DFFE69-5EB8-470E-B99B-54A3FB6EE3A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49074" y="633344"/>
            <a:ext cx="2529556" cy="46166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spc="600">
                <a:solidFill>
                  <a:srgbClr val="21049A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NOME DA SEÇÃO</a:t>
            </a:r>
            <a:br>
              <a:rPr lang="pt-BR" dirty="0"/>
            </a:br>
            <a:r>
              <a:rPr lang="pt-BR" dirty="0"/>
              <a:t>NOME DA SEÇÃO</a:t>
            </a:r>
          </a:p>
        </p:txBody>
      </p:sp>
      <p:sp>
        <p:nvSpPr>
          <p:cNvPr id="29" name="Espaço Reservado para Conteúdo 4">
            <a:extLst>
              <a:ext uri="{FF2B5EF4-FFF2-40B4-BE49-F238E27FC236}">
                <a16:creationId xmlns:a16="http://schemas.microsoft.com/office/drawing/2014/main" id="{2F7B3AF4-B738-4398-B67B-6BBE8A527D5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7669" y="1789450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1</a:t>
            </a:r>
          </a:p>
        </p:txBody>
      </p:sp>
      <p:sp>
        <p:nvSpPr>
          <p:cNvPr id="30" name="Espaço Reservado para Conteúdo 4">
            <a:extLst>
              <a:ext uri="{FF2B5EF4-FFF2-40B4-BE49-F238E27FC236}">
                <a16:creationId xmlns:a16="http://schemas.microsoft.com/office/drawing/2014/main" id="{5D35BA6E-193D-4880-99D4-D6E40313A35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386076" y="1789450"/>
            <a:ext cx="1489788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31" name="Espaço Reservado para Conteúdo 4">
            <a:extLst>
              <a:ext uri="{FF2B5EF4-FFF2-40B4-BE49-F238E27FC236}">
                <a16:creationId xmlns:a16="http://schemas.microsoft.com/office/drawing/2014/main" id="{58CA9FBA-C6F6-48B4-8054-37886D57B89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902119" y="1789450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32" name="Espaço Reservado para Conteúdo 4">
            <a:extLst>
              <a:ext uri="{FF2B5EF4-FFF2-40B4-BE49-F238E27FC236}">
                <a16:creationId xmlns:a16="http://schemas.microsoft.com/office/drawing/2014/main" id="{3B524203-EAD3-4477-9209-B4351264128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317421" y="1789450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2</a:t>
            </a:r>
          </a:p>
        </p:txBody>
      </p:sp>
      <p:sp>
        <p:nvSpPr>
          <p:cNvPr id="33" name="Espaço Reservado para Conteúdo 4">
            <a:extLst>
              <a:ext uri="{FF2B5EF4-FFF2-40B4-BE49-F238E27FC236}">
                <a16:creationId xmlns:a16="http://schemas.microsoft.com/office/drawing/2014/main" id="{01D447D5-A389-49AB-9939-1EC12515C6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025828" y="1789450"/>
            <a:ext cx="1489788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34" name="Espaço Reservado para Conteúdo 4">
            <a:extLst>
              <a:ext uri="{FF2B5EF4-FFF2-40B4-BE49-F238E27FC236}">
                <a16:creationId xmlns:a16="http://schemas.microsoft.com/office/drawing/2014/main" id="{B8D809D7-F1D1-4A2C-BB27-83433994B16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541871" y="1789450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35" name="Espaço Reservado para Conteúdo 4">
            <a:extLst>
              <a:ext uri="{FF2B5EF4-FFF2-40B4-BE49-F238E27FC236}">
                <a16:creationId xmlns:a16="http://schemas.microsoft.com/office/drawing/2014/main" id="{4705D9C3-A995-459D-AADF-DFDD6934707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77669" y="3876563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3</a:t>
            </a:r>
          </a:p>
        </p:txBody>
      </p:sp>
      <p:sp>
        <p:nvSpPr>
          <p:cNvPr id="36" name="Espaço Reservado para Conteúdo 4">
            <a:extLst>
              <a:ext uri="{FF2B5EF4-FFF2-40B4-BE49-F238E27FC236}">
                <a16:creationId xmlns:a16="http://schemas.microsoft.com/office/drawing/2014/main" id="{48370BE8-A043-4995-BDFE-BDB113D9F98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1386076" y="3876563"/>
            <a:ext cx="1489788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37" name="Espaço Reservado para Conteúdo 4">
            <a:extLst>
              <a:ext uri="{FF2B5EF4-FFF2-40B4-BE49-F238E27FC236}">
                <a16:creationId xmlns:a16="http://schemas.microsoft.com/office/drawing/2014/main" id="{EF334FA5-EFEC-4880-AB74-FDA39A9CF32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2902119" y="3876563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38" name="Espaço Reservado para Conteúdo 4">
            <a:extLst>
              <a:ext uri="{FF2B5EF4-FFF2-40B4-BE49-F238E27FC236}">
                <a16:creationId xmlns:a16="http://schemas.microsoft.com/office/drawing/2014/main" id="{C62A379B-D566-4D7A-B047-927E5BA2A08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317421" y="3876563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4</a:t>
            </a:r>
          </a:p>
        </p:txBody>
      </p:sp>
      <p:sp>
        <p:nvSpPr>
          <p:cNvPr id="39" name="Espaço Reservado para Conteúdo 4">
            <a:extLst>
              <a:ext uri="{FF2B5EF4-FFF2-40B4-BE49-F238E27FC236}">
                <a16:creationId xmlns:a16="http://schemas.microsoft.com/office/drawing/2014/main" id="{265B2327-F611-4CB3-B79A-22014E2BDC29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7025828" y="3876563"/>
            <a:ext cx="1489788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40" name="Espaço Reservado para Conteúdo 4">
            <a:extLst>
              <a:ext uri="{FF2B5EF4-FFF2-40B4-BE49-F238E27FC236}">
                <a16:creationId xmlns:a16="http://schemas.microsoft.com/office/drawing/2014/main" id="{875ADBDB-708D-40FF-B05B-63F736D2AC8D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541871" y="3876563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164189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Forma, Retângulo&#10;&#10;O conteúdo gerado por IA pode estar incorreto.">
            <a:extLst>
              <a:ext uri="{FF2B5EF4-FFF2-40B4-BE49-F238E27FC236}">
                <a16:creationId xmlns:a16="http://schemas.microsoft.com/office/drawing/2014/main" id="{755604ED-8D58-1615-3BD2-70AE34C5B6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Espaço Reservado para Conteúdo 4">
            <a:extLst>
              <a:ext uri="{FF2B5EF4-FFF2-40B4-BE49-F238E27FC236}">
                <a16:creationId xmlns:a16="http://schemas.microsoft.com/office/drawing/2014/main" id="{DD008399-5FBB-472F-8E3F-633534F80D1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927463" y="1492989"/>
            <a:ext cx="10345783" cy="494711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6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</a:t>
            </a:r>
            <a:r>
              <a:rPr lang="pt-BR" dirty="0" err="1"/>
              <a:t>TÍTULO</a:t>
            </a:r>
            <a:r>
              <a:rPr lang="pt-BR" dirty="0"/>
              <a:t> </a:t>
            </a:r>
            <a:r>
              <a:rPr lang="pt-BR" dirty="0" err="1"/>
              <a:t>TÍTULO</a:t>
            </a:r>
            <a:endParaRPr lang="pt-BR" dirty="0"/>
          </a:p>
        </p:txBody>
      </p:sp>
      <p:sp>
        <p:nvSpPr>
          <p:cNvPr id="12" name="Espaço Reservado para Conteúdo 4">
            <a:extLst>
              <a:ext uri="{FF2B5EF4-FFF2-40B4-BE49-F238E27FC236}">
                <a16:creationId xmlns:a16="http://schemas.microsoft.com/office/drawing/2014/main" id="{22C20E1A-1706-435A-BF46-A7988122942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272937" y="2586445"/>
            <a:ext cx="3709852" cy="277856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Fusce quis lacus sit amet</a:t>
            </a:r>
          </a:p>
        </p:txBody>
      </p:sp>
      <p:sp>
        <p:nvSpPr>
          <p:cNvPr id="14" name="Espaço Reservado para Conteúdo 4">
            <a:extLst>
              <a:ext uri="{FF2B5EF4-FFF2-40B4-BE49-F238E27FC236}">
                <a16:creationId xmlns:a16="http://schemas.microsoft.com/office/drawing/2014/main" id="{8CB7D53B-6460-4A34-8124-84C3FBD464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96150" y="2586445"/>
            <a:ext cx="3709850" cy="277856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Fusce quis lacus sit amet</a:t>
            </a:r>
          </a:p>
        </p:txBody>
      </p:sp>
    </p:spTree>
    <p:extLst>
      <p:ext uri="{BB962C8B-B14F-4D97-AF65-F5344CB8AC3E}">
        <p14:creationId xmlns:p14="http://schemas.microsoft.com/office/powerpoint/2010/main" val="1036511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0562E0AD-E4EE-02BD-8E08-C54B7CD54B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1ADE5E87-BD9B-7C07-F239-DC95941763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63" b="40706"/>
          <a:stretch>
            <a:fillRect/>
          </a:stretch>
        </p:blipFill>
        <p:spPr>
          <a:xfrm>
            <a:off x="11287643" y="5957700"/>
            <a:ext cx="610847" cy="567947"/>
          </a:xfrm>
          <a:prstGeom prst="rect">
            <a:avLst/>
          </a:prstGeom>
        </p:spPr>
      </p:pic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A5F91E17-4B22-43C4-BC9A-B85CBB295BD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85455" y="2973777"/>
            <a:ext cx="5972545" cy="111804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DO SLIDE</a:t>
            </a:r>
          </a:p>
          <a:p>
            <a:pPr lvl="0"/>
            <a:r>
              <a:rPr lang="pt-BR" dirty="0"/>
              <a:t>TÍTULO DO SLIDE</a:t>
            </a:r>
          </a:p>
        </p:txBody>
      </p:sp>
    </p:spTree>
    <p:extLst>
      <p:ext uri="{BB962C8B-B14F-4D97-AF65-F5344CB8AC3E}">
        <p14:creationId xmlns:p14="http://schemas.microsoft.com/office/powerpoint/2010/main" val="28025919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Logotipo&#10;&#10;O conteúdo gerado por IA pode estar incorreto.">
            <a:extLst>
              <a:ext uri="{FF2B5EF4-FFF2-40B4-BE49-F238E27FC236}">
                <a16:creationId xmlns:a16="http://schemas.microsoft.com/office/drawing/2014/main" id="{D5AE18F8-4C98-E987-C600-30B97C4E56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C2EFD695-3E61-27BB-FD99-9C489A1A73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63" b="40706"/>
          <a:stretch>
            <a:fillRect/>
          </a:stretch>
        </p:blipFill>
        <p:spPr>
          <a:xfrm>
            <a:off x="11287643" y="5957700"/>
            <a:ext cx="610847" cy="567947"/>
          </a:xfrm>
          <a:prstGeom prst="rect">
            <a:avLst/>
          </a:prstGeom>
        </p:spPr>
      </p:pic>
      <p:sp>
        <p:nvSpPr>
          <p:cNvPr id="8" name="Espaço Reservado para Conteúdo 4">
            <a:extLst>
              <a:ext uri="{FF2B5EF4-FFF2-40B4-BE49-F238E27FC236}">
                <a16:creationId xmlns:a16="http://schemas.microsoft.com/office/drawing/2014/main" id="{C32784AB-7E2C-4D14-865A-F72AC13685F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58600" y="3821054"/>
            <a:ext cx="3859001" cy="13245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14" name="Espaço Reservado para Conteúdo 4">
            <a:extLst>
              <a:ext uri="{FF2B5EF4-FFF2-40B4-BE49-F238E27FC236}">
                <a16:creationId xmlns:a16="http://schemas.microsoft.com/office/drawing/2014/main" id="{107E1770-8F3E-4B77-9943-2EEF8B2A66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49074" y="633344"/>
            <a:ext cx="2529556" cy="46166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spc="600">
                <a:solidFill>
                  <a:srgbClr val="21049A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NOME DA SEÇÃO</a:t>
            </a:r>
            <a:br>
              <a:rPr lang="pt-BR" dirty="0"/>
            </a:br>
            <a:r>
              <a:rPr lang="pt-BR" dirty="0"/>
              <a:t>NOME DA SEÇÃO</a:t>
            </a:r>
          </a:p>
        </p:txBody>
      </p:sp>
      <p:sp>
        <p:nvSpPr>
          <p:cNvPr id="16" name="Espaço Reservado para Conteúdo 4">
            <a:extLst>
              <a:ext uri="{FF2B5EF4-FFF2-40B4-BE49-F238E27FC236}">
                <a16:creationId xmlns:a16="http://schemas.microsoft.com/office/drawing/2014/main" id="{7F7E01A6-0BF4-4257-880E-0E0383602A4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58600" y="2503501"/>
            <a:ext cx="4933333" cy="111804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</a:t>
            </a:r>
          </a:p>
          <a:p>
            <a:pPr lvl="0"/>
            <a:r>
              <a:rPr lang="pt-BR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1BBAE76A-589A-1DC7-1848-FBCD1ED5F9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Espaço Reservado para Conteúdo 4">
            <a:extLst>
              <a:ext uri="{FF2B5EF4-FFF2-40B4-BE49-F238E27FC236}">
                <a16:creationId xmlns:a16="http://schemas.microsoft.com/office/drawing/2014/main" id="{8EDDECBF-2EF9-4580-826D-41A2BE4FF0F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94594" y="1287772"/>
            <a:ext cx="6098785" cy="1670102"/>
          </a:xfrm>
          <a:prstGeom prst="rect">
            <a:avLst/>
          </a:prstGeom>
        </p:spPr>
        <p:txBody>
          <a:bodyPr numCol="2" spcCol="180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8" name="Espaço Reservado para Conteúdo 4">
            <a:extLst>
              <a:ext uri="{FF2B5EF4-FFF2-40B4-BE49-F238E27FC236}">
                <a16:creationId xmlns:a16="http://schemas.microsoft.com/office/drawing/2014/main" id="{1895628F-1505-42BC-8AAC-324418E1197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094594" y="3900126"/>
            <a:ext cx="5708389" cy="1869743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600">
                <a:solidFill>
                  <a:schemeClr val="bg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Proin</a:t>
            </a:r>
            <a:r>
              <a:rPr lang="pt-BR" dirty="0"/>
              <a:t> </a:t>
            </a:r>
            <a:r>
              <a:rPr lang="pt-BR" dirty="0" err="1"/>
              <a:t>felis</a:t>
            </a:r>
            <a:r>
              <a:rPr lang="pt-BR" dirty="0"/>
              <a:t> </a:t>
            </a:r>
            <a:r>
              <a:rPr lang="pt-BR" dirty="0" err="1"/>
              <a:t>elit</a:t>
            </a:r>
            <a:r>
              <a:rPr lang="pt-BR" dirty="0"/>
              <a:t>, </a:t>
            </a:r>
            <a:r>
              <a:rPr lang="pt-BR" dirty="0" err="1"/>
              <a:t>pretium</a:t>
            </a:r>
            <a:r>
              <a:rPr lang="pt-BR" dirty="0"/>
              <a:t> </a:t>
            </a:r>
            <a:r>
              <a:rPr lang="pt-BR" dirty="0" err="1"/>
              <a:t>at</a:t>
            </a:r>
            <a:r>
              <a:rPr lang="pt-BR" dirty="0"/>
              <a:t> </a:t>
            </a:r>
            <a:r>
              <a:rPr lang="pt-BR" dirty="0" err="1"/>
              <a:t>ligula</a:t>
            </a:r>
            <a:r>
              <a:rPr lang="pt-BR" dirty="0"/>
              <a:t> et, </a:t>
            </a:r>
            <a:r>
              <a:rPr lang="pt-BR" dirty="0" err="1"/>
              <a:t>venenatis</a:t>
            </a:r>
            <a:r>
              <a:rPr lang="pt-BR" dirty="0"/>
              <a:t> </a:t>
            </a:r>
            <a:r>
              <a:rPr lang="pt-BR" dirty="0" err="1"/>
              <a:t>sollicitudin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pulvinar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76267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Diagrama, Desenho técnico&#10;&#10;O conteúdo gerado por IA pode estar incorreto.">
            <a:extLst>
              <a:ext uri="{FF2B5EF4-FFF2-40B4-BE49-F238E27FC236}">
                <a16:creationId xmlns:a16="http://schemas.microsoft.com/office/drawing/2014/main" id="{04016A07-62CC-4FF1-A3F1-174AA42354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55A34FD8-10C0-48D2-935C-1995B1CAA5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418" t="-46144" b="-40859"/>
          <a:stretch>
            <a:fillRect/>
          </a:stretch>
        </p:blipFill>
        <p:spPr>
          <a:xfrm>
            <a:off x="8223477" y="4675844"/>
            <a:ext cx="3279336" cy="1945427"/>
          </a:xfrm>
          <a:prstGeom prst="rect">
            <a:avLst/>
          </a:prstGeom>
        </p:spPr>
      </p:pic>
      <p:sp>
        <p:nvSpPr>
          <p:cNvPr id="13" name="Espaço Reservado para Conteúdo 4">
            <a:extLst>
              <a:ext uri="{FF2B5EF4-FFF2-40B4-BE49-F238E27FC236}">
                <a16:creationId xmlns:a16="http://schemas.microsoft.com/office/drawing/2014/main" id="{4951D684-8E9D-4D85-AFF1-60D706CBB3C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198962" y="1561342"/>
            <a:ext cx="9794071" cy="11180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7200">
                <a:ln>
                  <a:solidFill>
                    <a:schemeClr val="bg1"/>
                  </a:solidFill>
                </a:ln>
                <a:noFill/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TEXTO FINAL</a:t>
            </a:r>
          </a:p>
        </p:txBody>
      </p:sp>
    </p:spTree>
    <p:extLst>
      <p:ext uri="{BB962C8B-B14F-4D97-AF65-F5344CB8AC3E}">
        <p14:creationId xmlns:p14="http://schemas.microsoft.com/office/powerpoint/2010/main" val="23483734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208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0187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  <p:sldLayoutId id="2147483672" r:id="rId13"/>
    <p:sldLayoutId id="2147483673" r:id="rId14"/>
    <p:sldLayoutId id="214748367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tukerVitor/tcc_2" TargetMode="Externa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Diagrama, Desenho técnico&#10;&#10;O conteúdo gerado por IA pode estar incorreto.">
            <a:extLst>
              <a:ext uri="{FF2B5EF4-FFF2-40B4-BE49-F238E27FC236}">
                <a16:creationId xmlns:a16="http://schemas.microsoft.com/office/drawing/2014/main" id="{53407B26-3B78-365B-D686-303A129B4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79107DC2-AF8A-3A77-1592-DB230FB9E2C7}"/>
              </a:ext>
            </a:extLst>
          </p:cNvPr>
          <p:cNvSpPr txBox="1"/>
          <p:nvPr/>
        </p:nvSpPr>
        <p:spPr>
          <a:xfrm>
            <a:off x="1198964" y="1347173"/>
            <a:ext cx="9313962" cy="981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CLOSING THE COMPREHENSION GAP WITH LOCAL-FIRST LEGAL AI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DB1499A-5112-01E4-CF58-B5F250916ACE}"/>
              </a:ext>
            </a:extLst>
          </p:cNvPr>
          <p:cNvSpPr txBox="1"/>
          <p:nvPr/>
        </p:nvSpPr>
        <p:spPr>
          <a:xfrm>
            <a:off x="1198964" y="854210"/>
            <a:ext cx="6591365" cy="291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pt-BR" sz="16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Trabalho de Conclusão de Curso de Ciência da Computação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B7D3683-69A5-7566-5601-71A491ED3138}"/>
              </a:ext>
            </a:extLst>
          </p:cNvPr>
          <p:cNvSpPr txBox="1"/>
          <p:nvPr/>
        </p:nvSpPr>
        <p:spPr>
          <a:xfrm>
            <a:off x="1198964" y="2530519"/>
            <a:ext cx="9715015" cy="341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Simplificação de textos jurídicos brasileiros como recurso de acessibilidade cognitiva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6043C87-8241-7E0C-5451-70FAAB4A877A}"/>
              </a:ext>
            </a:extLst>
          </p:cNvPr>
          <p:cNvSpPr txBox="1"/>
          <p:nvPr/>
        </p:nvSpPr>
        <p:spPr>
          <a:xfrm>
            <a:off x="8116249" y="6027126"/>
            <a:ext cx="3667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Aluno</a:t>
            </a:r>
            <a:r>
              <a:rPr lang="en-US" sz="1400" dirty="0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: Vitor </a:t>
            </a:r>
            <a:r>
              <a:rPr lang="en-US" sz="1400" dirty="0" err="1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Stüker</a:t>
            </a:r>
            <a:r>
              <a:rPr lang="en-US" sz="1400" dirty="0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de Almeida</a:t>
            </a:r>
          </a:p>
          <a:p>
            <a:r>
              <a:rPr lang="en-US" sz="1400" dirty="0" err="1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Orientador</a:t>
            </a:r>
            <a:r>
              <a:rPr lang="en-US" sz="1400" dirty="0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: Prof. Dr. Alex Roehrs · 2026</a:t>
            </a:r>
            <a:endParaRPr lang="en-US" sz="14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393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06A3B-E999-13EA-0600-1E97BEE18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 descr="Forma&#10;&#10;O conteúdo gerado por IA pode estar incorreto.">
            <a:extLst>
              <a:ext uri="{FF2B5EF4-FFF2-40B4-BE49-F238E27FC236}">
                <a16:creationId xmlns:a16="http://schemas.microsoft.com/office/drawing/2014/main" id="{785EF0AD-F7E4-D1AC-7E7B-FC1208BCB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079CB1DD-7146-6972-D4C2-97BD6942DD9B}"/>
              </a:ext>
            </a:extLst>
          </p:cNvPr>
          <p:cNvSpPr txBox="1"/>
          <p:nvPr/>
        </p:nvSpPr>
        <p:spPr>
          <a:xfrm>
            <a:off x="936063" y="946002"/>
            <a:ext cx="10544016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pt-BR" sz="36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O problema: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52D1737-769A-5F6D-9BD5-4FAA83D5A488}"/>
              </a:ext>
            </a:extLst>
          </p:cNvPr>
          <p:cNvSpPr txBox="1"/>
          <p:nvPr/>
        </p:nvSpPr>
        <p:spPr>
          <a:xfrm>
            <a:off x="1441624" y="3016800"/>
            <a:ext cx="29241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O texto jurídico é informação pública, mas nem sempre é compreensível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0D3A3439-0518-914A-BCC1-1C511638FD35}"/>
              </a:ext>
            </a:extLst>
          </p:cNvPr>
          <p:cNvSpPr/>
          <p:nvPr/>
        </p:nvSpPr>
        <p:spPr>
          <a:xfrm>
            <a:off x="5057617" y="2922847"/>
            <a:ext cx="5277795" cy="537509"/>
          </a:xfrm>
          <a:prstGeom prst="roundRect">
            <a:avLst>
              <a:gd name="adj" fmla="val 50000"/>
            </a:avLst>
          </a:prstGeom>
          <a:solidFill>
            <a:srgbClr val="432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4186FEB2-BEE6-B305-9814-2A71563C0D0B}"/>
              </a:ext>
            </a:extLst>
          </p:cNvPr>
          <p:cNvSpPr/>
          <p:nvPr/>
        </p:nvSpPr>
        <p:spPr>
          <a:xfrm>
            <a:off x="5773271" y="3387232"/>
            <a:ext cx="4562141" cy="537511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2636F84-17B1-6418-A3CE-6A625E374B44}"/>
              </a:ext>
            </a:extLst>
          </p:cNvPr>
          <p:cNvSpPr/>
          <p:nvPr/>
        </p:nvSpPr>
        <p:spPr>
          <a:xfrm>
            <a:off x="6222365" y="3784591"/>
            <a:ext cx="4113048" cy="537512"/>
          </a:xfrm>
          <a:prstGeom prst="roundRect">
            <a:avLst>
              <a:gd name="adj" fmla="val 50000"/>
            </a:avLst>
          </a:prstGeom>
          <a:solidFill>
            <a:srgbClr val="2652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ADADA8D-D77C-D560-F1AE-0E50C4D0935F}"/>
              </a:ext>
            </a:extLst>
          </p:cNvPr>
          <p:cNvSpPr txBox="1"/>
          <p:nvPr/>
        </p:nvSpPr>
        <p:spPr>
          <a:xfrm>
            <a:off x="5208201" y="3037712"/>
            <a:ext cx="49766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A barreira não é só digital. É cognitiva. 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34E488B-7C89-D5A4-510F-42ECFF396336}"/>
              </a:ext>
            </a:extLst>
          </p:cNvPr>
          <p:cNvSpPr txBox="1"/>
          <p:nvPr/>
        </p:nvSpPr>
        <p:spPr>
          <a:xfrm>
            <a:off x="6208071" y="3463077"/>
            <a:ext cx="3976756" cy="307777"/>
          </a:xfrm>
          <a:prstGeom prst="rect">
            <a:avLst/>
          </a:prstGeom>
          <a:solidFill>
            <a:srgbClr val="E94D1C"/>
          </a:solidFill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Vocabulário técnico e expressões arcaicas.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FA162A0-B419-1124-792C-DC4DC69D5CA8}"/>
              </a:ext>
            </a:extLst>
          </p:cNvPr>
          <p:cNvSpPr txBox="1"/>
          <p:nvPr/>
        </p:nvSpPr>
        <p:spPr>
          <a:xfrm>
            <a:off x="6703626" y="3888155"/>
            <a:ext cx="3481201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Frases longas e alta carga de memória. 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818CD3B1-6F4C-FF4C-1E1D-82A5BEF1B4C1}"/>
              </a:ext>
            </a:extLst>
          </p:cNvPr>
          <p:cNvSpPr/>
          <p:nvPr/>
        </p:nvSpPr>
        <p:spPr>
          <a:xfrm>
            <a:off x="6868506" y="4236130"/>
            <a:ext cx="3481201" cy="537509"/>
          </a:xfrm>
          <a:prstGeom prst="roundRect">
            <a:avLst>
              <a:gd name="adj" fmla="val 50000"/>
            </a:avLst>
          </a:prstGeom>
          <a:solidFill>
            <a:srgbClr val="432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DF9C872-4946-9E8C-2980-3B40F2C61B5E}"/>
              </a:ext>
            </a:extLst>
          </p:cNvPr>
          <p:cNvSpPr txBox="1"/>
          <p:nvPr/>
        </p:nvSpPr>
        <p:spPr>
          <a:xfrm>
            <a:off x="6913672" y="4258155"/>
            <a:ext cx="3481201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pt-BR" sz="14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Dependência de intermediários para entender direitos e riscos.</a:t>
            </a:r>
          </a:p>
        </p:txBody>
      </p:sp>
      <p:sp>
        <p:nvSpPr>
          <p:cNvPr id="23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A96BA541-753F-4425-B061-7B01B1BC6799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2432085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60F2BC14-09EE-85CA-13CF-52CD4821C14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59427" y="564881"/>
            <a:ext cx="4081513" cy="1577593"/>
          </a:xfrm>
        </p:spPr>
        <p:txBody>
          <a:bodyPr/>
          <a:lstStyle/>
          <a:p>
            <a:r>
              <a:rPr lang="pt-BR" sz="4000" dirty="0"/>
              <a:t>Questão de pesquisa e objetivos: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D5B70C-5522-183C-55A4-77325C931BE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9425" y="2286000"/>
            <a:ext cx="5175209" cy="896112"/>
          </a:xfrm>
        </p:spPr>
        <p:txBody>
          <a:bodyPr/>
          <a:lstStyle/>
          <a:p>
            <a:r>
              <a:rPr lang="pt-BR" sz="1800" spc="0" dirty="0"/>
              <a:t>Como usar Processamento de Linguagem Natural (NLP) para simplificar textos jurídicos brasileiros e ampliar a acessibilidade cognitiva?</a:t>
            </a:r>
          </a:p>
          <a:p>
            <a:endParaRPr lang="pt-BR" spc="0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A9E85C8-42BF-A924-82A5-55DC7F90E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9426" y="3310128"/>
            <a:ext cx="5094527" cy="2743200"/>
          </a:xfrm>
        </p:spPr>
        <p:txBody>
          <a:bodyPr/>
          <a:lstStyle/>
          <a:p>
            <a:r>
              <a:rPr lang="pt-BR" sz="1800" dirty="0"/>
              <a:t>• Fundamentar o problema em acessibilidade, linguagem simples e Simplificação Automática de Textos (ATS).</a:t>
            </a:r>
          </a:p>
          <a:p>
            <a:endParaRPr lang="pt-BR" sz="1800" dirty="0"/>
          </a:p>
          <a:p>
            <a:r>
              <a:rPr lang="pt-BR" sz="1800" dirty="0"/>
              <a:t>• Construir um protótipo local-</a:t>
            </a:r>
            <a:r>
              <a:rPr lang="pt-BR" sz="1800" dirty="0" err="1"/>
              <a:t>first</a:t>
            </a:r>
            <a:r>
              <a:rPr lang="pt-BR" sz="1800" dirty="0"/>
              <a:t> para HTML e PDF.</a:t>
            </a:r>
          </a:p>
          <a:p>
            <a:endParaRPr lang="pt-BR" sz="1800" dirty="0"/>
          </a:p>
          <a:p>
            <a:r>
              <a:rPr lang="pt-BR" sz="1800" dirty="0"/>
              <a:t>• Avaliar compreensão percebida, usabilidade e utilidade.</a:t>
            </a:r>
          </a:p>
          <a:p>
            <a:endParaRPr lang="pt-BR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91C4B8D2-D038-4355-BDD1-5DFFDD72D7AB}"/>
              </a:ext>
            </a:extLst>
          </p:cNvPr>
          <p:cNvSpPr/>
          <p:nvPr/>
        </p:nvSpPr>
        <p:spPr>
          <a:xfrm>
            <a:off x="759425" y="6215305"/>
            <a:ext cx="4601468" cy="310896"/>
          </a:xfrm>
          <a:prstGeom prst="roundRect">
            <a:avLst>
              <a:gd name="adj" fmla="val 23529"/>
            </a:avLst>
          </a:prstGeom>
          <a:solidFill>
            <a:srgbClr val="E94D1C">
              <a:alpha val="92000"/>
            </a:srgbClr>
          </a:solidFill>
          <a:ln w="12700">
            <a:solidFill>
              <a:srgbClr val="E94D1C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Foco: </a:t>
            </a:r>
            <a:r>
              <a:rPr lang="en-US" sz="1600" dirty="0" err="1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apoio</a:t>
            </a:r>
            <a:r>
              <a:rPr lang="en-US" sz="16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à </a:t>
            </a:r>
            <a:r>
              <a:rPr lang="en-US" sz="1600" dirty="0" err="1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leitura</a:t>
            </a:r>
            <a:r>
              <a:rPr lang="en-US" sz="16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inicial</a:t>
            </a:r>
            <a:r>
              <a:rPr lang="en-US" sz="16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e </a:t>
            </a:r>
            <a:r>
              <a:rPr lang="en-US" sz="1600" dirty="0" err="1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triagem</a:t>
            </a:r>
            <a:r>
              <a:rPr lang="en-US" sz="16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.</a:t>
            </a:r>
            <a:endParaRPr lang="en-US" sz="1600" dirty="0">
              <a:latin typeface="Roboto Bold" panose="02000000000000000000" pitchFamily="2" charset="0"/>
              <a:ea typeface="Roboto Bold" panose="02000000000000000000" pitchFamily="2" charset="0"/>
              <a:cs typeface="Roboto Bold" panose="02000000000000000000" pitchFamily="2" charset="0"/>
            </a:endParaRPr>
          </a:p>
        </p:txBody>
      </p:sp>
      <p:sp>
        <p:nvSpPr>
          <p:cNvPr id="6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642FA126-0025-4A97-B352-2674248D518C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3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4161977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44421AE6-8520-F202-5C7B-D462EB73A5E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46383" y="3868386"/>
            <a:ext cx="2819400" cy="1082290"/>
          </a:xfrm>
        </p:spPr>
        <p:txBody>
          <a:bodyPr/>
          <a:lstStyle/>
          <a:p>
            <a:r>
              <a:rPr lang="en-US" sz="1800" dirty="0" err="1">
                <a:solidFill>
                  <a:srgbClr val="172033"/>
                </a:solidFill>
              </a:rPr>
              <a:t>jargão</a:t>
            </a:r>
            <a:r>
              <a:rPr lang="en-US" sz="1800" dirty="0">
                <a:solidFill>
                  <a:srgbClr val="172033"/>
                </a:solidFill>
              </a:rPr>
              <a:t>, </a:t>
            </a:r>
            <a:r>
              <a:rPr lang="en-US" sz="1800" dirty="0" err="1">
                <a:solidFill>
                  <a:srgbClr val="172033"/>
                </a:solidFill>
              </a:rPr>
              <a:t>termos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técnicos</a:t>
            </a:r>
            <a:r>
              <a:rPr lang="en-US" sz="1800" dirty="0">
                <a:solidFill>
                  <a:srgbClr val="172033"/>
                </a:solidFill>
              </a:rPr>
              <a:t>, </a:t>
            </a:r>
            <a:r>
              <a:rPr lang="en-US" sz="1800" dirty="0" err="1">
                <a:solidFill>
                  <a:srgbClr val="172033"/>
                </a:solidFill>
              </a:rPr>
              <a:t>expressões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pouco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frequentes</a:t>
            </a:r>
            <a:endParaRPr lang="en-US" sz="1800" dirty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7FF184B7-0ECC-C829-7F60-3F7953742C5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42968" y="3036329"/>
            <a:ext cx="2819400" cy="785342"/>
          </a:xfrm>
        </p:spPr>
        <p:txBody>
          <a:bodyPr/>
          <a:lstStyle/>
          <a:p>
            <a:pPr algn="ctr"/>
            <a:r>
              <a:rPr lang="pt-BR" dirty="0"/>
              <a:t>Complexidade lexical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8FC17DDD-D222-C156-57B5-C692775DF34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33258" y="4443667"/>
            <a:ext cx="2819400" cy="1010076"/>
          </a:xfrm>
        </p:spPr>
        <p:txBody>
          <a:bodyPr/>
          <a:lstStyle/>
          <a:p>
            <a:r>
              <a:rPr lang="en-US" sz="1800" dirty="0" err="1">
                <a:solidFill>
                  <a:srgbClr val="172033"/>
                </a:solidFill>
              </a:rPr>
              <a:t>frases</a:t>
            </a:r>
            <a:r>
              <a:rPr lang="en-US" sz="1800" dirty="0">
                <a:solidFill>
                  <a:srgbClr val="172033"/>
                </a:solidFill>
              </a:rPr>
              <a:t> longas, </a:t>
            </a:r>
            <a:r>
              <a:rPr lang="en-US" sz="1800" dirty="0" err="1">
                <a:solidFill>
                  <a:srgbClr val="172033"/>
                </a:solidFill>
              </a:rPr>
              <a:t>voz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passiva</a:t>
            </a:r>
            <a:r>
              <a:rPr lang="en-US" sz="1800" dirty="0">
                <a:solidFill>
                  <a:srgbClr val="172033"/>
                </a:solidFill>
              </a:rPr>
              <a:t>, </a:t>
            </a:r>
            <a:r>
              <a:rPr lang="en-US" sz="1800" dirty="0" err="1">
                <a:solidFill>
                  <a:srgbClr val="172033"/>
                </a:solidFill>
              </a:rPr>
              <a:t>múltiplas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subordinadas</a:t>
            </a:r>
            <a:endParaRPr lang="en-US" sz="1800" dirty="0"/>
          </a:p>
          <a:p>
            <a:endParaRPr lang="pt-BR" dirty="0"/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C3B73C2C-E192-9A1F-09FA-1FDFB81A21E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686300" y="3658325"/>
            <a:ext cx="2819400" cy="785342"/>
          </a:xfrm>
        </p:spPr>
        <p:txBody>
          <a:bodyPr/>
          <a:lstStyle/>
          <a:p>
            <a:pPr algn="ctr"/>
            <a:r>
              <a:rPr lang="pt-BR" dirty="0"/>
              <a:t>Complexidade sintática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65421787-CDAA-E7CD-19DF-87CEE21B948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24825" y="3122148"/>
            <a:ext cx="2819400" cy="1139609"/>
          </a:xfrm>
        </p:spPr>
        <p:txBody>
          <a:bodyPr/>
          <a:lstStyle/>
          <a:p>
            <a:r>
              <a:rPr lang="en-US" sz="1800" dirty="0" err="1">
                <a:solidFill>
                  <a:srgbClr val="172033"/>
                </a:solidFill>
              </a:rPr>
              <a:t>condições</a:t>
            </a:r>
            <a:r>
              <a:rPr lang="en-US" sz="1800" dirty="0">
                <a:solidFill>
                  <a:srgbClr val="172033"/>
                </a:solidFill>
              </a:rPr>
              <a:t>, </a:t>
            </a:r>
            <a:r>
              <a:rPr lang="en-US" sz="1800" dirty="0" err="1">
                <a:solidFill>
                  <a:srgbClr val="172033"/>
                </a:solidFill>
              </a:rPr>
              <a:t>exceções</a:t>
            </a:r>
            <a:r>
              <a:rPr lang="en-US" sz="1800" dirty="0">
                <a:solidFill>
                  <a:srgbClr val="172033"/>
                </a:solidFill>
              </a:rPr>
              <a:t> e </a:t>
            </a:r>
            <a:r>
              <a:rPr lang="en-US" sz="1800" dirty="0" err="1">
                <a:solidFill>
                  <a:srgbClr val="172033"/>
                </a:solidFill>
              </a:rPr>
              <a:t>referências</a:t>
            </a:r>
            <a:r>
              <a:rPr lang="en-US" sz="1800" dirty="0">
                <a:solidFill>
                  <a:srgbClr val="172033"/>
                </a:solidFill>
              </a:rPr>
              <a:t> no </a:t>
            </a:r>
            <a:r>
              <a:rPr lang="en-US" sz="1800" dirty="0" err="1">
                <a:solidFill>
                  <a:srgbClr val="172033"/>
                </a:solidFill>
              </a:rPr>
              <a:t>mesmo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parágrafo</a:t>
            </a:r>
            <a:endParaRPr lang="en-US" sz="1800" dirty="0"/>
          </a:p>
          <a:p>
            <a:endParaRPr lang="pt-BR" dirty="0"/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9989210C-D0E7-9A80-F952-F32D042EA2F6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pPr algn="ctr"/>
            <a:r>
              <a:rPr lang="pt-BR" dirty="0"/>
              <a:t>Alta densidade informacional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177DE09-57B6-F77A-326E-683592D3200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17765" y="853027"/>
            <a:ext cx="7287935" cy="1118045"/>
          </a:xfrm>
        </p:spPr>
        <p:txBody>
          <a:bodyPr/>
          <a:lstStyle/>
          <a:p>
            <a:r>
              <a:rPr lang="pt-BR" sz="2800" dirty="0"/>
              <a:t>O que torna o legalês difícil de processar? 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71D34AC-CA12-7A33-4DB6-806F1D3F0E22}"/>
              </a:ext>
            </a:extLst>
          </p:cNvPr>
          <p:cNvSpPr txBox="1"/>
          <p:nvPr/>
        </p:nvSpPr>
        <p:spPr>
          <a:xfrm>
            <a:off x="2730968" y="6067946"/>
            <a:ext cx="6730064" cy="374571"/>
          </a:xfrm>
          <a:prstGeom prst="roundRect">
            <a:avLst/>
          </a:prstGeom>
          <a:solidFill>
            <a:srgbClr val="E94D1C"/>
          </a:solidFill>
        </p:spPr>
        <p:txBody>
          <a:bodyPr wrap="square">
            <a:spAutoFit/>
          </a:bodyPr>
          <a:lstStyle/>
          <a:p>
            <a:pPr algn="ctr"/>
            <a:r>
              <a:rPr lang="pt-BR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Requisito técnico: simplificar sem apagar sentido jurídico essencial.</a:t>
            </a:r>
          </a:p>
        </p:txBody>
      </p:sp>
      <p:sp>
        <p:nvSpPr>
          <p:cNvPr id="13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9A6C19A7-F6FF-44F2-86A1-BF3763996DA8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4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705687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22EE5678-68AE-9B9E-7289-4F4A51C17A1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89201" y="630966"/>
            <a:ext cx="10581631" cy="863095"/>
          </a:xfrm>
        </p:spPr>
        <p:txBody>
          <a:bodyPr/>
          <a:lstStyle/>
          <a:p>
            <a:r>
              <a:rPr lang="pt-BR" sz="2400" spc="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Três Fundamentos que guiaram o </a:t>
            </a:r>
            <a:r>
              <a:rPr lang="pt-BR" sz="24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LASCAS</a:t>
            </a:r>
          </a:p>
          <a:p>
            <a:r>
              <a:rPr lang="en-US" sz="14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Legal Accessibility and Simplification for Cognitive Aid System</a:t>
            </a:r>
            <a:endParaRPr lang="pt-BR" sz="1400" b="1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D003F745-E9E2-44BC-49C3-BC4A22FD0A4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136" y="1900012"/>
            <a:ext cx="708406" cy="1098093"/>
          </a:xfrm>
        </p:spPr>
        <p:txBody>
          <a:bodyPr/>
          <a:lstStyle/>
          <a:p>
            <a:r>
              <a:rPr lang="pt-BR" dirty="0">
                <a:solidFill>
                  <a:srgbClr val="E94D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B790202A-3125-83F8-45AB-013C154F39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66750" y="2079727"/>
            <a:ext cx="1691884" cy="754301"/>
          </a:xfrm>
        </p:spPr>
        <p:txBody>
          <a:bodyPr/>
          <a:lstStyle/>
          <a:p>
            <a:pPr algn="ctr"/>
            <a:r>
              <a:rPr lang="pt-BR" sz="1800" b="1" dirty="0"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Acessibilidade Cognitiva</a:t>
            </a:r>
            <a:r>
              <a:rPr lang="pt-BR" sz="1800" dirty="0"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	</a:t>
            </a:r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8E8F583E-4286-7E21-CF9E-E95D1EC913B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757586" y="2022025"/>
            <a:ext cx="3193880" cy="1287107"/>
          </a:xfrm>
        </p:spPr>
        <p:txBody>
          <a:bodyPr/>
          <a:lstStyle/>
          <a:p>
            <a:r>
              <a:rPr lang="pt-BR" sz="1800" dirty="0"/>
              <a:t>Informação compreensível para diferentes perfis cognitivos. </a:t>
            </a:r>
          </a:p>
        </p:txBody>
      </p:sp>
      <p:sp>
        <p:nvSpPr>
          <p:cNvPr id="13" name="Espaço Reservado para Conteúdo 12">
            <a:extLst>
              <a:ext uri="{FF2B5EF4-FFF2-40B4-BE49-F238E27FC236}">
                <a16:creationId xmlns:a16="http://schemas.microsoft.com/office/drawing/2014/main" id="{266D82B5-43E2-EB7D-3FA0-5360122B2E7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29692" y="1789450"/>
            <a:ext cx="708406" cy="1098093"/>
          </a:xfrm>
        </p:spPr>
        <p:txBody>
          <a:bodyPr/>
          <a:lstStyle/>
          <a:p>
            <a:r>
              <a:rPr lang="pt-BR" dirty="0">
                <a:solidFill>
                  <a:srgbClr val="E94D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49C06426-2100-0B6B-41A9-127D0D06484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264354" y="1969165"/>
            <a:ext cx="1489788" cy="621148"/>
          </a:xfrm>
        </p:spPr>
        <p:txBody>
          <a:bodyPr/>
          <a:lstStyle/>
          <a:p>
            <a:pPr algn="ctr"/>
            <a:r>
              <a:rPr lang="pt-BR" sz="1800" b="1" dirty="0"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Linguagem</a:t>
            </a:r>
          </a:p>
          <a:p>
            <a:pPr algn="ctr"/>
            <a:r>
              <a:rPr lang="pt-BR" sz="1800" b="1" dirty="0"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Simples</a:t>
            </a:r>
            <a:r>
              <a:rPr lang="pt-BR" b="1" dirty="0"/>
              <a:t>	</a:t>
            </a:r>
          </a:p>
          <a:p>
            <a:endParaRPr lang="pt-BR" dirty="0"/>
          </a:p>
        </p:txBody>
      </p:sp>
      <p:sp>
        <p:nvSpPr>
          <p:cNvPr id="15" name="Espaço Reservado para Conteúdo 14">
            <a:extLst>
              <a:ext uri="{FF2B5EF4-FFF2-40B4-BE49-F238E27FC236}">
                <a16:creationId xmlns:a16="http://schemas.microsoft.com/office/drawing/2014/main" id="{0EA2E561-7F92-0D4B-4BCC-3D2216B9C67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718316" y="1900012"/>
            <a:ext cx="2998715" cy="1197116"/>
          </a:xfrm>
        </p:spPr>
        <p:txBody>
          <a:bodyPr/>
          <a:lstStyle/>
          <a:p>
            <a:r>
              <a:rPr lang="pt-BR" sz="1800" dirty="0"/>
              <a:t>Clareza, frases mais diretas, vocabulário acessível e estrutura visível</a:t>
            </a:r>
            <a:r>
              <a:rPr lang="pt-BR" dirty="0"/>
              <a:t>.</a:t>
            </a:r>
          </a:p>
          <a:p>
            <a:endParaRPr lang="pt-BR" dirty="0"/>
          </a:p>
        </p:txBody>
      </p:sp>
      <p:sp>
        <p:nvSpPr>
          <p:cNvPr id="16" name="Espaço Reservado para Conteúdo 15">
            <a:extLst>
              <a:ext uri="{FF2B5EF4-FFF2-40B4-BE49-F238E27FC236}">
                <a16:creationId xmlns:a16="http://schemas.microsoft.com/office/drawing/2014/main" id="{F2A2BD90-6DAD-FDAA-8BC5-EDDCFD28D7B2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33136" y="3987125"/>
            <a:ext cx="708406" cy="1098093"/>
          </a:xfrm>
        </p:spPr>
        <p:txBody>
          <a:bodyPr/>
          <a:lstStyle/>
          <a:p>
            <a:r>
              <a:rPr lang="pt-BR" dirty="0">
                <a:solidFill>
                  <a:srgbClr val="E94D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</a:p>
        </p:txBody>
      </p:sp>
      <p:sp>
        <p:nvSpPr>
          <p:cNvPr id="17" name="Espaço Reservado para Conteúdo 16">
            <a:extLst>
              <a:ext uri="{FF2B5EF4-FFF2-40B4-BE49-F238E27FC236}">
                <a16:creationId xmlns:a16="http://schemas.microsoft.com/office/drawing/2014/main" id="{D9D6C292-15D7-19BA-ADDA-BBF4B92F21A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1167717" y="4056004"/>
            <a:ext cx="1691884" cy="623719"/>
          </a:xfrm>
        </p:spPr>
        <p:txBody>
          <a:bodyPr/>
          <a:lstStyle/>
          <a:p>
            <a:pPr algn="ctr"/>
            <a:r>
              <a:rPr lang="pt-BR" sz="1800" b="1" dirty="0"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ATS + Transformers</a:t>
            </a:r>
            <a:r>
              <a:rPr lang="pt-BR" dirty="0"/>
              <a:t>	</a:t>
            </a:r>
          </a:p>
        </p:txBody>
      </p:sp>
      <p:sp>
        <p:nvSpPr>
          <p:cNvPr id="18" name="Espaço Reservado para Conteúdo 17">
            <a:extLst>
              <a:ext uri="{FF2B5EF4-FFF2-40B4-BE49-F238E27FC236}">
                <a16:creationId xmlns:a16="http://schemas.microsoft.com/office/drawing/2014/main" id="{A58676B7-F31B-D79D-1FF7-9595B1066EF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2757585" y="3987125"/>
            <a:ext cx="3193881" cy="1287108"/>
          </a:xfrm>
        </p:spPr>
        <p:txBody>
          <a:bodyPr/>
          <a:lstStyle/>
          <a:p>
            <a:r>
              <a:rPr lang="en-US" sz="1800" dirty="0" err="1">
                <a:solidFill>
                  <a:srgbClr val="172033"/>
                </a:solidFill>
              </a:rPr>
              <a:t>Transformar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texto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complexo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em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versão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mais</a:t>
            </a:r>
            <a:r>
              <a:rPr lang="en-US" sz="1800" dirty="0">
                <a:solidFill>
                  <a:srgbClr val="172033"/>
                </a:solidFill>
              </a:rPr>
              <a:t> simples, </a:t>
            </a:r>
            <a:r>
              <a:rPr lang="en-US" sz="1800" dirty="0" err="1">
                <a:solidFill>
                  <a:srgbClr val="172033"/>
                </a:solidFill>
              </a:rPr>
              <a:t>preservando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sentido</a:t>
            </a:r>
            <a:r>
              <a:rPr lang="en-US" sz="1800" dirty="0">
                <a:solidFill>
                  <a:srgbClr val="172033"/>
                </a:solidFill>
              </a:rPr>
              <a:t>.</a:t>
            </a:r>
            <a:endParaRPr lang="en-US" sz="1800" dirty="0"/>
          </a:p>
        </p:txBody>
      </p:sp>
      <p:sp>
        <p:nvSpPr>
          <p:cNvPr id="21" name="Espaço Reservado para Conteúdo 20">
            <a:extLst>
              <a:ext uri="{FF2B5EF4-FFF2-40B4-BE49-F238E27FC236}">
                <a16:creationId xmlns:a16="http://schemas.microsoft.com/office/drawing/2014/main" id="{FFB0BA0C-D897-4EA8-8CC4-2A31B870E8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114309" y="4367863"/>
            <a:ext cx="4640212" cy="737967"/>
          </a:xfrm>
          <a:prstGeom prst="roundRect">
            <a:avLst/>
          </a:prstGeom>
          <a:solidFill>
            <a:srgbClr val="E94D1C"/>
          </a:solidFill>
          <a:ln>
            <a:solidFill>
              <a:srgbClr val="E94D1C"/>
            </a:solidFill>
          </a:ln>
        </p:spPr>
        <p:txBody>
          <a:bodyPr/>
          <a:lstStyle/>
          <a:p>
            <a:pPr marL="0" indent="0" algn="ctr">
              <a:buNone/>
            </a:pPr>
            <a:r>
              <a:rPr lang="pt-BR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Meta: Criar uma camada de leitura entre o documento jurídico e a compreensão inicial.</a:t>
            </a:r>
          </a:p>
        </p:txBody>
      </p:sp>
      <p:sp>
        <p:nvSpPr>
          <p:cNvPr id="22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D6A8CFBE-D293-4695-8C07-436F3CC0CFCD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5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2003544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Fundo branc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" y="-27432"/>
            <a:ext cx="12246864" cy="6912864"/>
          </a:xfrm>
          <a:prstGeom prst="rect">
            <a:avLst/>
          </a:prstGeom>
        </p:spPr>
      </p:pic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D623DFF7-786D-F592-A294-1D0A942972E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" y="320040"/>
            <a:ext cx="10515600" cy="731520"/>
          </a:xfrm>
        </p:spPr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Trabalhos relacionados: síntese comparativa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D0490073-28CE-7BF4-990E-CD5046A89194}"/>
              </a:ext>
            </a:extLst>
          </p:cNvPr>
          <p:cNvSpPr/>
          <p:nvPr/>
        </p:nvSpPr>
        <p:spPr>
          <a:xfrm>
            <a:off x="1417320" y="5468112"/>
            <a:ext cx="8595360" cy="713232"/>
          </a:xfrm>
          <a:prstGeom prst="roundRect">
            <a:avLst>
              <a:gd name="adj" fmla="val 23529"/>
            </a:avLst>
          </a:prstGeom>
          <a:solidFill>
            <a:srgbClr val="E94D1C">
              <a:alpha val="92000"/>
            </a:srgbClr>
          </a:solidFill>
          <a:ln w="12700">
            <a:solidFill>
              <a:srgbClr val="E94D1C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LASCAS leva essa agenda a um fluxo completo (PDF/HTML, validação e interface), com arquitetura híbrida, local-first e avaliação com pessoas.</a:t>
            </a:r>
          </a:p>
        </p:txBody>
      </p:sp>
      <p:graphicFrame>
        <p:nvGraphicFramePr>
          <p:cNvPr id="101" name="Tabela trabalhos relacionados"/>
          <p:cNvGraphicFramePr>
            <a:graphicFrameLocks noGrp="1"/>
          </p:cNvGraphicFramePr>
          <p:nvPr/>
        </p:nvGraphicFramePr>
        <p:xfrm>
          <a:off x="457200" y="1170432"/>
          <a:ext cx="10652760" cy="4069080"/>
        </p:xfrm>
        <a:graphic>
          <a:graphicData uri="http://schemas.openxmlformats.org/drawingml/2006/table">
            <a:tbl>
              <a:tblPr firstRow="1" bandRow="1"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dirty="0">
                          <a:solidFill>
                            <a:srgbClr val="FFFFFF"/>
                          </a:solidFill>
                          <a:latin typeface="Roboto Bold" panose="02000000000000000000" pitchFamily="2" charset="0"/>
                          <a:ea typeface="Roboto Bold" panose="02000000000000000000" pitchFamily="2" charset="0"/>
                          <a:cs typeface="Roboto Bold" panose="02000000000000000000" pitchFamily="2" charset="0"/>
                        </a:rPr>
                        <a:t>Estudo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104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dirty="0">
                          <a:solidFill>
                            <a:srgbClr val="FFFFFF"/>
                          </a:solidFill>
                          <a:latin typeface="Roboto Bold" panose="02000000000000000000" pitchFamily="2" charset="0"/>
                          <a:ea typeface="Roboto Bold" panose="02000000000000000000" pitchFamily="2" charset="0"/>
                          <a:cs typeface="Roboto Bold" panose="02000000000000000000" pitchFamily="2" charset="0"/>
                        </a:rPr>
                        <a:t>O que mostrou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104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dirty="0">
                          <a:solidFill>
                            <a:srgbClr val="FFFFFF"/>
                          </a:solidFill>
                          <a:latin typeface="Roboto Bold" panose="02000000000000000000" pitchFamily="2" charset="0"/>
                          <a:ea typeface="Roboto Bold" panose="02000000000000000000" pitchFamily="2" charset="0"/>
                          <a:cs typeface="Roboto Bold" panose="02000000000000000000" pitchFamily="2" charset="0"/>
                        </a:rPr>
                        <a:t>Como se conecta ao LASCAS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94D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dirty="0">
                          <a:solidFill>
                            <a:srgbClr val="21049A"/>
                          </a:solidFill>
                          <a:latin typeface="Roboto Bold" panose="02000000000000000000" pitchFamily="2" charset="0"/>
                          <a:ea typeface="Roboto Bold" panose="02000000000000000000" pitchFamily="2" charset="0"/>
                          <a:cs typeface="Roboto Bold" panose="02000000000000000000" pitchFamily="2" charset="0"/>
                        </a:rPr>
                        <a:t>Garimella et al. (2022)</a:t>
                      </a:r>
                    </a:p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dirty="0">
                          <a:solidFill>
                            <a:srgbClr val="21049A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Contratos em inglês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EE"/>
                      </a:solidFill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dirty="0">
                          <a:solidFill>
                            <a:srgbClr val="172033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Falta um léxico jurídico; métricas automáticas não acompanham o julgamento humano; especialistas divergem sobre quanto detalhe manter.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EE"/>
                      </a:solidFill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dirty="0">
                          <a:solidFill>
                            <a:srgbClr val="172033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Glossário jurídico, avaliação com pessoas e três níveis de simplificação.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EE"/>
                      </a:solidFill>
                    </a:lnB>
                    <a:solidFill>
                      <a:srgbClr val="F1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dirty="0">
                          <a:solidFill>
                            <a:srgbClr val="21049A"/>
                          </a:solidFill>
                          <a:latin typeface="Roboto Bold" panose="02000000000000000000" pitchFamily="2" charset="0"/>
                          <a:ea typeface="Roboto Bold" panose="02000000000000000000" pitchFamily="2" charset="0"/>
                          <a:cs typeface="Roboto Bold" panose="02000000000000000000" pitchFamily="2" charset="0"/>
                        </a:rPr>
                        <a:t>Alves et al. (2023)</a:t>
                      </a:r>
                    </a:p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dirty="0">
                          <a:solidFill>
                            <a:srgbClr val="21049A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Ementas do TRF5 e do STF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dirty="0">
                          <a:solidFill>
                            <a:srgbClr val="172033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ATS melhora a legibilidade em português; testar LLMs fica como trabalho futuro.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dirty="0">
                          <a:solidFill>
                            <a:srgbClr val="172033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Aplica um LLM local a documentos jurídicos completos em português.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4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dirty="0">
                          <a:solidFill>
                            <a:srgbClr val="21049A"/>
                          </a:solidFill>
                          <a:latin typeface="Roboto Bold" panose="02000000000000000000" pitchFamily="2" charset="0"/>
                          <a:ea typeface="Roboto Bold" panose="02000000000000000000" pitchFamily="2" charset="0"/>
                          <a:cs typeface="Roboto Bold" panose="02000000000000000000" pitchFamily="2" charset="0"/>
                        </a:rPr>
                        <a:t>Athugodage et al. (2024)</a:t>
                      </a:r>
                    </a:p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dirty="0">
                          <a:solidFill>
                            <a:srgbClr val="21049A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Textos jurídicos russos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4EE"/>
                      </a:solidFill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dirty="0">
                          <a:solidFill>
                            <a:srgbClr val="172033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O tamanho dos documentos é o maior obstáculo: filtram e cortam textos longos; avaliam com juristas e leigos.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4EE"/>
                      </a:solidFill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dirty="0">
                          <a:solidFill>
                            <a:srgbClr val="172033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Divide o documento em blocos em vez de cortar; também avalia com participantes da área jurídica e de fora dela.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4EE"/>
                      </a:solidFill>
                    </a:lnB>
                    <a:solidFill>
                      <a:srgbClr val="F1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dirty="0">
                          <a:solidFill>
                            <a:srgbClr val="21049A"/>
                          </a:solidFill>
                          <a:latin typeface="Roboto Bold" panose="02000000000000000000" pitchFamily="2" charset="0"/>
                          <a:ea typeface="Roboto Bold" panose="02000000000000000000" pitchFamily="2" charset="0"/>
                          <a:cs typeface="Roboto Bold" panose="02000000000000000000" pitchFamily="2" charset="0"/>
                        </a:rPr>
                        <a:t>Toivonen et al. (2025)</a:t>
                      </a:r>
                    </a:p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dirty="0">
                          <a:solidFill>
                            <a:srgbClr val="21049A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Design jurídico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dirty="0">
                          <a:solidFill>
                            <a:srgbClr val="172033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Acessibilidade exige comunicação centrada no usuário, linguagem clara e IA responsável, com privacidade e autonomia.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dirty="0">
                          <a:solidFill>
                            <a:srgbClr val="172033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O usuário escolhe o nível, o processamento é local e o original fica sempre à vista.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4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dirty="0">
                          <a:solidFill>
                            <a:srgbClr val="21049A"/>
                          </a:solidFill>
                          <a:latin typeface="Roboto Bold" panose="02000000000000000000" pitchFamily="2" charset="0"/>
                          <a:ea typeface="Roboto Bold" panose="02000000000000000000" pitchFamily="2" charset="0"/>
                          <a:cs typeface="Roboto Bold" panose="02000000000000000000" pitchFamily="2" charset="0"/>
                        </a:rPr>
                        <a:t>Zimina-Poirot et al. (2025)</a:t>
                      </a:r>
                    </a:p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dirty="0">
                          <a:solidFill>
                            <a:srgbClr val="21049A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IA generativa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4EE"/>
                      </a:solidFill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dirty="0">
                          <a:solidFill>
                            <a:srgbClr val="172033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 IA simplifica bem, mas não percebe implicações jurídicas; precisa de revisão humana e ferramentas de verificação.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4EE"/>
                      </a:solidFill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dirty="0">
                          <a:solidFill>
                            <a:srgbClr val="172033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Valida o essencial e mostra o original ao lado; no benchmark, a saída também perdeu parte da fundamentação.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4EE"/>
                      </a:solidFill>
                    </a:lnB>
                    <a:solidFill>
                      <a:srgbClr val="F1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2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1D71B8B4-965B-4070-9396-28B2E9AAFDBB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6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1107417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507C0-2B49-6797-0E4F-40D0CD005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F0356E1-FC7F-701B-C858-94001CBA4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20953" cy="7211786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5D63176A-5B60-2002-3CF2-001D4BCB5988}"/>
              </a:ext>
            </a:extLst>
          </p:cNvPr>
          <p:cNvSpPr txBox="1"/>
          <p:nvPr/>
        </p:nvSpPr>
        <p:spPr>
          <a:xfrm>
            <a:off x="6236869" y="698876"/>
            <a:ext cx="4855673" cy="589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pt-BR" sz="4000" dirty="0">
                <a:solidFill>
                  <a:srgbClr val="2104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O que é o LASCAS?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2D1F72B-37BA-3CA6-B3E5-2525008CE75B}"/>
              </a:ext>
            </a:extLst>
          </p:cNvPr>
          <p:cNvSpPr txBox="1"/>
          <p:nvPr/>
        </p:nvSpPr>
        <p:spPr>
          <a:xfrm>
            <a:off x="5326686" y="4021426"/>
            <a:ext cx="615934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Executa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no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computador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do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usuário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: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reduz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dependência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de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serviço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externo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.</a:t>
            </a:r>
          </a:p>
          <a:p>
            <a:endParaRPr lang="en-US" sz="20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Combina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LLM com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regras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determinísticas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e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validação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de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integridade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.</a:t>
            </a:r>
          </a:p>
          <a:p>
            <a:endParaRPr lang="en-US" sz="20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A interface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deixa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o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texto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simplificado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ao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lado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do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documento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original.</a:t>
            </a:r>
            <a:endParaRPr lang="en-US" sz="20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0F8C804B-32ED-B3D4-093C-3FF3DDD768DC}"/>
              </a:ext>
            </a:extLst>
          </p:cNvPr>
          <p:cNvSpPr txBox="1"/>
          <p:nvPr/>
        </p:nvSpPr>
        <p:spPr>
          <a:xfrm>
            <a:off x="5657046" y="1359747"/>
            <a:ext cx="6015318" cy="67710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pt-BR" sz="1900" dirty="0">
                <a:solidFill>
                  <a:schemeClr val="accent4">
                    <a:lumMod val="50000"/>
                  </a:schemeClr>
                </a:solidFill>
                <a:latin typeface="Roboto Black"/>
                <a:ea typeface="Roboto Black"/>
                <a:cs typeface="Roboto Black"/>
              </a:rPr>
              <a:t>PROTÓTIPO LOCAL-FIRST PARA SIMPLIFICAR TEXTOS JURÍDICOS BRASILEIROS EM HTML OU PDF</a:t>
            </a:r>
          </a:p>
        </p:txBody>
      </p:sp>
      <p:sp>
        <p:nvSpPr>
          <p:cNvPr id="2" name="Shape 5">
            <a:extLst>
              <a:ext uri="{FF2B5EF4-FFF2-40B4-BE49-F238E27FC236}">
                <a16:creationId xmlns:a16="http://schemas.microsoft.com/office/drawing/2014/main" id="{47E3564F-2E5C-9FDA-D7D5-DDDD1446BCFF}"/>
              </a:ext>
            </a:extLst>
          </p:cNvPr>
          <p:cNvSpPr/>
          <p:nvPr/>
        </p:nvSpPr>
        <p:spPr>
          <a:xfrm>
            <a:off x="5384058" y="2571554"/>
            <a:ext cx="1165988" cy="969496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38100">
            <a:solidFill>
              <a:srgbClr val="21049A"/>
            </a:solidFill>
            <a:prstDash val="solid"/>
          </a:ln>
        </p:spPr>
        <p:txBody>
          <a:bodyPr/>
          <a:lstStyle/>
          <a:p>
            <a:pPr algn="ctr"/>
            <a:r>
              <a:rPr lang="pt-BR" sz="16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Entrada HTML / PDF</a:t>
            </a:r>
          </a:p>
        </p:txBody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E6B70695-2BBD-185D-4EA4-8F890FBFFAB1}"/>
              </a:ext>
            </a:extLst>
          </p:cNvPr>
          <p:cNvSpPr/>
          <p:nvPr/>
        </p:nvSpPr>
        <p:spPr>
          <a:xfrm>
            <a:off x="7051461" y="2530370"/>
            <a:ext cx="1165988" cy="987353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38100">
            <a:solidFill>
              <a:srgbClr val="E94D1C"/>
            </a:solidFill>
            <a:prstDash val="solid"/>
          </a:ln>
        </p:spPr>
        <p:txBody>
          <a:bodyPr/>
          <a:lstStyle/>
          <a:p>
            <a:pPr algn="ctr"/>
            <a:r>
              <a:rPr lang="pt-BR" sz="16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API local</a:t>
            </a:r>
          </a:p>
          <a:p>
            <a:pPr algn="ctr"/>
            <a:r>
              <a:rPr lang="pt-BR" sz="16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Node + Express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D465D8A9-B77D-7046-967A-68C9ED40E2E2}"/>
              </a:ext>
            </a:extLst>
          </p:cNvPr>
          <p:cNvSpPr/>
          <p:nvPr/>
        </p:nvSpPr>
        <p:spPr>
          <a:xfrm>
            <a:off x="8584392" y="2702080"/>
            <a:ext cx="1465057" cy="684272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38100">
            <a:solidFill>
              <a:srgbClr val="21049A"/>
            </a:solidFill>
            <a:prstDash val="solid"/>
          </a:ln>
        </p:spPr>
        <p:txBody>
          <a:bodyPr/>
          <a:lstStyle/>
          <a:p>
            <a:pPr algn="ctr"/>
            <a:r>
              <a:rPr lang="pt-BR" sz="16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Modelo local</a:t>
            </a:r>
          </a:p>
          <a:p>
            <a:pPr algn="ctr"/>
            <a:r>
              <a:rPr lang="pt-BR" sz="1600" b="1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Ollama</a:t>
            </a:r>
            <a:r>
              <a:rPr lang="pt-BR" sz="16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+ LLM</a:t>
            </a:r>
            <a:r>
              <a:rPr lang="pt-BR" dirty="0"/>
              <a:t>	</a:t>
            </a: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0C9E2573-AEBA-3BA1-CFC0-F8FE6A24A464}"/>
              </a:ext>
            </a:extLst>
          </p:cNvPr>
          <p:cNvSpPr/>
          <p:nvPr/>
        </p:nvSpPr>
        <p:spPr>
          <a:xfrm>
            <a:off x="10550864" y="2587863"/>
            <a:ext cx="1323831" cy="894853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38100">
            <a:solidFill>
              <a:srgbClr val="E94D1C"/>
            </a:solidFill>
            <a:prstDash val="solid"/>
          </a:ln>
        </p:spPr>
        <p:txBody>
          <a:bodyPr/>
          <a:lstStyle/>
          <a:p>
            <a:pPr algn="ctr"/>
            <a:r>
              <a:rPr lang="pt-BR" sz="16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Saída </a:t>
            </a:r>
            <a:r>
              <a:rPr lang="pt-BR" sz="1600" b="1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sidebar</a:t>
            </a:r>
            <a:r>
              <a:rPr lang="pt-BR" sz="16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simplificada</a:t>
            </a: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6EE43A8D-EB75-84DD-6DB9-114CA38E950B}"/>
              </a:ext>
            </a:extLst>
          </p:cNvPr>
          <p:cNvSpPr/>
          <p:nvPr/>
        </p:nvSpPr>
        <p:spPr>
          <a:xfrm>
            <a:off x="6550045" y="3029140"/>
            <a:ext cx="501415" cy="0"/>
          </a:xfrm>
          <a:prstGeom prst="line">
            <a:avLst/>
          </a:prstGeom>
          <a:noFill/>
          <a:ln w="17780">
            <a:solidFill>
              <a:srgbClr val="21049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dirty="0"/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283A903A-D31E-C49C-E65C-3C55BF0D2050}"/>
              </a:ext>
            </a:extLst>
          </p:cNvPr>
          <p:cNvSpPr/>
          <p:nvPr/>
        </p:nvSpPr>
        <p:spPr>
          <a:xfrm flipV="1">
            <a:off x="8228328" y="3029140"/>
            <a:ext cx="356064" cy="0"/>
          </a:xfrm>
          <a:prstGeom prst="line">
            <a:avLst/>
          </a:prstGeom>
          <a:noFill/>
          <a:ln w="17780">
            <a:solidFill>
              <a:srgbClr val="21049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280C39D4-E7BA-1F56-274D-ED0A9B9AA364}"/>
              </a:ext>
            </a:extLst>
          </p:cNvPr>
          <p:cNvSpPr/>
          <p:nvPr/>
        </p:nvSpPr>
        <p:spPr>
          <a:xfrm flipV="1">
            <a:off x="10060328" y="3035288"/>
            <a:ext cx="490536" cy="1"/>
          </a:xfrm>
          <a:prstGeom prst="line">
            <a:avLst/>
          </a:prstGeom>
          <a:noFill/>
          <a:ln w="17780">
            <a:solidFill>
              <a:srgbClr val="21049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dirty="0"/>
          </a:p>
        </p:txBody>
      </p:sp>
      <p:sp>
        <p:nvSpPr>
          <p:cNvPr id="24" name="Número do slide"/>
          <p:cNvSpPr/>
          <p:nvPr userDrawn="1"/>
        </p:nvSpPr>
        <p:spPr>
          <a:xfrm>
            <a:off x="11631168" y="5897880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C0F599ED-3EE9-4302-86FE-4F554AED722B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7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1784980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Fundo branc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" y="-27432"/>
            <a:ext cx="12246864" cy="6912864"/>
          </a:xfrm>
          <a:prstGeom prst="rect">
            <a:avLst/>
          </a:prstGeom>
        </p:spPr>
      </p:pic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454BA3A6-CCB2-2572-8866-DF968A330E7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7200" y="274320"/>
            <a:ext cx="10515600" cy="731520"/>
          </a:xfrm>
        </p:spPr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Arquitetura: fluxo principal</a:t>
            </a:r>
          </a:p>
        </p:txBody>
      </p:sp>
      <p:sp>
        <p:nvSpPr>
          <p:cNvPr id="110" name="Navegador (extensão MV3)"/>
          <p:cNvSpPr/>
          <p:nvPr/>
        </p:nvSpPr>
        <p:spPr>
          <a:xfrm>
            <a:off x="457200" y="1188720"/>
            <a:ext cx="3017520" cy="4983480"/>
          </a:xfrm>
          <a:prstGeom prst="roundRect">
            <a:avLst>
              <a:gd name="adj" fmla="val 6000"/>
            </a:avLst>
          </a:prstGeom>
          <a:solidFill>
            <a:srgbClr val="F1EEFA"/>
          </a:solidFill>
          <a:ln>
            <a:noFill/>
          </a:ln>
        </p:spPr>
        <p:txBody>
          <a:bodyPr wrap="square" lIns="91440" tIns="109728" rIns="91440" bIns="4572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Navegador (extensão MV3)</a:t>
            </a:r>
          </a:p>
        </p:txBody>
      </p:sp>
      <p:sp>
        <p:nvSpPr>
          <p:cNvPr id="111" name="Serviço local (Node + Express)"/>
          <p:cNvSpPr/>
          <p:nvPr/>
        </p:nvSpPr>
        <p:spPr>
          <a:xfrm>
            <a:off x="3886200" y="1188720"/>
            <a:ext cx="4846320" cy="4983480"/>
          </a:xfrm>
          <a:prstGeom prst="roundRect">
            <a:avLst>
              <a:gd name="adj" fmla="val 6000"/>
            </a:avLst>
          </a:prstGeom>
          <a:solidFill>
            <a:srgbClr val="F1EEFA"/>
          </a:solidFill>
          <a:ln>
            <a:noFill/>
          </a:ln>
        </p:spPr>
        <p:txBody>
          <a:bodyPr wrap="square" lIns="91440" tIns="109728" rIns="91440" bIns="4572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Serviço local (Node + Express)</a:t>
            </a:r>
          </a:p>
        </p:txBody>
      </p:sp>
      <p:sp>
        <p:nvSpPr>
          <p:cNvPr id="112" name="Modelo local"/>
          <p:cNvSpPr/>
          <p:nvPr/>
        </p:nvSpPr>
        <p:spPr>
          <a:xfrm>
            <a:off x="9144000" y="3017520"/>
            <a:ext cx="2514600" cy="1874520"/>
          </a:xfrm>
          <a:prstGeom prst="roundRect">
            <a:avLst>
              <a:gd name="adj" fmla="val 6000"/>
            </a:avLst>
          </a:prstGeom>
          <a:solidFill>
            <a:srgbClr val="F1EEFA"/>
          </a:solidFill>
          <a:ln>
            <a:noFill/>
          </a:ln>
        </p:spPr>
        <p:txBody>
          <a:bodyPr wrap="square" lIns="91440" tIns="109728" rIns="91440" bIns="4572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Modelo local</a:t>
            </a:r>
          </a:p>
        </p:txBody>
      </p:sp>
      <p:sp>
        <p:nvSpPr>
          <p:cNvPr id="120" name="Pop-up escolhe o nível; o cont"/>
          <p:cNvSpPr/>
          <p:nvPr/>
        </p:nvSpPr>
        <p:spPr>
          <a:xfrm>
            <a:off x="685800" y="1783080"/>
            <a:ext cx="256032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1049A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Pop-up escolhe o nível; o content script lê a página ou o PDF</a:t>
            </a:r>
          </a:p>
        </p:txBody>
      </p:sp>
      <p:sp>
        <p:nvSpPr>
          <p:cNvPr id="121" name="Sidebar mostra o texto simplif"/>
          <p:cNvSpPr/>
          <p:nvPr/>
        </p:nvSpPr>
        <p:spPr>
          <a:xfrm>
            <a:off x="685800" y="4754880"/>
            <a:ext cx="256032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1049A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Sidebar mostra o texto simplificado ao lado do original</a:t>
            </a:r>
          </a:p>
        </p:txBody>
      </p:sp>
      <p:sp>
        <p:nvSpPr>
          <p:cNvPr id="130" name="API local: /simplify e /simpli"/>
          <p:cNvSpPr/>
          <p:nvPr/>
        </p:nvSpPr>
        <p:spPr>
          <a:xfrm>
            <a:off x="4114800" y="1737360"/>
            <a:ext cx="43891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1049A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API local: /simplify e /simplify-pdf</a:t>
            </a:r>
          </a:p>
        </p:txBody>
      </p:sp>
      <p:sp>
        <p:nvSpPr>
          <p:cNvPr id="131" name="Extração do PDF (pdfjs-dist)"/>
          <p:cNvSpPr/>
          <p:nvPr/>
        </p:nvSpPr>
        <p:spPr>
          <a:xfrm>
            <a:off x="4114800" y="2450592"/>
            <a:ext cx="43891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1049A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Extração do PDF (pdfjs-dist)</a:t>
            </a:r>
          </a:p>
        </p:txBody>
      </p:sp>
      <p:sp>
        <p:nvSpPr>
          <p:cNvPr id="132" name="Pré-processamento e proteção d"/>
          <p:cNvSpPr/>
          <p:nvPr/>
        </p:nvSpPr>
        <p:spPr>
          <a:xfrm>
            <a:off x="4114800" y="3163824"/>
            <a:ext cx="43891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1049A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Pré-processamento e proteção do essencial</a:t>
            </a:r>
          </a:p>
        </p:txBody>
      </p:sp>
      <p:sp>
        <p:nvSpPr>
          <p:cNvPr id="133" name="Motor de simplificação (LLM lo"/>
          <p:cNvSpPr/>
          <p:nvPr/>
        </p:nvSpPr>
        <p:spPr>
          <a:xfrm>
            <a:off x="4114800" y="3877056"/>
            <a:ext cx="4389120" cy="530352"/>
          </a:xfrm>
          <a:prstGeom prst="roundRect">
            <a:avLst>
              <a:gd name="adj" fmla="val 12000"/>
            </a:avLst>
          </a:prstGeom>
          <a:solidFill>
            <a:srgbClr val="E94D1C"/>
          </a:solidFill>
          <a:ln w="15875">
            <a:solidFill>
              <a:srgbClr val="E94D1C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Motor de simplificação (LLM local ou regras)</a:t>
            </a:r>
          </a:p>
        </p:txBody>
      </p:sp>
      <p:sp>
        <p:nvSpPr>
          <p:cNvPr id="134" name="Glossário na primeira ocorrênc"/>
          <p:cNvSpPr/>
          <p:nvPr/>
        </p:nvSpPr>
        <p:spPr>
          <a:xfrm>
            <a:off x="4114800" y="4590288"/>
            <a:ext cx="43891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1049A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Glossário na primeira ocorrência</a:t>
            </a:r>
          </a:p>
        </p:txBody>
      </p:sp>
      <p:sp>
        <p:nvSpPr>
          <p:cNvPr id="135" name="Validação de integridade (fall"/>
          <p:cNvSpPr/>
          <p:nvPr/>
        </p:nvSpPr>
        <p:spPr>
          <a:xfrm>
            <a:off x="4114800" y="5303520"/>
            <a:ext cx="43891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1049A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Validação de integridade (fallback se falhar)</a:t>
            </a:r>
          </a:p>
        </p:txBody>
      </p:sp>
      <p:cxnSp>
        <p:nvCxnSpPr>
          <p:cNvPr id="140" name="Seta 140"/>
          <p:cNvCxnSpPr/>
          <p:nvPr/>
        </p:nvCxnSpPr>
        <p:spPr>
          <a:xfrm>
            <a:off x="6309360" y="2267712"/>
            <a:ext cx="0" cy="182880"/>
          </a:xfrm>
          <a:prstGeom prst="straightConnector1">
            <a:avLst/>
          </a:prstGeom>
          <a:ln w="22225">
            <a:solidFill>
              <a:srgbClr val="21049A"/>
            </a:solidFill>
            <a:tailEnd type="triangle" w="med" len="med"/>
          </a:ln>
        </p:spPr>
      </p:cxnSp>
      <p:cxnSp>
        <p:nvCxnSpPr>
          <p:cNvPr id="141" name="Seta 141"/>
          <p:cNvCxnSpPr/>
          <p:nvPr/>
        </p:nvCxnSpPr>
        <p:spPr>
          <a:xfrm>
            <a:off x="6309360" y="2980944"/>
            <a:ext cx="0" cy="182880"/>
          </a:xfrm>
          <a:prstGeom prst="straightConnector1">
            <a:avLst/>
          </a:prstGeom>
          <a:ln w="22225">
            <a:solidFill>
              <a:srgbClr val="21049A"/>
            </a:solidFill>
            <a:tailEnd type="triangle" w="med" len="med"/>
          </a:ln>
        </p:spPr>
      </p:cxnSp>
      <p:cxnSp>
        <p:nvCxnSpPr>
          <p:cNvPr id="142" name="Seta 142"/>
          <p:cNvCxnSpPr/>
          <p:nvPr/>
        </p:nvCxnSpPr>
        <p:spPr>
          <a:xfrm>
            <a:off x="6309360" y="3694176"/>
            <a:ext cx="0" cy="182880"/>
          </a:xfrm>
          <a:prstGeom prst="straightConnector1">
            <a:avLst/>
          </a:prstGeom>
          <a:ln w="22225">
            <a:solidFill>
              <a:srgbClr val="21049A"/>
            </a:solidFill>
            <a:tailEnd type="triangle" w="med" len="med"/>
          </a:ln>
        </p:spPr>
      </p:cxnSp>
      <p:cxnSp>
        <p:nvCxnSpPr>
          <p:cNvPr id="143" name="Seta 143"/>
          <p:cNvCxnSpPr/>
          <p:nvPr/>
        </p:nvCxnSpPr>
        <p:spPr>
          <a:xfrm>
            <a:off x="6309360" y="4407408"/>
            <a:ext cx="0" cy="182880"/>
          </a:xfrm>
          <a:prstGeom prst="straightConnector1">
            <a:avLst/>
          </a:prstGeom>
          <a:ln w="22225">
            <a:solidFill>
              <a:srgbClr val="21049A"/>
            </a:solidFill>
            <a:tailEnd type="triangle" w="med" len="med"/>
          </a:ln>
        </p:spPr>
      </p:cxnSp>
      <p:cxnSp>
        <p:nvCxnSpPr>
          <p:cNvPr id="144" name="Seta 144"/>
          <p:cNvCxnSpPr/>
          <p:nvPr/>
        </p:nvCxnSpPr>
        <p:spPr>
          <a:xfrm>
            <a:off x="6309360" y="5120640"/>
            <a:ext cx="0" cy="182880"/>
          </a:xfrm>
          <a:prstGeom prst="straightConnector1">
            <a:avLst/>
          </a:prstGeom>
          <a:ln w="22225">
            <a:solidFill>
              <a:srgbClr val="21049A"/>
            </a:solidFill>
            <a:tailEnd type="triangle" w="med" len="med"/>
          </a:ln>
        </p:spPr>
      </p:cxnSp>
      <p:sp>
        <p:nvSpPr>
          <p:cNvPr id="150" name="Ollama + Llama 3.1 8B (4 bits)"/>
          <p:cNvSpPr/>
          <p:nvPr/>
        </p:nvSpPr>
        <p:spPr>
          <a:xfrm>
            <a:off x="9326880" y="3611880"/>
            <a:ext cx="2148840" cy="1051560"/>
          </a:xfrm>
          <a:prstGeom prst="roundRect">
            <a:avLst>
              <a:gd name="adj" fmla="val 12000"/>
            </a:avLst>
          </a:prstGeom>
          <a:solidFill>
            <a:srgbClr val="21049A"/>
          </a:solidFill>
          <a:ln w="15875">
            <a:solidFill>
              <a:srgbClr val="21049A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Ollama + Llama 3.1 8B (4 bits)</a:t>
            </a:r>
          </a:p>
        </p:txBody>
      </p:sp>
      <p:cxnSp>
        <p:nvCxnSpPr>
          <p:cNvPr id="160" name="Seta 160"/>
          <p:cNvCxnSpPr/>
          <p:nvPr/>
        </p:nvCxnSpPr>
        <p:spPr>
          <a:xfrm>
            <a:off x="3246120" y="2002536"/>
            <a:ext cx="868680" cy="0"/>
          </a:xfrm>
          <a:prstGeom prst="straightConnector1">
            <a:avLst/>
          </a:prstGeom>
          <a:ln w="28575">
            <a:solidFill>
              <a:srgbClr val="E94D1C"/>
            </a:solidFill>
            <a:tailEnd type="triangle" w="med" len="med"/>
          </a:ln>
        </p:spPr>
      </p:cxnSp>
      <p:cxnSp>
        <p:nvCxnSpPr>
          <p:cNvPr id="161" name="Seta 161"/>
          <p:cNvCxnSpPr/>
          <p:nvPr/>
        </p:nvCxnSpPr>
        <p:spPr>
          <a:xfrm>
            <a:off x="8503920" y="4142232"/>
            <a:ext cx="822960" cy="0"/>
          </a:xfrm>
          <a:prstGeom prst="straightConnector1">
            <a:avLst/>
          </a:prstGeom>
          <a:ln w="28575">
            <a:solidFill>
              <a:srgbClr val="E94D1C"/>
            </a:solidFill>
            <a:headEnd type="triangle" w="med" len="med"/>
            <a:tailEnd type="triangle" w="med" len="med"/>
          </a:ln>
        </p:spPr>
      </p:cxnSp>
      <p:cxnSp>
        <p:nvCxnSpPr>
          <p:cNvPr id="162" name="Seta 162"/>
          <p:cNvCxnSpPr/>
          <p:nvPr/>
        </p:nvCxnSpPr>
        <p:spPr>
          <a:xfrm flipH="1">
            <a:off x="3246120" y="5568696"/>
            <a:ext cx="868680" cy="0"/>
          </a:xfrm>
          <a:prstGeom prst="straightConnector1">
            <a:avLst/>
          </a:prstGeom>
          <a:ln w="28575">
            <a:solidFill>
              <a:srgbClr val="E94D1C"/>
            </a:solidFill>
            <a:tailEnd type="triangle" w="med" len="med"/>
          </a:ln>
        </p:spPr>
      </p:cxnSp>
      <p:sp>
        <p:nvSpPr>
          <p:cNvPr id="163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FF8F66BB-F387-4F5C-A076-5E8B96303D7B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8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4190394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6035E-D06C-0E40-A010-3ED8215F4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C416CEE-B282-3466-1E2D-A51CE4963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E94D1C"/>
          </a:solidFill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374644D-6E36-733F-CE25-534E7DCF5EC2}"/>
              </a:ext>
            </a:extLst>
          </p:cNvPr>
          <p:cNvSpPr txBox="1"/>
          <p:nvPr/>
        </p:nvSpPr>
        <p:spPr>
          <a:xfrm>
            <a:off x="3710941" y="4188687"/>
            <a:ext cx="6766560" cy="2100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45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Dois modos principais:</a:t>
            </a:r>
          </a:p>
          <a:p>
            <a:pPr marL="285750" indent="-2857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Leve: </a:t>
            </a:r>
            <a:r>
              <a:rPr lang="fr-FR" b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reescrita frase a frase, fiel e quase do mesmo tamanho.</a:t>
            </a:r>
          </a:p>
          <a:p>
            <a:pPr marL="285750" indent="-2857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Médio/Forte: </a:t>
            </a:r>
            <a:r>
              <a:rPr lang="pt-BR" b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condensação em blocos (até duas tentativas por bloco), com fallback heurístico que garante a redução.</a:t>
            </a:r>
          </a:p>
          <a:p>
            <a:pPr marL="0" indent="0" algn="ctr">
              <a:spcBef>
                <a:spcPts val="600"/>
              </a:spcBef>
              <a:buNone/>
            </a:pPr>
            <a:endParaRPr lang="pt-BR" sz="12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 algn="ctr">
              <a:spcBef>
                <a:spcPts val="600"/>
              </a:spcBef>
              <a:buNone/>
            </a:pPr>
            <a:r>
              <a:rPr lang="pt-BR" sz="12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Entrada em PDF: </a:t>
            </a:r>
            <a:r>
              <a:rPr lang="pt-BR" sz="1200" b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extração com </a:t>
            </a:r>
            <a:r>
              <a:rPr lang="pt-BR" sz="1200" b="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pdfjs-dist</a:t>
            </a:r>
            <a:r>
              <a:rPr lang="pt-BR" sz="1200" b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linhas reconstruídas por coordenadas e números.</a:t>
            </a:r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3EBD5842-1188-3138-2C22-681EDF500A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648529" y="-781144"/>
            <a:ext cx="3844890" cy="2781300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B42E91A7-21B5-90AB-C86F-B486BDDB88D6}"/>
              </a:ext>
            </a:extLst>
          </p:cNvPr>
          <p:cNvSpPr txBox="1"/>
          <p:nvPr/>
        </p:nvSpPr>
        <p:spPr>
          <a:xfrm>
            <a:off x="0" y="355002"/>
            <a:ext cx="680421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4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Pipeline de simplificação: do bruto ao texto final</a:t>
            </a:r>
          </a:p>
        </p:txBody>
      </p:sp>
      <p:sp>
        <p:nvSpPr>
          <p:cNvPr id="2" name="Shape 4">
            <a:extLst>
              <a:ext uri="{FF2B5EF4-FFF2-40B4-BE49-F238E27FC236}">
                <a16:creationId xmlns:a16="http://schemas.microsoft.com/office/drawing/2014/main" id="{CCF2C313-829F-6B1C-DF33-3B8B22486B5A}"/>
              </a:ext>
            </a:extLst>
          </p:cNvPr>
          <p:cNvSpPr/>
          <p:nvPr/>
        </p:nvSpPr>
        <p:spPr>
          <a:xfrm>
            <a:off x="479611" y="3135854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E94D1C"/>
          </a:solidFill>
          <a:ln w="12700">
            <a:solidFill>
              <a:srgbClr val="E94D1C"/>
            </a:solidFill>
            <a:prstDash val="solid"/>
          </a:ln>
        </p:spPr>
        <p:txBody>
          <a:bodyPr/>
          <a:lstStyle/>
          <a:p>
            <a:pPr algn="ctr"/>
            <a:r>
              <a:rPr lang="pt-BR" b="1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</a:t>
            </a:r>
          </a:p>
          <a:p>
            <a:pPr algn="ctr"/>
            <a:r>
              <a:rPr lang="pt-BR" b="1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Normalizar artefatos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9DABB475-56C0-2E4E-23AF-B459C3F6636D}"/>
              </a:ext>
            </a:extLst>
          </p:cNvPr>
          <p:cNvSpPr/>
          <p:nvPr/>
        </p:nvSpPr>
        <p:spPr>
          <a:xfrm>
            <a:off x="2819401" y="3162748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E94D1C"/>
          </a:solidFill>
          <a:ln w="12700">
            <a:solidFill>
              <a:srgbClr val="E94D1C"/>
            </a:solidFill>
            <a:prstDash val="solid"/>
          </a:ln>
        </p:spPr>
        <p:txBody>
          <a:bodyPr/>
          <a:lstStyle/>
          <a:p>
            <a:pPr algn="ctr"/>
            <a:r>
              <a:rPr lang="pt-BR" b="1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2</a:t>
            </a:r>
          </a:p>
          <a:p>
            <a:pPr algn="ctr"/>
            <a:r>
              <a:rPr lang="pt-BR" b="1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Dividir em frases/blocos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D224533-7B55-E5BB-0BE3-227C5BF9C2CC}"/>
              </a:ext>
            </a:extLst>
          </p:cNvPr>
          <p:cNvSpPr/>
          <p:nvPr/>
        </p:nvSpPr>
        <p:spPr>
          <a:xfrm>
            <a:off x="5159191" y="3162748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E94D1C"/>
          </a:solidFill>
          <a:ln w="12700">
            <a:solidFill>
              <a:srgbClr val="E94D1C"/>
            </a:solidFill>
            <a:prstDash val="solid"/>
          </a:ln>
        </p:spPr>
        <p:txBody>
          <a:bodyPr/>
          <a:lstStyle/>
          <a:p>
            <a:pPr algn="ctr"/>
            <a:r>
              <a:rPr lang="pt-BR" b="1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3</a:t>
            </a:r>
          </a:p>
          <a:p>
            <a:pPr algn="ctr"/>
            <a:r>
              <a:rPr lang="pt-BR" b="1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LLM local ou </a:t>
            </a:r>
            <a:r>
              <a:rPr lang="pt-BR" b="1" dirty="0" err="1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fallback</a:t>
            </a:r>
            <a:endParaRPr lang="pt-BR" b="1" dirty="0">
              <a:solidFill>
                <a:srgbClr val="21049A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864BD16-DB50-1D76-C8E8-CDA1696D6627}"/>
              </a:ext>
            </a:extLst>
          </p:cNvPr>
          <p:cNvSpPr/>
          <p:nvPr/>
        </p:nvSpPr>
        <p:spPr>
          <a:xfrm>
            <a:off x="7625835" y="3162748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E94D1C"/>
          </a:solidFill>
          <a:ln w="12700">
            <a:solidFill>
              <a:srgbClr val="E94D1C"/>
            </a:solidFill>
            <a:prstDash val="solid"/>
          </a:ln>
        </p:spPr>
        <p:txBody>
          <a:bodyPr/>
          <a:lstStyle/>
          <a:p>
            <a:pPr algn="ctr"/>
            <a:r>
              <a:rPr lang="pt-BR" b="1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4</a:t>
            </a:r>
          </a:p>
          <a:p>
            <a:pPr algn="ctr"/>
            <a:r>
              <a:rPr lang="pt-BR" b="1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Glossário e estrutura</a:t>
            </a: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FFBCC2D6-42A1-F77C-DA79-7038D12DA3EA}"/>
              </a:ext>
            </a:extLst>
          </p:cNvPr>
          <p:cNvSpPr/>
          <p:nvPr/>
        </p:nvSpPr>
        <p:spPr>
          <a:xfrm>
            <a:off x="10121627" y="3162748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E94D1C"/>
          </a:solidFill>
          <a:ln w="12700">
            <a:solidFill>
              <a:srgbClr val="E94D1C"/>
            </a:solidFill>
            <a:prstDash val="solid"/>
          </a:ln>
        </p:spPr>
        <p:txBody>
          <a:bodyPr/>
          <a:lstStyle/>
          <a:p>
            <a:pPr algn="ctr"/>
            <a:r>
              <a:rPr lang="pt-BR" b="1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5</a:t>
            </a:r>
          </a:p>
          <a:p>
            <a:pPr algn="ctr"/>
            <a:r>
              <a:rPr lang="pt-BR" b="1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Validar integridade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2DD84E24-A78A-5BFD-ABCB-0896FF344E7C}"/>
              </a:ext>
            </a:extLst>
          </p:cNvPr>
          <p:cNvSpPr/>
          <p:nvPr/>
        </p:nvSpPr>
        <p:spPr>
          <a:xfrm>
            <a:off x="2262691" y="3619948"/>
            <a:ext cx="556710" cy="0"/>
          </a:xfrm>
          <a:prstGeom prst="line">
            <a:avLst/>
          </a:prstGeom>
          <a:noFill/>
          <a:ln w="17780">
            <a:solidFill>
              <a:schemeClr val="bg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7F0F482-7448-5F02-B38E-8735D00BD0D2}"/>
              </a:ext>
            </a:extLst>
          </p:cNvPr>
          <p:cNvSpPr/>
          <p:nvPr/>
        </p:nvSpPr>
        <p:spPr>
          <a:xfrm>
            <a:off x="4602481" y="3619948"/>
            <a:ext cx="556710" cy="0"/>
          </a:xfrm>
          <a:prstGeom prst="line">
            <a:avLst/>
          </a:prstGeom>
          <a:noFill/>
          <a:ln w="17780">
            <a:solidFill>
              <a:schemeClr val="bg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4DC59459-626E-06A1-6203-7E0A62A9437B}"/>
              </a:ext>
            </a:extLst>
          </p:cNvPr>
          <p:cNvSpPr/>
          <p:nvPr/>
        </p:nvSpPr>
        <p:spPr>
          <a:xfrm>
            <a:off x="6942271" y="3630706"/>
            <a:ext cx="683564" cy="10758"/>
          </a:xfrm>
          <a:prstGeom prst="line">
            <a:avLst/>
          </a:prstGeom>
          <a:noFill/>
          <a:ln w="17780">
            <a:solidFill>
              <a:schemeClr val="bg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219FCAA3-96F8-2D2B-5585-C2A80232F340}"/>
              </a:ext>
            </a:extLst>
          </p:cNvPr>
          <p:cNvSpPr/>
          <p:nvPr/>
        </p:nvSpPr>
        <p:spPr>
          <a:xfrm flipV="1">
            <a:off x="9408915" y="3630706"/>
            <a:ext cx="712712" cy="10758"/>
          </a:xfrm>
          <a:prstGeom prst="line">
            <a:avLst/>
          </a:prstGeom>
          <a:noFill/>
          <a:ln w="17780">
            <a:solidFill>
              <a:schemeClr val="bg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8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17CFBF2E-76CC-4961-9B39-E916CA98B4F3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9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3929657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1CD9C-F48F-D004-3BD7-BA9963146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Ícone&#10;&#10;O conteúdo gerado por IA pode estar incorreto.">
            <a:extLst>
              <a:ext uri="{FF2B5EF4-FFF2-40B4-BE49-F238E27FC236}">
                <a16:creationId xmlns:a16="http://schemas.microsoft.com/office/drawing/2014/main" id="{77BFE504-436C-4C65-EE78-975B0D651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9633FBB-DDC2-0E94-CDD8-8187A26E296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50447" y="388389"/>
            <a:ext cx="7024623" cy="1229453"/>
          </a:xfrm>
        </p:spPr>
        <p:txBody>
          <a:bodyPr>
            <a:normAutofit fontScale="90000"/>
          </a:bodyPr>
          <a:lstStyle/>
          <a:p>
            <a:r>
              <a:rPr lang="pt-BR" sz="4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SEGURANÇA SEMÂNTICA:</a:t>
            </a:r>
            <a:br>
              <a:rPr lang="pt-BR" sz="4000" b="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</a:br>
            <a:r>
              <a:rPr lang="pt-BR" sz="3600" b="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simplificar sem perder o essencial</a:t>
            </a:r>
            <a:endParaRPr lang="pt-BR" sz="4000" b="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D5C901B-C6DD-476A-314F-7A22B3F9F1AE}"/>
              </a:ext>
            </a:extLst>
          </p:cNvPr>
          <p:cNvSpPr txBox="1"/>
          <p:nvPr/>
        </p:nvSpPr>
        <p:spPr>
          <a:xfrm>
            <a:off x="7977466" y="1453896"/>
            <a:ext cx="397136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No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nível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leve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 placeholders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preservam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itens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frágeis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antes da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chamada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LLM.</a:t>
            </a:r>
          </a:p>
          <a:p>
            <a:pPr algn="r"/>
            <a:endParaRPr lang="en-US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algn="r"/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No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médio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/forte, o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validador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preserva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o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essencial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e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permite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omitir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qualificações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não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essenciais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como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CPF/RG/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endereço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quando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não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afetam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o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sentido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.</a:t>
            </a:r>
          </a:p>
          <a:p>
            <a:pPr algn="r"/>
            <a:endParaRPr lang="en-US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algn="r"/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Se o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resultado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falha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na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validação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 o fallback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determinístico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entra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em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ação</a:t>
            </a:r>
            <a:r>
              <a:rPr lang="en-US" sz="14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.</a:t>
            </a:r>
            <a:endParaRPr lang="en-US" sz="14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9CB1CEB-ECB2-74C4-E9B4-89E65DC86534}"/>
              </a:ext>
            </a:extLst>
          </p:cNvPr>
          <p:cNvSpPr txBox="1"/>
          <p:nvPr/>
        </p:nvSpPr>
        <p:spPr>
          <a:xfrm>
            <a:off x="243169" y="3300556"/>
            <a:ext cx="34861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O sistema protege ou valida itens que alteram o significado jurídico.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6484F852-56AF-FC02-757F-8BF6374799E3}"/>
              </a:ext>
            </a:extLst>
          </p:cNvPr>
          <p:cNvSpPr/>
          <p:nvPr/>
        </p:nvSpPr>
        <p:spPr>
          <a:xfrm>
            <a:off x="99621" y="4934644"/>
            <a:ext cx="2430890" cy="310896"/>
          </a:xfrm>
          <a:prstGeom prst="roundRect">
            <a:avLst>
              <a:gd name="adj" fmla="val 23529"/>
            </a:avLst>
          </a:prstGeom>
          <a:solidFill>
            <a:srgbClr val="E94D1C">
              <a:alpha val="9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b="1" spc="3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datas</a:t>
            </a: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8227989C-7B56-AA4B-A5DB-C2B0063425E8}"/>
              </a:ext>
            </a:extLst>
          </p:cNvPr>
          <p:cNvSpPr/>
          <p:nvPr/>
        </p:nvSpPr>
        <p:spPr>
          <a:xfrm>
            <a:off x="2680109" y="4944796"/>
            <a:ext cx="2348754" cy="310896"/>
          </a:xfrm>
          <a:prstGeom prst="roundRect">
            <a:avLst>
              <a:gd name="adj" fmla="val 23529"/>
            </a:avLst>
          </a:prstGeom>
          <a:solidFill>
            <a:srgbClr val="21049A">
              <a:alpha val="9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b="1" spc="3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    valores</a:t>
            </a:r>
            <a:r>
              <a:rPr lang="pt-BR" dirty="0"/>
              <a:t>	</a:t>
            </a: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5CD1A6BC-1990-D84A-BB5D-BA978D3274B5}"/>
              </a:ext>
            </a:extLst>
          </p:cNvPr>
          <p:cNvSpPr/>
          <p:nvPr/>
        </p:nvSpPr>
        <p:spPr>
          <a:xfrm>
            <a:off x="5178461" y="4934644"/>
            <a:ext cx="2374861" cy="310896"/>
          </a:xfrm>
          <a:prstGeom prst="roundRect">
            <a:avLst>
              <a:gd name="adj" fmla="val 23529"/>
            </a:avLst>
          </a:prstGeom>
          <a:solidFill>
            <a:srgbClr val="E94D1C">
              <a:alpha val="9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b="1" spc="3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percentuais</a:t>
            </a:r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0A79C5B1-6479-C948-8518-361348D4FAAC}"/>
              </a:ext>
            </a:extLst>
          </p:cNvPr>
          <p:cNvSpPr/>
          <p:nvPr/>
        </p:nvSpPr>
        <p:spPr>
          <a:xfrm>
            <a:off x="127636" y="5575731"/>
            <a:ext cx="2374861" cy="310896"/>
          </a:xfrm>
          <a:prstGeom prst="roundRect">
            <a:avLst>
              <a:gd name="adj" fmla="val 23529"/>
            </a:avLst>
          </a:prstGeom>
          <a:solidFill>
            <a:srgbClr val="21049A">
              <a:alpha val="9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600" b="1" spc="3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citações</a:t>
            </a:r>
            <a:r>
              <a:rPr lang="pt-BR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pt-BR" sz="1600" b="1" spc="3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legais</a:t>
            </a:r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13785166-1F88-30A5-3B38-6D097C34C25F}"/>
              </a:ext>
            </a:extLst>
          </p:cNvPr>
          <p:cNvSpPr/>
          <p:nvPr/>
        </p:nvSpPr>
        <p:spPr>
          <a:xfrm>
            <a:off x="2653048" y="5600171"/>
            <a:ext cx="2374862" cy="310896"/>
          </a:xfrm>
          <a:prstGeom prst="roundRect">
            <a:avLst>
              <a:gd name="adj" fmla="val 23529"/>
            </a:avLst>
          </a:prstGeom>
          <a:solidFill>
            <a:srgbClr val="E94D1C">
              <a:alpha val="9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r>
              <a:rPr lang="pt-BR" sz="1200" b="1" spc="3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processos</a:t>
            </a:r>
            <a:r>
              <a:rPr lang="pt-BR" sz="1200" b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/</a:t>
            </a:r>
            <a:r>
              <a:rPr lang="pt-BR" sz="12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pt-BR" sz="1200" b="1" spc="3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registros</a:t>
            </a:r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E53D3249-71D0-1FC7-9ECF-8C3A92006F76}"/>
              </a:ext>
            </a:extLst>
          </p:cNvPr>
          <p:cNvSpPr/>
          <p:nvPr/>
        </p:nvSpPr>
        <p:spPr>
          <a:xfrm>
            <a:off x="5178461" y="5575731"/>
            <a:ext cx="2374861" cy="310896"/>
          </a:xfrm>
          <a:prstGeom prst="roundRect">
            <a:avLst>
              <a:gd name="adj" fmla="val 23529"/>
            </a:avLst>
          </a:prstGeom>
          <a:solidFill>
            <a:srgbClr val="21049A">
              <a:alpha val="9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b="1" spc="3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negações</a:t>
            </a:r>
            <a:r>
              <a:rPr lang="pt-BR" dirty="0"/>
              <a:t> </a:t>
            </a:r>
          </a:p>
        </p:txBody>
      </p:sp>
      <p:sp>
        <p:nvSpPr>
          <p:cNvPr id="17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5FBD93EB-E85F-49A2-B068-2C951C823DDB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10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3956235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B47E7B16-8FC4-97CF-EF88-ABEB42CFF39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50694" y="173037"/>
            <a:ext cx="3927494" cy="1118045"/>
          </a:xfrm>
        </p:spPr>
        <p:txBody>
          <a:bodyPr/>
          <a:lstStyle/>
          <a:p>
            <a:r>
              <a:rPr lang="pt-BR" dirty="0"/>
              <a:t>GLOSSÁRIO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9CFD92BC-F4D9-3B7A-58FE-F0453CEBECF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8960" y="1545388"/>
            <a:ext cx="3927494" cy="941129"/>
          </a:xfrm>
        </p:spPr>
        <p:txBody>
          <a:bodyPr/>
          <a:lstStyle/>
          <a:p>
            <a:pPr algn="just"/>
            <a:r>
              <a:rPr lang="pt-BR" sz="2000" dirty="0">
                <a:solidFill>
                  <a:srgbClr val="E94D1C"/>
                </a:solidFill>
              </a:rPr>
              <a:t>Na primeira ocorrência, termos jurídicos podem receber uma explicação curta em português.</a:t>
            </a:r>
          </a:p>
          <a:p>
            <a:pPr algn="just"/>
            <a:endParaRPr lang="pt-BR" sz="2000" dirty="0">
              <a:solidFill>
                <a:srgbClr val="E94D1C"/>
              </a:solidFill>
            </a:endParaRPr>
          </a:p>
          <a:p>
            <a:endParaRPr lang="pt-BR" sz="1800" dirty="0">
              <a:solidFill>
                <a:srgbClr val="E94D1C"/>
              </a:solidFill>
            </a:endParaRPr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60C64E63-80DC-5291-E593-2AAA0F85C98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18960" y="2740823"/>
            <a:ext cx="4459228" cy="3077271"/>
          </a:xfrm>
        </p:spPr>
        <p:txBody>
          <a:bodyPr/>
          <a:lstStyle/>
          <a:p>
            <a:r>
              <a:rPr lang="pt-BR" sz="2000" b="1" dirty="0">
                <a:solidFill>
                  <a:srgbClr val="E94D1C"/>
                </a:solidFill>
              </a:rPr>
              <a:t>Espólio: </a:t>
            </a:r>
            <a:r>
              <a:rPr lang="pt-BR" sz="2000" dirty="0">
                <a:solidFill>
                  <a:srgbClr val="21049A"/>
                </a:solidFill>
              </a:rPr>
              <a:t>conjunto de bens e dívidas deixados pelo falecido.</a:t>
            </a:r>
          </a:p>
          <a:p>
            <a:r>
              <a:rPr lang="pt-BR" sz="2000" b="1" dirty="0">
                <a:solidFill>
                  <a:srgbClr val="E94D1C"/>
                </a:solidFill>
              </a:rPr>
              <a:t>Transitado em julgado: </a:t>
            </a:r>
            <a:r>
              <a:rPr lang="pt-BR" sz="2000" dirty="0">
                <a:solidFill>
                  <a:srgbClr val="21049A"/>
                </a:solidFill>
              </a:rPr>
              <a:t>decisão definitiva, sem recurso.</a:t>
            </a:r>
          </a:p>
          <a:p>
            <a:r>
              <a:rPr lang="pt-BR" sz="2000" b="1" dirty="0">
                <a:solidFill>
                  <a:srgbClr val="E94D1C"/>
                </a:solidFill>
              </a:rPr>
              <a:t>Valor da causa: </a:t>
            </a:r>
            <a:r>
              <a:rPr lang="en-US" sz="2000" dirty="0">
                <a:solidFill>
                  <a:srgbClr val="21049A"/>
                </a:solidFill>
              </a:rPr>
              <a:t>valor </a:t>
            </a:r>
            <a:r>
              <a:rPr lang="en-US" sz="2000" dirty="0" err="1">
                <a:solidFill>
                  <a:srgbClr val="21049A"/>
                </a:solidFill>
              </a:rPr>
              <a:t>atribuído</a:t>
            </a:r>
            <a:r>
              <a:rPr lang="en-US" sz="2000" dirty="0">
                <a:solidFill>
                  <a:srgbClr val="21049A"/>
                </a:solidFill>
              </a:rPr>
              <a:t> </a:t>
            </a:r>
            <a:r>
              <a:rPr lang="en-US" sz="2000" dirty="0" err="1">
                <a:solidFill>
                  <a:srgbClr val="21049A"/>
                </a:solidFill>
              </a:rPr>
              <a:t>ao</a:t>
            </a:r>
            <a:r>
              <a:rPr lang="en-US" sz="2000" dirty="0">
                <a:solidFill>
                  <a:srgbClr val="21049A"/>
                </a:solidFill>
              </a:rPr>
              <a:t> </a:t>
            </a:r>
            <a:r>
              <a:rPr lang="en-US" sz="2000" dirty="0" err="1">
                <a:solidFill>
                  <a:srgbClr val="21049A"/>
                </a:solidFill>
              </a:rPr>
              <a:t>processo</a:t>
            </a:r>
            <a:r>
              <a:rPr lang="en-US" sz="2000" dirty="0">
                <a:solidFill>
                  <a:srgbClr val="21049A"/>
                </a:solidFill>
              </a:rPr>
              <a:t> para fins </a:t>
            </a:r>
            <a:r>
              <a:rPr lang="en-US" sz="2000" dirty="0" err="1">
                <a:solidFill>
                  <a:srgbClr val="21049A"/>
                </a:solidFill>
              </a:rPr>
              <a:t>processuais</a:t>
            </a:r>
            <a:r>
              <a:rPr lang="en-US" sz="2000" dirty="0">
                <a:solidFill>
                  <a:srgbClr val="21049A"/>
                </a:solidFill>
              </a:rPr>
              <a:t>.</a:t>
            </a:r>
          </a:p>
          <a:p>
            <a:r>
              <a:rPr lang="pt-BR" sz="2000" b="1" dirty="0">
                <a:solidFill>
                  <a:srgbClr val="E94D1C"/>
                </a:solidFill>
              </a:rPr>
              <a:t>Ônus da prova:</a:t>
            </a:r>
            <a:r>
              <a:rPr lang="pt-BR" sz="2000" dirty="0"/>
              <a:t> </a:t>
            </a:r>
            <a:r>
              <a:rPr lang="pt-BR" sz="2000" dirty="0">
                <a:solidFill>
                  <a:srgbClr val="21049A"/>
                </a:solidFill>
              </a:rPr>
              <a:t>responsabilidade de provar um fato.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F20BA02-99AA-F4F5-FEB7-6144A12B8B42}"/>
              </a:ext>
            </a:extLst>
          </p:cNvPr>
          <p:cNvSpPr txBox="1"/>
          <p:nvPr/>
        </p:nvSpPr>
        <p:spPr>
          <a:xfrm>
            <a:off x="6386639" y="2993777"/>
            <a:ext cx="44592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E94D1C"/>
                </a:solidFill>
                <a:latin typeface="Roboto Bold" panose="02000000000000000000"/>
              </a:rPr>
              <a:t>Não resolve todo vocabulário jurídico, mas reduz a barreira no primeiro contato com o documento.</a:t>
            </a:r>
          </a:p>
        </p:txBody>
      </p:sp>
      <p:sp>
        <p:nvSpPr>
          <p:cNvPr id="10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56B76000-0726-4371-BF1D-732CB04B5262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11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115333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086A4AF-F219-00F0-DC3C-EFB707BA4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Fundo branco">
            <a:extLst>
              <a:ext uri="{FF2B5EF4-FFF2-40B4-BE49-F238E27FC236}">
                <a16:creationId xmlns:a16="http://schemas.microsoft.com/office/drawing/2014/main" id="{F78E2C83-D6A9-3BFC-8EDA-0CD7DF4E9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" y="-27432"/>
            <a:ext cx="12246864" cy="6912864"/>
          </a:xfrm>
          <a:prstGeom prst="rect">
            <a:avLst/>
          </a:prstGeom>
        </p:spPr>
      </p:pic>
      <p:sp>
        <p:nvSpPr>
          <p:cNvPr id="180" name="Titulo interface e resultado"/>
          <p:cNvSpPr txBox="1"/>
          <p:nvPr/>
        </p:nvSpPr>
        <p:spPr>
          <a:xfrm>
            <a:off x="411480" y="27432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Interface e resultado: antes e depois</a:t>
            </a:r>
          </a:p>
        </p:txBody>
      </p:sp>
      <p:sp>
        <p:nvSpPr>
          <p:cNvPr id="185" name="Rotulo popup"/>
          <p:cNvSpPr txBox="1"/>
          <p:nvPr/>
        </p:nvSpPr>
        <p:spPr>
          <a:xfrm>
            <a:off x="411480" y="118872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1049A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1. Escolha do nível</a:t>
            </a:r>
          </a:p>
        </p:txBody>
      </p:sp>
      <p:sp>
        <p:nvSpPr>
          <p:cNvPr id="186" name="Moldura popup"/>
          <p:cNvSpPr/>
          <p:nvPr/>
        </p:nvSpPr>
        <p:spPr>
          <a:xfrm>
            <a:off x="393192" y="1627632"/>
            <a:ext cx="2642616" cy="1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2E6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7" name="Pop-up de escolha do nível"/>
          <p:cNvPicPr>
            <a:picLocks noChangeAspect="1"/>
          </p:cNvPicPr>
          <p:nvPr/>
        </p:nvPicPr>
        <p:blipFill>
          <a:blip r:embed="rId3"/>
          <a:srcRect l="1525"/>
          <a:stretch>
            <a:fillRect/>
          </a:stretch>
        </p:blipFill>
        <p:spPr>
          <a:xfrm>
            <a:off x="411480" y="1645920"/>
            <a:ext cx="2606040" cy="1859536"/>
          </a:xfrm>
          <a:prstGeom prst="rect">
            <a:avLst/>
          </a:prstGeom>
        </p:spPr>
      </p:pic>
      <p:sp>
        <p:nvSpPr>
          <p:cNvPr id="188" name="Legenda sidebar"/>
          <p:cNvSpPr/>
          <p:nvPr/>
        </p:nvSpPr>
        <p:spPr>
          <a:xfrm>
            <a:off x="411480" y="3779776"/>
            <a:ext cx="2606040" cy="1051560"/>
          </a:xfrm>
          <a:prstGeom prst="roundRect">
            <a:avLst/>
          </a:prstGeom>
          <a:solidFill>
            <a:srgbClr val="E94D1C"/>
          </a:solidFill>
          <a:ln>
            <a:noFill/>
          </a:ln>
        </p:spPr>
        <p:txBody>
          <a:bodyPr wrap="square" lIns="109728" tIns="45720" rIns="109728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2. O resultado abre na sidebar, ao lado do documento original.</a:t>
            </a:r>
          </a:p>
        </p:txBody>
      </p:sp>
      <p:sp>
        <p:nvSpPr>
          <p:cNvPr id="181" name="Original"/>
          <p:cNvSpPr/>
          <p:nvPr/>
        </p:nvSpPr>
        <p:spPr>
          <a:xfrm>
            <a:off x="3291840" y="1188719"/>
            <a:ext cx="4343400" cy="4165333"/>
          </a:xfrm>
          <a:prstGeom prst="roundRect">
            <a:avLst>
              <a:gd name="adj" fmla="val 4000"/>
            </a:avLst>
          </a:prstGeom>
          <a:solidFill>
            <a:srgbClr val="F1EEFA"/>
          </a:solidFill>
          <a:ln>
            <a:noFill/>
          </a:ln>
        </p:spPr>
        <p:txBody>
          <a:bodyPr wrap="square" lIns="182880" tIns="155448" rIns="182880" bIns="109728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13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ORIGINAL</a:t>
            </a:r>
            <a:r>
              <a:rPr lang="pt-BR" sz="1250" dirty="0">
                <a:solidFill>
                  <a:srgbClr val="21049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·  item 3.3 (100 de 332 palavras)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 exigência imposta pela empresa aérea, ao condicionar a validade do FREMEC à assinatura por médico com Registro de Qualificação de Especialidade específica, cria restrição não prevista no regime jurídico da profissão médica. Trata-se de limitação privada ao exercício profissional que não encontra amparo em lei e que altera, por ato unilateral de natureza empresarial, a disciplina jurídica estabelecida pelo ordenamento. Ao instituir requisito inexistente na legislação profissional, a empresa ré ultrapassa os limites de sua autonomia administrativa e interfere de forma indevida na validade de ato médico regularmente praticado, com repercussão direta sobre direitos fundamentais de passageiros com deficiência.</a:t>
            </a:r>
          </a:p>
        </p:txBody>
      </p:sp>
      <p:sp>
        <p:nvSpPr>
          <p:cNvPr id="182" name="Seta"/>
          <p:cNvSpPr/>
          <p:nvPr/>
        </p:nvSpPr>
        <p:spPr>
          <a:xfrm>
            <a:off x="7717536" y="2926080"/>
            <a:ext cx="384048" cy="640080"/>
          </a:xfrm>
          <a:prstGeom prst="rightArrow">
            <a:avLst/>
          </a:prstGeom>
          <a:solidFill>
            <a:srgbClr val="E94D1C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LASCAS"/>
          <p:cNvSpPr/>
          <p:nvPr/>
        </p:nvSpPr>
        <p:spPr>
          <a:xfrm>
            <a:off x="8183880" y="1188720"/>
            <a:ext cx="3154680" cy="3840480"/>
          </a:xfrm>
          <a:prstGeom prst="roundRect">
            <a:avLst>
              <a:gd name="adj" fmla="val 4000"/>
            </a:avLst>
          </a:prstGeom>
          <a:solidFill>
            <a:srgbClr val="21049A"/>
          </a:solidFill>
          <a:ln>
            <a:noFill/>
          </a:ln>
        </p:spPr>
        <p:txBody>
          <a:bodyPr wrap="square" lIns="182880" tIns="155448" rIns="182880" bIns="109728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300" dirty="0">
                <a:solidFill>
                  <a:srgbClr val="E94D1C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LASCAS</a:t>
            </a:r>
            <a:r>
              <a:rPr lang="pt-BR" sz="1250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·  nível médio (41 palavras)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 empresa aérea Via Brasil Linhas Aéreas S.A. exige que os médicos tenham título de especialidade específica para assinar o FREMEC, o que não é previsto em lei. Isso cria um obstáculo adicional ao exercício do direito dos passageiros com deficiência.</a:t>
            </a:r>
          </a:p>
        </p:txBody>
      </p:sp>
      <p:sp>
        <p:nvSpPr>
          <p:cNvPr id="184" name="Nota"/>
          <p:cNvSpPr txBox="1"/>
          <p:nvPr/>
        </p:nvSpPr>
        <p:spPr>
          <a:xfrm>
            <a:off x="3291840" y="5440680"/>
            <a:ext cx="67665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 dirty="0">
                <a:solidFill>
                  <a:srgbClr val="172033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O item 3.3 inteiro tem 332 palavras; o LASCAS o condensou nestas 41.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5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Saída real do benchmark (nível médio).</a:t>
            </a:r>
          </a:p>
        </p:txBody>
      </p:sp>
      <p:sp>
        <p:nvSpPr>
          <p:cNvPr id="189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A0C3E490-294B-4A3E-BF2B-C302130DFAE6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12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1610947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FEAD9ACB-8547-E2C1-747A-EDAC59946A5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66340" y="1940872"/>
            <a:ext cx="2057594" cy="1118045"/>
          </a:xfrm>
        </p:spPr>
        <p:txBody>
          <a:bodyPr/>
          <a:lstStyle/>
          <a:p>
            <a:r>
              <a:rPr lang="pt-BR" sz="2400" dirty="0"/>
              <a:t>VANTAGENS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612BCC4-C634-63B6-1F51-5A2376DC2BA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0" y="2876776"/>
            <a:ext cx="2622914" cy="1528407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Menor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exposição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de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documentos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sensíveis</a:t>
            </a:r>
            <a:endParaRPr lang="en-US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algn="ctr"/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Independência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de API externa</a:t>
            </a:r>
            <a:endParaRPr lang="en-US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algn="ctr"/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Controle do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fluxo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e dos logs</a:t>
            </a:r>
            <a:endParaRPr lang="en-US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endParaRPr lang="pt-BR" dirty="0"/>
          </a:p>
        </p:txBody>
      </p:sp>
      <p:sp>
        <p:nvSpPr>
          <p:cNvPr id="5" name="Espaço Reservado para Conteúdo 1">
            <a:extLst>
              <a:ext uri="{FF2B5EF4-FFF2-40B4-BE49-F238E27FC236}">
                <a16:creationId xmlns:a16="http://schemas.microsoft.com/office/drawing/2014/main" id="{8A55AB12-66B3-C451-4E3B-64A9263C6907}"/>
              </a:ext>
            </a:extLst>
          </p:cNvPr>
          <p:cNvSpPr txBox="1">
            <a:spLocks/>
          </p:cNvSpPr>
          <p:nvPr/>
        </p:nvSpPr>
        <p:spPr>
          <a:xfrm>
            <a:off x="3913906" y="1940872"/>
            <a:ext cx="2057594" cy="1118045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 kern="1200">
                <a:solidFill>
                  <a:srgbClr val="21049A"/>
                </a:solidFill>
                <a:latin typeface="Roboto Black" panose="0200000000000000000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/>
              <a:t>CUSTOS</a:t>
            </a:r>
          </a:p>
        </p:txBody>
      </p:sp>
      <p:sp>
        <p:nvSpPr>
          <p:cNvPr id="6" name="Espaço Reservado para Conteúdo 3">
            <a:extLst>
              <a:ext uri="{FF2B5EF4-FFF2-40B4-BE49-F238E27FC236}">
                <a16:creationId xmlns:a16="http://schemas.microsoft.com/office/drawing/2014/main" id="{628F0D32-A27D-6CD7-EA66-8C22C3EEEF5D}"/>
              </a:ext>
            </a:extLst>
          </p:cNvPr>
          <p:cNvSpPr txBox="1">
            <a:spLocks/>
          </p:cNvSpPr>
          <p:nvPr/>
        </p:nvSpPr>
        <p:spPr>
          <a:xfrm>
            <a:off x="3154061" y="2831612"/>
            <a:ext cx="3150973" cy="119477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oboto Light" panose="0200000000000000000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</a:t>
            </a:r>
            <a:r>
              <a:rPr lang="pt-BR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Performance depende do hardware</a:t>
            </a:r>
          </a:p>
          <a:p>
            <a:pPr algn="ctr"/>
            <a:r>
              <a:rPr lang="pt-BR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Modelo local é menor</a:t>
            </a:r>
          </a:p>
          <a:p>
            <a:pPr algn="ctr"/>
            <a:r>
              <a:rPr lang="pt-BR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</a:t>
            </a:r>
            <a:r>
              <a:rPr lang="pt-BR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PDFs</a:t>
            </a:r>
            <a:r>
              <a:rPr lang="pt-BR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grandes podem demorar</a:t>
            </a:r>
          </a:p>
          <a:p>
            <a:pPr algn="ctr"/>
            <a:r>
              <a:rPr lang="pt-BR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Sem OCR robusto para </a:t>
            </a:r>
            <a:r>
              <a:rPr lang="pt-BR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PDFs</a:t>
            </a:r>
            <a:r>
              <a:rPr lang="pt-BR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escaneados</a:t>
            </a:r>
          </a:p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8D5DAAA-5EE3-BFE6-AEF2-C5A68BE73817}"/>
              </a:ext>
            </a:extLst>
          </p:cNvPr>
          <p:cNvSpPr txBox="1"/>
          <p:nvPr/>
        </p:nvSpPr>
        <p:spPr>
          <a:xfrm>
            <a:off x="92386" y="5442208"/>
            <a:ext cx="6642046" cy="646986"/>
          </a:xfrm>
          <a:prstGeom prst="roundRect">
            <a:avLst/>
          </a:prstGeom>
          <a:solidFill>
            <a:srgbClr val="E94D1C"/>
          </a:solidFill>
        </p:spPr>
        <p:txBody>
          <a:bodyPr wrap="square">
            <a:spAutoFit/>
          </a:bodyPr>
          <a:lstStyle/>
          <a:p>
            <a:pPr algn="ctr"/>
            <a:r>
              <a:rPr lang="pt-BR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A decisão favorece um protótipo factível e reproduzível, mas não elimina a necessidade de melhorias futuras.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8327CFB9-EBE6-F90C-A361-E9ECC4A46EF3}"/>
              </a:ext>
            </a:extLst>
          </p:cNvPr>
          <p:cNvCxnSpPr/>
          <p:nvPr/>
        </p:nvCxnSpPr>
        <p:spPr>
          <a:xfrm>
            <a:off x="2971799" y="2172875"/>
            <a:ext cx="0" cy="1853513"/>
          </a:xfrm>
          <a:prstGeom prst="line">
            <a:avLst/>
          </a:prstGeom>
          <a:ln>
            <a:solidFill>
              <a:srgbClr val="E94D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Conteúdo 1">
            <a:extLst>
              <a:ext uri="{FF2B5EF4-FFF2-40B4-BE49-F238E27FC236}">
                <a16:creationId xmlns:a16="http://schemas.microsoft.com/office/drawing/2014/main" id="{C8FBF75F-940F-8D7C-99D0-AD90EC347A75}"/>
              </a:ext>
            </a:extLst>
          </p:cNvPr>
          <p:cNvSpPr txBox="1">
            <a:spLocks/>
          </p:cNvSpPr>
          <p:nvPr/>
        </p:nvSpPr>
        <p:spPr>
          <a:xfrm>
            <a:off x="490645" y="649013"/>
            <a:ext cx="4264538" cy="76677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b="1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Por que local-</a:t>
            </a:r>
            <a:r>
              <a:rPr lang="pt-BR" b="1" dirty="0" err="1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first</a:t>
            </a:r>
            <a:r>
              <a:rPr lang="pt-BR" b="1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?</a:t>
            </a:r>
          </a:p>
        </p:txBody>
      </p:sp>
      <p:sp>
        <p:nvSpPr>
          <p:cNvPr id="11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7387A433-FC23-42EC-BE7B-32FE16DAF2C3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13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14042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6A4AF-F219-00F0-DC3C-EFB707BA4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Forma, Retângulo&#10;&#10;O conteúdo gerado por IA pode estar incorreto.">
            <a:extLst>
              <a:ext uri="{FF2B5EF4-FFF2-40B4-BE49-F238E27FC236}">
                <a16:creationId xmlns:a16="http://schemas.microsoft.com/office/drawing/2014/main" id="{F78E2C83-D6A9-3BFC-8EDA-0CD7DF4E9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AD9F44B-1E04-5C83-2374-7BFB1496442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73866" y="1269772"/>
            <a:ext cx="7065434" cy="998009"/>
          </a:xfrm>
        </p:spPr>
        <p:txBody>
          <a:bodyPr>
            <a:normAutofit/>
          </a:bodyPr>
          <a:lstStyle/>
          <a:p>
            <a:pPr algn="ctr">
              <a:lnSpc>
                <a:spcPct val="80000"/>
              </a:lnSpc>
            </a:pPr>
            <a:r>
              <a:rPr lang="pt-BR" sz="40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Metodologia da avaliação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DE5C336-ED14-C28F-126F-334E3575E876}"/>
              </a:ext>
            </a:extLst>
          </p:cNvPr>
          <p:cNvSpPr txBox="1"/>
          <p:nvPr/>
        </p:nvSpPr>
        <p:spPr>
          <a:xfrm>
            <a:off x="2573866" y="2821615"/>
            <a:ext cx="306705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pt-BR" sz="1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Pré-teste formativo</a:t>
            </a:r>
          </a:p>
          <a:p>
            <a:pPr marL="0" indent="0" algn="ctr">
              <a:buNone/>
            </a:pPr>
            <a:endParaRPr lang="pt-BR" sz="1600" b="1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  <a:p>
            <a:pPr marL="0" indent="0" algn="ctr">
              <a:buNone/>
            </a:pPr>
            <a:r>
              <a:rPr lang="pt-BR" sz="1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 participantes da área jurídica</a:t>
            </a:r>
          </a:p>
          <a:p>
            <a:pPr marL="0" indent="0" algn="ctr">
              <a:buNone/>
            </a:pPr>
            <a:r>
              <a:rPr lang="pt-BR" sz="1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 documentos públicos anonimizados</a:t>
            </a:r>
          </a:p>
          <a:p>
            <a:pPr marL="0" indent="0" algn="ctr">
              <a:buNone/>
            </a:pPr>
            <a:endParaRPr lang="pt-BR" sz="1600" b="1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  <a:p>
            <a:pPr marL="0" indent="0" algn="ctr">
              <a:buNone/>
            </a:pPr>
            <a:r>
              <a:rPr lang="pt-BR" sz="1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Resultado: adoção do nível médio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DA23E36-9C8E-55E1-7DCC-BE9CA5D22F22}"/>
              </a:ext>
            </a:extLst>
          </p:cNvPr>
          <p:cNvSpPr txBox="1"/>
          <p:nvPr/>
        </p:nvSpPr>
        <p:spPr>
          <a:xfrm>
            <a:off x="6807574" y="2714038"/>
            <a:ext cx="268605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Estudo</a:t>
            </a:r>
            <a:r>
              <a:rPr lang="en-US" sz="1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principal</a:t>
            </a:r>
          </a:p>
          <a:p>
            <a:pPr algn="ctr"/>
            <a:endParaRPr lang="en-US" sz="1600" b="1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  <a:p>
            <a:pPr algn="ctr"/>
            <a:r>
              <a:rPr lang="en-US" sz="1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30 </a:t>
            </a:r>
            <a:r>
              <a:rPr lang="en-US" sz="16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participantes</a:t>
            </a:r>
            <a:endParaRPr lang="en-US" sz="1600" b="1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  <a:p>
            <a:pPr algn="ctr"/>
            <a:r>
              <a:rPr lang="en-US" sz="1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Mesma petição anonimizada para </a:t>
            </a:r>
            <a:r>
              <a:rPr lang="en-US" sz="16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todos</a:t>
            </a:r>
            <a:endParaRPr lang="en-US" sz="1600" b="1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  <a:p>
            <a:pPr algn="ctr"/>
            <a:r>
              <a:rPr lang="en-US" sz="1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Original × versão média, lado a lado</a:t>
            </a:r>
          </a:p>
          <a:p>
            <a:pPr algn="ctr"/>
            <a:endParaRPr lang="en-US" sz="1600" b="1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  <a:p>
            <a:pPr algn="ctr"/>
            <a:r>
              <a:rPr lang="en-US" sz="16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Questionário</a:t>
            </a:r>
            <a:r>
              <a:rPr lang="en-US" sz="1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Likert + </a:t>
            </a:r>
            <a:r>
              <a:rPr lang="en-US" sz="16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pergunta</a:t>
            </a:r>
            <a:r>
              <a:rPr lang="en-US" sz="1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aberta</a:t>
            </a:r>
            <a:endParaRPr lang="en-US" sz="1600" b="1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C6C33CD-A00D-CBC4-C0EA-B2E4EB298129}"/>
              </a:ext>
            </a:extLst>
          </p:cNvPr>
          <p:cNvSpPr txBox="1"/>
          <p:nvPr/>
        </p:nvSpPr>
        <p:spPr>
          <a:xfrm>
            <a:off x="2103120" y="5760720"/>
            <a:ext cx="7955280" cy="640080"/>
          </a:xfrm>
          <a:prstGeom prst="roundRect">
            <a:avLst/>
          </a:prstGeom>
          <a:solidFill>
            <a:srgbClr val="E94D1C"/>
          </a:solidFill>
          <a:ln>
            <a:solidFill>
              <a:srgbClr val="E94D1C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sz="1500" dirty="0">
                <a:solidFill>
                  <a:schemeClr val="bg1"/>
                </a:solidFill>
                <a:latin typeface="Roboto Bold" panose="02000000000000000000"/>
                <a:ea typeface="Roboto" panose="02000000000000000000" pitchFamily="2" charset="0"/>
                <a:cs typeface="Roboto" panose="02000000000000000000" pitchFamily="2" charset="0"/>
              </a:rPr>
              <a:t>Acesso: sessões presenciais no notebook do autor, com o serviço local já instalado. Cada participante usou a extensão e respondeu a um Forms anônimo.</a:t>
            </a:r>
          </a:p>
        </p:txBody>
      </p:sp>
      <p:sp>
        <p:nvSpPr>
          <p:cNvPr id="13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09F0D439-720C-4DC6-A2D4-8BAE53925636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14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16109471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3B2920FB-2A01-7F22-52D4-3CBDB2269B3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003180" y="455791"/>
            <a:ext cx="5312947" cy="604942"/>
          </a:xfrm>
        </p:spPr>
        <p:txBody>
          <a:bodyPr/>
          <a:lstStyle/>
          <a:p>
            <a:r>
              <a:rPr lang="pt-BR" sz="36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Perfil dos participantes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064B6F85-7E10-CD6C-2BE5-2724FED30C2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756214" y="4528195"/>
            <a:ext cx="4333127" cy="1282519"/>
          </a:xfrm>
        </p:spPr>
        <p:txBody>
          <a:bodyPr/>
          <a:lstStyle/>
          <a:p>
            <a:pPr algn="just"/>
            <a:r>
              <a:rPr lang="en-US" b="1" dirty="0">
                <a:solidFill>
                  <a:srgbClr val="172033"/>
                </a:solidFill>
              </a:rPr>
              <a:t>• 30 </a:t>
            </a:r>
            <a:r>
              <a:rPr lang="en-US" b="1" dirty="0" err="1">
                <a:solidFill>
                  <a:srgbClr val="172033"/>
                </a:solidFill>
              </a:rPr>
              <a:t>participantes</a:t>
            </a:r>
            <a:r>
              <a:rPr lang="en-US" b="1" dirty="0">
                <a:solidFill>
                  <a:srgbClr val="172033"/>
                </a:solidFill>
              </a:rPr>
              <a:t> no </a:t>
            </a:r>
            <a:r>
              <a:rPr lang="en-US" b="1" dirty="0" err="1">
                <a:solidFill>
                  <a:srgbClr val="172033"/>
                </a:solidFill>
              </a:rPr>
              <a:t>estudo</a:t>
            </a:r>
            <a:r>
              <a:rPr lang="en-US" b="1" dirty="0">
                <a:solidFill>
                  <a:srgbClr val="172033"/>
                </a:solidFill>
              </a:rPr>
              <a:t> principal.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>
                <a:solidFill>
                  <a:srgbClr val="172033"/>
                </a:solidFill>
              </a:rPr>
              <a:t>• </a:t>
            </a:r>
            <a:r>
              <a:rPr lang="en-US" b="1" dirty="0" err="1">
                <a:solidFill>
                  <a:srgbClr val="172033"/>
                </a:solidFill>
              </a:rPr>
              <a:t>Equilíbrio</a:t>
            </a:r>
            <a:r>
              <a:rPr lang="en-US" b="1" dirty="0">
                <a:solidFill>
                  <a:srgbClr val="172033"/>
                </a:solidFill>
              </a:rPr>
              <a:t> entre </a:t>
            </a:r>
            <a:r>
              <a:rPr lang="en-US" b="1" dirty="0" err="1">
                <a:solidFill>
                  <a:srgbClr val="172033"/>
                </a:solidFill>
              </a:rPr>
              <a:t>área</a:t>
            </a:r>
            <a:r>
              <a:rPr lang="en-US" b="1" dirty="0">
                <a:solidFill>
                  <a:srgbClr val="172033"/>
                </a:solidFill>
              </a:rPr>
              <a:t> </a:t>
            </a:r>
            <a:r>
              <a:rPr lang="en-US" b="1" dirty="0" err="1">
                <a:solidFill>
                  <a:srgbClr val="172033"/>
                </a:solidFill>
              </a:rPr>
              <a:t>jurídica</a:t>
            </a:r>
            <a:r>
              <a:rPr lang="en-US" b="1" dirty="0">
                <a:solidFill>
                  <a:srgbClr val="172033"/>
                </a:solidFill>
              </a:rPr>
              <a:t> e </a:t>
            </a:r>
            <a:r>
              <a:rPr lang="en-US" b="1" dirty="0" err="1">
                <a:solidFill>
                  <a:srgbClr val="172033"/>
                </a:solidFill>
              </a:rPr>
              <a:t>não</a:t>
            </a:r>
            <a:r>
              <a:rPr lang="en-US" b="1" dirty="0">
                <a:solidFill>
                  <a:srgbClr val="172033"/>
                </a:solidFill>
              </a:rPr>
              <a:t> </a:t>
            </a:r>
            <a:r>
              <a:rPr lang="en-US" b="1" dirty="0" err="1">
                <a:solidFill>
                  <a:srgbClr val="172033"/>
                </a:solidFill>
              </a:rPr>
              <a:t>jurídica</a:t>
            </a:r>
            <a:r>
              <a:rPr lang="en-US" b="1" dirty="0">
                <a:solidFill>
                  <a:srgbClr val="172033"/>
                </a:solidFill>
              </a:rPr>
              <a:t>: 15 / 15.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>
                <a:solidFill>
                  <a:srgbClr val="172033"/>
                </a:solidFill>
              </a:rPr>
              <a:t>• 22 com </a:t>
            </a:r>
            <a:r>
              <a:rPr lang="en-US" b="1" dirty="0" err="1">
                <a:solidFill>
                  <a:srgbClr val="172033"/>
                </a:solidFill>
              </a:rPr>
              <a:t>ensino</a:t>
            </a:r>
            <a:r>
              <a:rPr lang="en-US" b="1" dirty="0">
                <a:solidFill>
                  <a:srgbClr val="172033"/>
                </a:solidFill>
              </a:rPr>
              <a:t> superior e 8 com </a:t>
            </a:r>
            <a:r>
              <a:rPr lang="en-US" b="1" dirty="0" err="1">
                <a:solidFill>
                  <a:srgbClr val="172033"/>
                </a:solidFill>
              </a:rPr>
              <a:t>ensino</a:t>
            </a:r>
            <a:r>
              <a:rPr lang="en-US" b="1" dirty="0">
                <a:solidFill>
                  <a:srgbClr val="172033"/>
                </a:solidFill>
              </a:rPr>
              <a:t> </a:t>
            </a:r>
            <a:r>
              <a:rPr lang="en-US" b="1" dirty="0" err="1">
                <a:solidFill>
                  <a:srgbClr val="172033"/>
                </a:solidFill>
              </a:rPr>
              <a:t>médio</a:t>
            </a:r>
            <a:r>
              <a:rPr lang="en-US" b="1" dirty="0">
                <a:solidFill>
                  <a:srgbClr val="172033"/>
                </a:solidFill>
              </a:rPr>
              <a:t>.</a:t>
            </a:r>
          </a:p>
          <a:p>
            <a:pPr algn="just"/>
            <a:endParaRPr lang="en-US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93D9702-2823-570B-477C-6DE5E7F33C91}"/>
              </a:ext>
            </a:extLst>
          </p:cNvPr>
          <p:cNvSpPr txBox="1"/>
          <p:nvPr/>
        </p:nvSpPr>
        <p:spPr>
          <a:xfrm>
            <a:off x="3185481" y="6209765"/>
            <a:ext cx="4735201" cy="578882"/>
          </a:xfrm>
          <a:prstGeom prst="roundRect">
            <a:avLst/>
          </a:prstGeom>
          <a:solidFill>
            <a:srgbClr val="E94D1C"/>
          </a:solidFill>
          <a:ln>
            <a:solidFill>
              <a:srgbClr val="E94D1C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sz="14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Essa composição permite observar valor tanto para especialistas quanto para não especialistas.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817482-4E45-B6CC-C2A9-B4DCCA77296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pt-BR"/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D2952FC8-C70C-2E76-C46F-9D4C4F25A1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3678470"/>
              </p:ext>
            </p:extLst>
          </p:nvPr>
        </p:nvGraphicFramePr>
        <p:xfrm>
          <a:off x="5190109" y="1239334"/>
          <a:ext cx="5996613" cy="32443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6848368" imgH="3704953" progId="Acrobat.Document.DC">
                  <p:embed/>
                </p:oleObj>
              </mc:Choice>
              <mc:Fallback>
                <p:oleObj name="Acrobat Document" r:id="rId2" imgW="6848368" imgH="3704953" progId="Acrobat.Document.DC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D2952FC8-C70C-2E76-C46F-9D4C4F25A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190109" y="1239334"/>
                        <a:ext cx="5996613" cy="32443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B0424358-1C76-4791-A22E-E0D707D45870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15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28600405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31BD2D9F-4E69-044A-D910-D491C0F9419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92701" y="2013954"/>
            <a:ext cx="3927494" cy="1118045"/>
          </a:xfrm>
        </p:spPr>
        <p:txBody>
          <a:bodyPr/>
          <a:lstStyle/>
          <a:p>
            <a:r>
              <a:rPr lang="pt-BR" dirty="0"/>
              <a:t>Resultados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9AE30E7-98F0-DBAA-D65C-538641B0EB51}"/>
              </a:ext>
            </a:extLst>
          </p:cNvPr>
          <p:cNvSpPr txBox="1"/>
          <p:nvPr/>
        </p:nvSpPr>
        <p:spPr>
          <a:xfrm>
            <a:off x="-100319" y="2830855"/>
            <a:ext cx="5626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0" spc="600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Quantitativos por constructo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82CA103-F160-79BC-6147-732ACBDC0A08}"/>
              </a:ext>
            </a:extLst>
          </p:cNvPr>
          <p:cNvSpPr/>
          <p:nvPr/>
        </p:nvSpPr>
        <p:spPr>
          <a:xfrm>
            <a:off x="5719483" y="4570207"/>
            <a:ext cx="1539240" cy="840173"/>
          </a:xfrm>
          <a:prstGeom prst="roundRect">
            <a:avLst/>
          </a:prstGeom>
          <a:solidFill>
            <a:srgbClr val="E94D1C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21049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4,68</a:t>
            </a:r>
            <a:r>
              <a:rPr lang="en-US" sz="2900" b="1" dirty="0">
                <a:solidFill>
                  <a:srgbClr val="2F80E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
</a:t>
            </a:r>
            <a:r>
              <a:rPr lang="en-US" sz="117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Facilidade de uso</a:t>
            </a:r>
            <a:endParaRPr lang="en-US" sz="29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F02FFA3-B027-EC2D-20A5-353E6A01F0C3}"/>
              </a:ext>
            </a:extLst>
          </p:cNvPr>
          <p:cNvSpPr/>
          <p:nvPr/>
        </p:nvSpPr>
        <p:spPr>
          <a:xfrm>
            <a:off x="7702027" y="4562317"/>
            <a:ext cx="1539240" cy="840173"/>
          </a:xfrm>
          <a:prstGeom prst="roundRect">
            <a:avLst/>
          </a:prstGeom>
          <a:solidFill>
            <a:srgbClr val="E94D1C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21049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4,68</a:t>
            </a:r>
            <a:r>
              <a:rPr lang="en-US" sz="2900" b="1" dirty="0">
                <a:solidFill>
                  <a:srgbClr val="00A6A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
</a:t>
            </a:r>
            <a:r>
              <a:rPr lang="en-US" sz="1170" dirty="0" err="1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Aprendizagem</a:t>
            </a:r>
            <a:endParaRPr lang="en-US" sz="29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194C984-D8F7-E030-9163-69B62A8AAF6B}"/>
              </a:ext>
            </a:extLst>
          </p:cNvPr>
          <p:cNvSpPr/>
          <p:nvPr/>
        </p:nvSpPr>
        <p:spPr>
          <a:xfrm>
            <a:off x="9611510" y="4570207"/>
            <a:ext cx="1539240" cy="824395"/>
          </a:xfrm>
          <a:prstGeom prst="roundRect">
            <a:avLst/>
          </a:prstGeom>
          <a:solidFill>
            <a:srgbClr val="E94D1C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21049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4,63</a:t>
            </a:r>
            <a:r>
              <a:rPr lang="en-US" sz="2900" b="1" dirty="0">
                <a:solidFill>
                  <a:srgbClr val="6B5DD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
</a:t>
            </a:r>
            <a:r>
              <a:rPr lang="en-US" sz="117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Utilidade percebida</a:t>
            </a:r>
            <a:endParaRPr lang="en-US" sz="29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82328DB-C28A-B8B0-C463-189504E2331B}"/>
              </a:ext>
            </a:extLst>
          </p:cNvPr>
          <p:cNvSpPr/>
          <p:nvPr/>
        </p:nvSpPr>
        <p:spPr>
          <a:xfrm>
            <a:off x="6366222" y="5812481"/>
            <a:ext cx="3818965" cy="320040"/>
          </a:xfrm>
          <a:prstGeom prst="roundRect">
            <a:avLst/>
          </a:prstGeom>
          <a:solidFill>
            <a:srgbClr val="E94D1C"/>
          </a:solidFill>
          <a:ln>
            <a:solidFill>
              <a:srgbClr val="E94D1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Todos </a:t>
            </a:r>
            <a:r>
              <a:rPr lang="en-US" sz="14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os</a:t>
            </a:r>
            <a:r>
              <a:rPr lang="en-US" sz="14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constructos</a:t>
            </a:r>
            <a:r>
              <a:rPr lang="en-US" sz="14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ficaram acima de 4,4.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80044FF-C9DC-39BB-936D-B0DE5412D840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0320F852-B4B9-6601-0025-166CC9CA1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2410" y="1023508"/>
            <a:ext cx="6719943" cy="3301538"/>
          </a:xfrm>
          <a:prstGeom prst="rect">
            <a:avLst/>
          </a:prstGeom>
        </p:spPr>
      </p:pic>
      <p:sp>
        <p:nvSpPr>
          <p:cNvPr id="13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F8913BA4-704A-4D07-BD6C-09E0BDAD7840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16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3281281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4E953-608E-2B69-B3BC-91A9B0E03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97F6F0F3-8313-1C90-D6E7-FFC2FA504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CaixaDeTexto 38">
            <a:extLst>
              <a:ext uri="{FF2B5EF4-FFF2-40B4-BE49-F238E27FC236}">
                <a16:creationId xmlns:a16="http://schemas.microsoft.com/office/drawing/2014/main" id="{BCFBB321-2963-EBB9-11C0-0B12E776FD4B}"/>
              </a:ext>
            </a:extLst>
          </p:cNvPr>
          <p:cNvSpPr txBox="1"/>
          <p:nvPr/>
        </p:nvSpPr>
        <p:spPr>
          <a:xfrm>
            <a:off x="284297" y="739459"/>
            <a:ext cx="6480639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pt-BR" sz="50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Usabilidade geral: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FC9D4D86-DA17-EBC4-22AB-C4FE04D858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63" b="40706"/>
          <a:stretch>
            <a:fillRect/>
          </a:stretch>
        </p:blipFill>
        <p:spPr>
          <a:xfrm>
            <a:off x="11287643" y="5957700"/>
            <a:ext cx="610847" cy="567947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51427EC1-1065-A40A-5E10-068256C3A4F3}"/>
              </a:ext>
            </a:extLst>
          </p:cNvPr>
          <p:cNvSpPr txBox="1"/>
          <p:nvPr/>
        </p:nvSpPr>
        <p:spPr>
          <a:xfrm>
            <a:off x="284297" y="1488400"/>
            <a:ext cx="5309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pc="600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Composto inspirado no SUS</a:t>
            </a:r>
          </a:p>
        </p:txBody>
      </p:sp>
      <p:pic>
        <p:nvPicPr>
          <p:cNvPr id="4" name="Image 0" descr="/mnt/data/assets/final/sus_page-1.png">
            <a:extLst>
              <a:ext uri="{FF2B5EF4-FFF2-40B4-BE49-F238E27FC236}">
                <a16:creationId xmlns:a16="http://schemas.microsoft.com/office/drawing/2014/main" id="{AEA8D43F-900F-978A-07A4-AA31EFA58C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2140" y="2120088"/>
            <a:ext cx="6995160" cy="3749146"/>
          </a:xfrm>
          <a:prstGeom prst="rect">
            <a:avLst/>
          </a:prstGeom>
        </p:spPr>
      </p:pic>
      <p:sp>
        <p:nvSpPr>
          <p:cNvPr id="6" name="Text 6">
            <a:extLst>
              <a:ext uri="{FF2B5EF4-FFF2-40B4-BE49-F238E27FC236}">
                <a16:creationId xmlns:a16="http://schemas.microsoft.com/office/drawing/2014/main" id="{43903783-1CC4-ADFC-0B89-9E148E3875FC}"/>
              </a:ext>
            </a:extLst>
          </p:cNvPr>
          <p:cNvSpPr/>
          <p:nvPr/>
        </p:nvSpPr>
        <p:spPr>
          <a:xfrm>
            <a:off x="1825568" y="5074920"/>
            <a:ext cx="1539240" cy="824395"/>
          </a:xfrm>
          <a:prstGeom prst="roundRect">
            <a:avLst/>
          </a:prstGeom>
          <a:solidFill>
            <a:srgbClr val="21049A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86,7%
</a:t>
            </a:r>
            <a:r>
              <a:rPr lang="en-US" sz="1170" dirty="0" err="1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pontuaram</a:t>
            </a:r>
            <a:r>
              <a:rPr lang="en-US" sz="1170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≥ 80</a:t>
            </a:r>
            <a:endParaRPr lang="en-US" sz="2900" dirty="0">
              <a:solidFill>
                <a:srgbClr val="E94D1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CD9C3820-2EE1-6EDC-D16D-812E1922D7C2}"/>
              </a:ext>
            </a:extLst>
          </p:cNvPr>
          <p:cNvSpPr/>
          <p:nvPr/>
        </p:nvSpPr>
        <p:spPr>
          <a:xfrm>
            <a:off x="1825568" y="3840480"/>
            <a:ext cx="1539240" cy="824395"/>
          </a:xfrm>
          <a:prstGeom prst="roundRect">
            <a:avLst/>
          </a:prstGeom>
          <a:solidFill>
            <a:srgbClr val="21049A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92,5
</a:t>
            </a:r>
            <a:r>
              <a:rPr lang="en-US" sz="1170" dirty="0" err="1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mediana</a:t>
            </a:r>
            <a:endParaRPr lang="en-US" sz="2900" dirty="0">
              <a:solidFill>
                <a:srgbClr val="E94D1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6104126-B2F1-4178-E88D-143BAC637A83}"/>
              </a:ext>
            </a:extLst>
          </p:cNvPr>
          <p:cNvSpPr/>
          <p:nvPr/>
        </p:nvSpPr>
        <p:spPr>
          <a:xfrm>
            <a:off x="1825568" y="2606040"/>
            <a:ext cx="1539240" cy="824395"/>
          </a:xfrm>
          <a:prstGeom prst="roundRect">
            <a:avLst/>
          </a:prstGeom>
          <a:solidFill>
            <a:srgbClr val="21049A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90,4
</a:t>
            </a:r>
            <a:r>
              <a:rPr lang="pt-BR" sz="1170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média geral / 100</a:t>
            </a:r>
            <a:endParaRPr lang="en-US" sz="2900" dirty="0">
              <a:solidFill>
                <a:srgbClr val="E94D1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0" name="Nota SUS"/>
          <p:cNvSpPr txBox="1"/>
          <p:nvPr/>
        </p:nvSpPr>
        <p:spPr>
          <a:xfrm>
            <a:off x="411480" y="1874520"/>
            <a:ext cx="420624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Itens próprios, reescalados de 0 a 100 como no SUS. Não é o SUS padrão nem se compara aos benchmarks do SUS. Escala completa: α = 0,832.</a:t>
            </a:r>
          </a:p>
        </p:txBody>
      </p:sp>
      <p:sp>
        <p:nvSpPr>
          <p:cNvPr id="191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04151433-13F2-4292-8530-ECACE872AD88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17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1590445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5FE90-3C3D-9CFF-B10B-4ED42DC51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1EA31A27-C7A6-4BFF-38FA-7A06A8FA1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81ED1A8D-1705-CB98-B7B9-210FFA7D45DF}"/>
              </a:ext>
            </a:extLst>
          </p:cNvPr>
          <p:cNvSpPr txBox="1"/>
          <p:nvPr/>
        </p:nvSpPr>
        <p:spPr>
          <a:xfrm>
            <a:off x="5940815" y="359067"/>
            <a:ext cx="6098785" cy="540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pt-BR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Feedback qualitativo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2476C94-42E8-7F9F-8E5C-F06286D61F34}"/>
              </a:ext>
            </a:extLst>
          </p:cNvPr>
          <p:cNvSpPr txBox="1"/>
          <p:nvPr/>
        </p:nvSpPr>
        <p:spPr>
          <a:xfrm>
            <a:off x="5515935" y="984456"/>
            <a:ext cx="5914066" cy="2009061"/>
          </a:xfrm>
          <a:prstGeom prst="roundRect">
            <a:avLst/>
          </a:prstGeom>
          <a:solidFill>
            <a:srgbClr val="E94D1C"/>
          </a:solidFill>
        </p:spPr>
        <p:txBody>
          <a:bodyPr wrap="square">
            <a:spAutoFit/>
          </a:bodyPr>
          <a:lstStyle/>
          <a:p>
            <a:pPr algn="just"/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•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Reforçaram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a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ideia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de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leitura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mais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clara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e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rápida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.</a:t>
            </a:r>
          </a:p>
          <a:p>
            <a:pPr algn="just"/>
            <a:endParaRPr lang="en-US" sz="1600" dirty="0">
              <a:solidFill>
                <a:schemeClr val="bg1"/>
              </a:solidFill>
              <a:latin typeface="Roboto Bold" panose="02000000000000000000" pitchFamily="2" charset="0"/>
              <a:ea typeface="Roboto Bold" panose="02000000000000000000" pitchFamily="2" charset="0"/>
              <a:cs typeface="Roboto Bold" panose="02000000000000000000" pitchFamily="2" charset="0"/>
            </a:endParaRPr>
          </a:p>
          <a:p>
            <a:pPr algn="just"/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• O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sistema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foi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visto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como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apoio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para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triagem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, overview e consulta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inicial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.</a:t>
            </a:r>
          </a:p>
          <a:p>
            <a:pPr algn="just"/>
            <a:endParaRPr lang="en-US" sz="1600" dirty="0">
              <a:solidFill>
                <a:schemeClr val="bg1"/>
              </a:solidFill>
              <a:latin typeface="Roboto Bold" panose="02000000000000000000" pitchFamily="2" charset="0"/>
              <a:ea typeface="Roboto Bold" panose="02000000000000000000" pitchFamily="2" charset="0"/>
              <a:cs typeface="Roboto Bold" panose="02000000000000000000" pitchFamily="2" charset="0"/>
            </a:endParaRPr>
          </a:p>
          <a:p>
            <a:pPr algn="just"/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• As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melhorias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pedidas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foram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refinamentos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: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mais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detalhes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,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formatação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,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glossário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e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velocidade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4ABE198-524A-7417-6A83-ABCE32008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1279" y="3133991"/>
            <a:ext cx="6863378" cy="3583534"/>
          </a:xfrm>
          <a:prstGeom prst="rect">
            <a:avLst/>
          </a:prstGeom>
        </p:spPr>
      </p:pic>
      <p:sp>
        <p:nvSpPr>
          <p:cNvPr id="11" name="Número do slide"/>
          <p:cNvSpPr/>
          <p:nvPr userDrawn="1"/>
        </p:nvSpPr>
        <p:spPr>
          <a:xfrm>
            <a:off x="11631168" y="274320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2E0994A9-F42B-4D50-A7EF-6BB1506EBA64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18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17214930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E21C2073-BC84-F7EA-6D19-F5D83519A9B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85800" y="640080"/>
            <a:ext cx="5120640" cy="768096"/>
          </a:xfrm>
        </p:spPr>
        <p:txBody>
          <a:bodyPr/>
          <a:lstStyle/>
          <a:p>
            <a:r>
              <a:rPr lang="pt-BR" dirty="0"/>
              <a:t>Avaliação de performance (</a:t>
            </a:r>
            <a:r>
              <a:rPr lang="pt-BR" dirty="0" err="1"/>
              <a:t>backend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814DF2-AE9D-DC82-B6F2-0AC3FA96FBB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85800" y="1481328"/>
            <a:ext cx="5410200" cy="1005840"/>
          </a:xfrm>
        </p:spPr>
        <p:txBody>
          <a:bodyPr/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400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Notebook de alto desempenho: i9-13900HX e RTX 4070 (8 GB)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Petição de 4.392 palavras, nível médio, 10 execuções</a:t>
            </a:r>
          </a:p>
        </p:txBody>
      </p:sp>
      <p:sp>
        <p:nvSpPr>
          <p:cNvPr id="200" name="Stat 1min31s"/>
          <p:cNvSpPr/>
          <p:nvPr/>
        </p:nvSpPr>
        <p:spPr>
          <a:xfrm>
            <a:off x="685800" y="2651760"/>
            <a:ext cx="16916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pt-BR" sz="2600" b="1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1min31s</a:t>
            </a:r>
            <a:br>
              <a:rPr lang="pt-BR" sz="2600" dirty="0"/>
            </a:br>
            <a:r>
              <a:rPr lang="pt-BR" sz="1100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por documento (média)</a:t>
            </a:r>
          </a:p>
        </p:txBody>
      </p:sp>
      <p:sp>
        <p:nvSpPr>
          <p:cNvPr id="201" name="Stat 21 s"/>
          <p:cNvSpPr/>
          <p:nvPr/>
        </p:nvSpPr>
        <p:spPr>
          <a:xfrm>
            <a:off x="2514600" y="2651760"/>
            <a:ext cx="16916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pt-BR" sz="2600" b="1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21 s</a:t>
            </a:r>
            <a:br>
              <a:rPr lang="pt-BR" sz="2600" dirty="0"/>
            </a:br>
            <a:r>
              <a:rPr lang="pt-BR" sz="1100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por 1.000 palavras</a:t>
            </a:r>
          </a:p>
        </p:txBody>
      </p:sp>
      <p:sp>
        <p:nvSpPr>
          <p:cNvPr id="202" name="Stat 95%"/>
          <p:cNvSpPr/>
          <p:nvPr/>
        </p:nvSpPr>
        <p:spPr>
          <a:xfrm>
            <a:off x="4343400" y="2651760"/>
            <a:ext cx="16916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pt-BR" sz="2600" b="1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95%</a:t>
            </a:r>
            <a:br>
              <a:rPr lang="pt-BR" sz="2600" dirty="0"/>
            </a:br>
            <a:r>
              <a:rPr lang="pt-BR" sz="1100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uso médio da GPU</a:t>
            </a:r>
            <a:br>
              <a:rPr lang="pt-BR" sz="1100" dirty="0"/>
            </a:br>
            <a:r>
              <a:rPr lang="pt-BR" sz="1100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VRAM: 6,4 de 8 GB</a:t>
            </a:r>
          </a:p>
        </p:txBody>
      </p:sp>
      <p:sp>
        <p:nvSpPr>
          <p:cNvPr id="203" name="Stat 5 de 5"/>
          <p:cNvSpPr/>
          <p:nvPr/>
        </p:nvSpPr>
        <p:spPr>
          <a:xfrm>
            <a:off x="685800" y="3703320"/>
            <a:ext cx="16916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pt-BR" sz="2600" b="1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5 de 5</a:t>
            </a:r>
            <a:br>
              <a:rPr lang="pt-BR" sz="2600" dirty="0"/>
            </a:br>
            <a:r>
              <a:rPr lang="pt-BR" sz="1100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blocos aceitos</a:t>
            </a:r>
            <a:br>
              <a:rPr lang="pt-BR" sz="1100" dirty="0"/>
            </a:br>
            <a:r>
              <a:rPr lang="pt-BR" sz="1100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 modelo</a:t>
            </a:r>
          </a:p>
        </p:txBody>
      </p:sp>
      <p:sp>
        <p:nvSpPr>
          <p:cNvPr id="204" name="Stat 10 de 10"/>
          <p:cNvSpPr/>
          <p:nvPr/>
        </p:nvSpPr>
        <p:spPr>
          <a:xfrm>
            <a:off x="2514600" y="3703320"/>
            <a:ext cx="16916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pt-BR" sz="2600" b="1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10 de 10</a:t>
            </a:r>
            <a:br>
              <a:rPr lang="pt-BR" sz="2600" dirty="0"/>
            </a:br>
            <a:r>
              <a:rPr lang="pt-BR" sz="1100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validações finais</a:t>
            </a:r>
            <a:br>
              <a:rPr lang="pt-BR" sz="1100" dirty="0"/>
            </a:br>
            <a:r>
              <a:rPr lang="pt-BR" sz="1100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aprovadas</a:t>
            </a:r>
          </a:p>
        </p:txBody>
      </p:sp>
      <p:sp>
        <p:nvSpPr>
          <p:cNvPr id="205" name="Stat 26%"/>
          <p:cNvSpPr/>
          <p:nvPr/>
        </p:nvSpPr>
        <p:spPr>
          <a:xfrm>
            <a:off x="4343400" y="3703320"/>
            <a:ext cx="16916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pt-BR" sz="2600" b="1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26%</a:t>
            </a:r>
            <a:br>
              <a:rPr lang="pt-BR" sz="2600" dirty="0"/>
            </a:br>
            <a:r>
              <a:rPr lang="pt-BR" sz="1100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 tamanho original</a:t>
            </a:r>
            <a:br>
              <a:rPr lang="pt-BR" sz="1100" dirty="0"/>
            </a:br>
            <a:r>
              <a:rPr lang="pt-BR" sz="1100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(1.144 palavras)</a:t>
            </a:r>
          </a:p>
        </p:txBody>
      </p:sp>
      <p:sp>
        <p:nvSpPr>
          <p:cNvPr id="210" name="Checagem de preservacao"/>
          <p:cNvSpPr txBox="1"/>
          <p:nvPr/>
        </p:nvSpPr>
        <p:spPr>
          <a:xfrm>
            <a:off x="685800" y="475488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Checagem de preservação: </a:t>
            </a:r>
            <a:r>
              <a:rPr lang="pt-BR" sz="14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manteve as partes, os valores e os 10 pedidos; perdeu parte da fundamentação jurídica (competência, legitimidade e algumas citações).</a:t>
            </a:r>
          </a:p>
        </p:txBody>
      </p:sp>
      <p:sp>
        <p:nvSpPr>
          <p:cNvPr id="211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C8C8D4CD-38F6-44D0-A620-C949B483D660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19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37394894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625EFF7A-989A-5A81-62F9-5ED59FE36ED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pt-BR" dirty="0"/>
              <a:t>O QUE OS RESULTADOS INDICAM?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BFBAD9-4752-2F8F-A210-106D6583A3C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O LASCAS foi percebido como uma </a:t>
            </a:r>
            <a:r>
              <a:rPr lang="pt-BR" dirty="0">
                <a:solidFill>
                  <a:srgbClr val="E94D1C"/>
                </a:solidFill>
              </a:rPr>
              <a:t>camada de apoio</a:t>
            </a:r>
            <a:r>
              <a:rPr lang="pt-BR" dirty="0"/>
              <a:t>, não como substituto da leitura jurídica especializada.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EE8BBC4-683C-E510-5632-AA1649C02942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pt-BR" sz="1400" dirty="0"/>
              <a:t>• Ajuda na primeira leitura: entender tema, função do documento e pontos principais.</a:t>
            </a:r>
          </a:p>
          <a:p>
            <a:pPr>
              <a:lnSpc>
                <a:spcPct val="100000"/>
              </a:lnSpc>
            </a:pPr>
            <a:endParaRPr lang="pt-BR" sz="1400" dirty="0"/>
          </a:p>
          <a:p>
            <a:pPr>
              <a:lnSpc>
                <a:spcPct val="100000"/>
              </a:lnSpc>
            </a:pPr>
            <a:r>
              <a:rPr lang="pt-BR" sz="1400" dirty="0"/>
              <a:t>• Apoia triagem: decidir onde concentrar atenção antes de leitura técnica completa.</a:t>
            </a:r>
          </a:p>
          <a:p>
            <a:pPr>
              <a:lnSpc>
                <a:spcPct val="100000"/>
              </a:lnSpc>
            </a:pPr>
            <a:endParaRPr lang="pt-BR" sz="1400" dirty="0"/>
          </a:p>
          <a:p>
            <a:pPr>
              <a:lnSpc>
                <a:spcPct val="100000"/>
              </a:lnSpc>
            </a:pPr>
            <a:r>
              <a:rPr lang="pt-BR" sz="1400" dirty="0"/>
              <a:t>• A interface não virou nova barreira: facilidade de uso e aprendizagem ficaram muito altas.</a:t>
            </a:r>
          </a:p>
          <a:p>
            <a:pPr>
              <a:lnSpc>
                <a:spcPct val="100000"/>
              </a:lnSpc>
            </a:pPr>
            <a:endParaRPr lang="pt-BR" sz="1400" dirty="0"/>
          </a:p>
          <a:p>
            <a:pPr>
              <a:lnSpc>
                <a:spcPct val="100000"/>
              </a:lnSpc>
            </a:pPr>
            <a:r>
              <a:rPr lang="pt-BR" sz="1400" dirty="0"/>
              <a:t>• O valor está no conjunto: documento + simplificação + validação + apresentação.</a:t>
            </a:r>
          </a:p>
          <a:p>
            <a:endParaRPr lang="pt-BR" sz="1200" dirty="0"/>
          </a:p>
        </p:txBody>
      </p:sp>
      <p:sp>
        <p:nvSpPr>
          <p:cNvPr id="5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BC005CA0-AAD9-4659-A330-C4E95C3AA7FA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20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1551323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1A3B5B3-71DA-FA10-F83C-C85D067FF4F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17580" y="72721"/>
            <a:ext cx="5158062" cy="1118045"/>
          </a:xfrm>
        </p:spPr>
        <p:txBody>
          <a:bodyPr/>
          <a:lstStyle/>
          <a:p>
            <a:r>
              <a:rPr lang="pt-BR" sz="3200" dirty="0"/>
              <a:t>Posicionamento frente aos trabalhos relacionados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DD9C50E-83BE-5343-D5E4-49E6FC33C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23" y="1799806"/>
            <a:ext cx="6012898" cy="3507524"/>
          </a:xfrm>
          <a:prstGeom prst="rect">
            <a:avLst/>
          </a:prstGeom>
        </p:spPr>
      </p:pic>
      <p:sp>
        <p:nvSpPr>
          <p:cNvPr id="7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583E8046-5564-44FB-BE09-F41073623A9C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21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38920187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463DE16-1186-E5B6-3CF1-41129E63C30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9619" y="368122"/>
            <a:ext cx="6734546" cy="1118045"/>
          </a:xfrm>
        </p:spPr>
        <p:txBody>
          <a:bodyPr/>
          <a:lstStyle/>
          <a:p>
            <a:r>
              <a:rPr lang="pt-BR" dirty="0"/>
              <a:t>LIMITAÇÕES E PRÓXIMOS PASSOS</a:t>
            </a:r>
          </a:p>
        </p:txBody>
      </p:sp>
      <p:sp>
        <p:nvSpPr>
          <p:cNvPr id="240" name="Limitacoes"/>
          <p:cNvSpPr txBox="1"/>
          <p:nvPr/>
        </p:nvSpPr>
        <p:spPr>
          <a:xfrm>
            <a:off x="548640" y="3429000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Limitações</a:t>
            </a:r>
          </a:p>
        </p:txBody>
      </p:sp>
      <p:sp>
        <p:nvSpPr>
          <p:cNvPr id="241" name="Lista limitacoes"/>
          <p:cNvSpPr txBox="1"/>
          <p:nvPr/>
        </p:nvSpPr>
        <p:spPr>
          <a:xfrm>
            <a:off x="548640" y="3931920"/>
            <a:ext cx="5394960" cy="23774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700"/>
              </a:spcAft>
              <a:buClr>
                <a:srgbClr val="E94D1C"/>
              </a:buClr>
              <a:buFont typeface="Arial" panose="020B0604020202020204" pitchFamily="34" charset="0"/>
              <a:buChar char="•"/>
            </a:pPr>
            <a:r>
              <a:rPr lang="pt-BR" sz="150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Amostra por conveniência e autorrelato: mede percepção, não compreensão.</a:t>
            </a:r>
          </a:p>
          <a:p>
            <a:pPr marL="228600" indent="-228600" algn="l">
              <a:spcBef>
                <a:spcPts val="0"/>
              </a:spcBef>
              <a:spcAft>
                <a:spcPts val="700"/>
              </a:spcAft>
              <a:buClr>
                <a:srgbClr val="E94D1C"/>
              </a:buClr>
              <a:buFont typeface="Arial" panose="020B0604020202020204" pitchFamily="34" charset="0"/>
              <a:buChar char="•"/>
            </a:pPr>
            <a:r>
              <a:rPr lang="pt-BR" sz="150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Um único documento, o mesmo para todos, e só o nível médio.</a:t>
            </a:r>
          </a:p>
          <a:p>
            <a:pPr marL="228600" indent="-228600" algn="l">
              <a:spcBef>
                <a:spcPts val="0"/>
              </a:spcBef>
              <a:spcAft>
                <a:spcPts val="700"/>
              </a:spcAft>
              <a:buClr>
                <a:srgbClr val="E94D1C"/>
              </a:buClr>
              <a:buFont typeface="Arial" panose="020B0604020202020204" pitchFamily="34" charset="0"/>
              <a:buChar char="•"/>
            </a:pPr>
            <a:r>
              <a:rPr lang="pt-BR" sz="150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 saída mantém partes, valores e pedidos, mas perde parte da fundamentação.</a:t>
            </a:r>
          </a:p>
          <a:p>
            <a:pPr marL="228600" indent="-228600" algn="l">
              <a:spcBef>
                <a:spcPts val="0"/>
              </a:spcBef>
              <a:spcAft>
                <a:spcPts val="700"/>
              </a:spcAft>
              <a:buClr>
                <a:srgbClr val="E94D1C"/>
              </a:buClr>
              <a:buFont typeface="Arial" panose="020B0604020202020204" pitchFamily="34" charset="0"/>
              <a:buChar char="•"/>
            </a:pPr>
            <a:r>
              <a:rPr lang="pt-BR" sz="150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Depende do hardware local e não tem OCR para PDFs escaneados.</a:t>
            </a:r>
          </a:p>
        </p:txBody>
      </p:sp>
      <p:sp>
        <p:nvSpPr>
          <p:cNvPr id="242" name="Proximos passos"/>
          <p:cNvSpPr txBox="1"/>
          <p:nvPr/>
        </p:nvSpPr>
        <p:spPr>
          <a:xfrm>
            <a:off x="6263640" y="34290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Próximos passos</a:t>
            </a:r>
          </a:p>
        </p:txBody>
      </p:sp>
      <p:sp>
        <p:nvSpPr>
          <p:cNvPr id="243" name="Passo Avaliação mais forte: "/>
          <p:cNvSpPr/>
          <p:nvPr/>
        </p:nvSpPr>
        <p:spPr>
          <a:xfrm>
            <a:off x="6263640" y="3931920"/>
            <a:ext cx="4572000" cy="603504"/>
          </a:xfrm>
          <a:prstGeom prst="roundRect">
            <a:avLst/>
          </a:prstGeom>
          <a:solidFill>
            <a:srgbClr val="E94D1C"/>
          </a:solidFill>
          <a:ln>
            <a:noFill/>
          </a:ln>
        </p:spPr>
        <p:txBody>
          <a:bodyPr wrap="square" lIns="137160" tIns="36576" rIns="109728" bIns="36576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Avaliação mais forte: </a:t>
            </a:r>
            <a:r>
              <a:rPr lang="pt-BR" sz="14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tarefas objetivas de compreensão e tempo de leitura.</a:t>
            </a:r>
          </a:p>
        </p:txBody>
      </p:sp>
      <p:sp>
        <p:nvSpPr>
          <p:cNvPr id="244" name="Passo Qualidade técnica: "/>
          <p:cNvSpPr/>
          <p:nvPr/>
        </p:nvSpPr>
        <p:spPr>
          <a:xfrm>
            <a:off x="6263640" y="4645152"/>
            <a:ext cx="4572000" cy="603504"/>
          </a:xfrm>
          <a:prstGeom prst="roundRect">
            <a:avLst/>
          </a:prstGeom>
          <a:solidFill>
            <a:srgbClr val="E94D1C"/>
          </a:solidFill>
          <a:ln>
            <a:noFill/>
          </a:ln>
        </p:spPr>
        <p:txBody>
          <a:bodyPr wrap="square" lIns="137160" tIns="36576" rIns="109728" bIns="36576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Qualidade técnica: </a:t>
            </a:r>
            <a:r>
              <a:rPr lang="pt-BR" sz="14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OCR e otimização para documentos longos.</a:t>
            </a:r>
          </a:p>
        </p:txBody>
      </p:sp>
      <p:sp>
        <p:nvSpPr>
          <p:cNvPr id="245" name="Passo Domínio jurídico: "/>
          <p:cNvSpPr/>
          <p:nvPr/>
        </p:nvSpPr>
        <p:spPr>
          <a:xfrm>
            <a:off x="6263640" y="5358384"/>
            <a:ext cx="4572000" cy="603504"/>
          </a:xfrm>
          <a:prstGeom prst="roundRect">
            <a:avLst/>
          </a:prstGeom>
          <a:solidFill>
            <a:srgbClr val="E94D1C"/>
          </a:solidFill>
          <a:ln>
            <a:noFill/>
          </a:ln>
        </p:spPr>
        <p:txBody>
          <a:bodyPr wrap="square" lIns="137160" tIns="36576" rIns="109728" bIns="36576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Domínio jurídico: </a:t>
            </a:r>
            <a:r>
              <a:rPr lang="pt-BR" sz="14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glossário maior e modelos adaptados ao português jurídico.</a:t>
            </a:r>
          </a:p>
        </p:txBody>
      </p:sp>
      <p:sp>
        <p:nvSpPr>
          <p:cNvPr id="246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B251E4F2-6ADB-4E4D-B032-FBF9043F7FCC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22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4363266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B15D18C-687C-345D-1E6E-29D37DF63F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015700" y="502920"/>
            <a:ext cx="4391941" cy="599579"/>
          </a:xfrm>
        </p:spPr>
        <p:txBody>
          <a:bodyPr/>
          <a:lstStyle/>
          <a:p>
            <a:pPr algn="ctr"/>
            <a:r>
              <a:rPr lang="pt-BR" sz="5400" b="1" dirty="0">
                <a:solidFill>
                  <a:srgbClr val="E94D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LASCAS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7430827-EEA0-02D6-6B6B-A9BCF914A97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257800" y="1737360"/>
            <a:ext cx="5897880" cy="2057400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 dirty="0">
                <a:solidFill>
                  <a:srgbClr val="21049A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Dentro dos limites desta avaliação, um modelo de linguagem local consegue apoiar a simplificação de textos jurídicos quando trabalha dentro de um pipeline que normaliza a entrada, protege e valida o essencial, tem fallback determinístico e mostra o resultado ao lado do original.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944FBCCE-3EFC-1561-E9C5-44DEB0445BA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40680" y="4069080"/>
            <a:ext cx="5532120" cy="1280160"/>
          </a:xfrm>
        </p:spPr>
        <p:txBody>
          <a:bodyPr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 simplificação jurídica mais segura não é só geração de texto: exige processamento de documento, salvaguardas semânticas, linguagem simples e uma interface que apoie a leitura.</a:t>
            </a:r>
          </a:p>
        </p:txBody>
      </p:sp>
      <p:sp>
        <p:nvSpPr>
          <p:cNvPr id="10" name="Rounded Rectangle 21">
            <a:extLst>
              <a:ext uri="{FF2B5EF4-FFF2-40B4-BE49-F238E27FC236}">
                <a16:creationId xmlns:a16="http://schemas.microsoft.com/office/drawing/2014/main" id="{CF45FC25-604D-CED8-15BE-4075ED0CAA6D}"/>
              </a:ext>
            </a:extLst>
          </p:cNvPr>
          <p:cNvSpPr/>
          <p:nvPr/>
        </p:nvSpPr>
        <p:spPr>
          <a:xfrm>
            <a:off x="6569364" y="5650964"/>
            <a:ext cx="3099608" cy="475488"/>
          </a:xfrm>
          <a:prstGeom prst="roundRect">
            <a:avLst/>
          </a:prstGeom>
          <a:solidFill>
            <a:srgbClr val="F5F7FB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l"/>
            <a:r>
              <a:rPr sz="1150">
                <a:solidFill>
                  <a:srgbClr val="49536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Repositório: </a:t>
            </a:r>
            <a:r>
              <a:rPr sz="1150" u="sng">
                <a:solidFill>
                  <a:srgbClr val="2F75E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github.com/StukerVitor/tcc_2</a:t>
            </a:r>
          </a:p>
        </p:txBody>
      </p:sp>
      <p:sp>
        <p:nvSpPr>
          <p:cNvPr id="250" name="Rotulo resposta"/>
          <p:cNvSpPr txBox="1"/>
          <p:nvPr/>
        </p:nvSpPr>
        <p:spPr>
          <a:xfrm>
            <a:off x="5257800" y="1298448"/>
            <a:ext cx="58978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E94D1C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RESPOSTA À QUESTÃO DE PESQUISA</a:t>
            </a:r>
          </a:p>
        </p:txBody>
      </p:sp>
      <p:sp>
        <p:nvSpPr>
          <p:cNvPr id="251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2A531712-DF15-4911-A5F2-12BC5B956741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23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40703484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Diagrama, Desenho técnico&#10;&#10;O conteúdo gerado por IA pode estar incorreto.">
            <a:extLst>
              <a:ext uri="{FF2B5EF4-FFF2-40B4-BE49-F238E27FC236}">
                <a16:creationId xmlns:a16="http://schemas.microsoft.com/office/drawing/2014/main" id="{53407B26-3B78-365B-D686-303A129B4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79107DC2-AF8A-3A77-1592-DB230FB9E2C7}"/>
              </a:ext>
            </a:extLst>
          </p:cNvPr>
          <p:cNvSpPr txBox="1"/>
          <p:nvPr/>
        </p:nvSpPr>
        <p:spPr>
          <a:xfrm>
            <a:off x="1198964" y="1347173"/>
            <a:ext cx="9313962" cy="981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CLOSING THE COMPREHENSION GAP WITH LOCAL-FIRST LEGAL AI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DB1499A-5112-01E4-CF58-B5F250916ACE}"/>
              </a:ext>
            </a:extLst>
          </p:cNvPr>
          <p:cNvSpPr txBox="1"/>
          <p:nvPr/>
        </p:nvSpPr>
        <p:spPr>
          <a:xfrm>
            <a:off x="1198964" y="854210"/>
            <a:ext cx="6591365" cy="291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pt-BR" sz="16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Trabalho de Conclusão de Curso de Ciência da Computação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B7D3683-69A5-7566-5601-71A491ED3138}"/>
              </a:ext>
            </a:extLst>
          </p:cNvPr>
          <p:cNvSpPr txBox="1"/>
          <p:nvPr/>
        </p:nvSpPr>
        <p:spPr>
          <a:xfrm>
            <a:off x="1198964" y="2530519"/>
            <a:ext cx="9715015" cy="341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Simplificação de textos jurídicos brasileiros como recurso de acessibilidade cognitiva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6043C87-8241-7E0C-5451-70FAAB4A877A}"/>
              </a:ext>
            </a:extLst>
          </p:cNvPr>
          <p:cNvSpPr txBox="1"/>
          <p:nvPr/>
        </p:nvSpPr>
        <p:spPr>
          <a:xfrm>
            <a:off x="8116249" y="6027126"/>
            <a:ext cx="3667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Aluno</a:t>
            </a:r>
            <a:r>
              <a:rPr lang="en-US" sz="1400" dirty="0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: Vitor </a:t>
            </a:r>
            <a:r>
              <a:rPr lang="en-US" sz="1400" dirty="0" err="1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Stüker</a:t>
            </a:r>
            <a:r>
              <a:rPr lang="en-US" sz="1400" dirty="0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de Almeida</a:t>
            </a:r>
          </a:p>
          <a:p>
            <a:r>
              <a:rPr lang="en-US" sz="1400" dirty="0" err="1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Orientador</a:t>
            </a:r>
            <a:r>
              <a:rPr lang="en-US" sz="1400" dirty="0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: Prof. Dr. Alex Roehrs · 2026</a:t>
            </a:r>
            <a:endParaRPr lang="en-US" sz="14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24225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unisino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a unisinos" id="{0EDEEB91-0736-441F-A7F5-4FA5717EFDDE}" vid="{6FB48B3F-96BA-4BC3-92BE-A09E0B32FF42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958131E-81B1-4828-95B2-C081124A8C73}">
  <we:reference id="wa200010001" version="1.0.0.1" store="en-US" storeType="OMEX"/>
  <we:alternateReferences>
    <we:reference id="wa200010001" version="1.0.0.1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fb5f026-dc7b-485f-82fe-577aafb4abaa">
      <Terms xmlns="http://schemas.microsoft.com/office/infopath/2007/PartnerControls"/>
    </lcf76f155ced4ddcb4097134ff3c332f>
    <TaxCatchAll xmlns="9970e0e6-68bd-454a-b013-2dc3f312d27d" xsi:nil="true"/>
    <Que_x0020_tipo_x0020_de_x0020_profissional_x0020_voc_x00ea__x0020_acredita_x0020_que_x0020_mais_x0020_se_x0020_beneficia_x0020_deste_x0020_curso_x0020_hoje_x0020__x0028_perfil_x0020_t_x00e9_cnico_x002c__x0020_momento_x0020_de_x0020_carreira_x002c__x0020_lacunas_x0020_que_x0020_o_x0020_curso_x0020_supre_x0029__x003f_ xmlns="5fb5f026-dc7b-485f-82fe-577aafb4abaa">a</Que_x0020_tipo_x0020_de_x0020_profissional_x0020_voc_x00ea__x0020_acredita_x0020_que_x0020_mais_x0020_se_x0020_beneficia_x0020_deste_x0020_curso_x0020_hoje_x0020__x0028_perfil_x0020_t_x00e9_cnico_x002c__x0020_momento_x0020_de_x0020_carreira_x002c__x0020_lacunas_x0020_que_x0020_o_x0020_curso_x0020_supre_x0029__x003f_>
    <Na_x0020_sua_x0020_vis_x00e3_o_x002c__x0020_qual_x0020__x00e9__x0020_o_x0020_principal_x0020_diferencial_x0020_dos_x0020_cursos_x0020_em_x0020_rela_x00e7__x00e3_o_x0020_a_x0020_outras_x0020_especializa_x00e7__x00f5_es_x0020_semelhantes_x0020_no_x0020_Brasil_x003f_ xmlns="5fb5f026-dc7b-485f-82fe-577aafb4abaa">a</Na_x0020_sua_x0020_vis_x00e3_o_x002c__x0020_qual_x0020__x00e9__x0020_o_x0020_principal_x0020_diferencial_x0020_dos_x0020_cursos_x0020_em_x0020_rela_x00e7__x00e3_o_x0020_a_x0020_outras_x0020_especializa_x00e7__x00f5_es_x0020_semelhantes_x0020_no_x0020_Brasil_x003f_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85AD953FC666642937FCE52CC8B4A6A" ma:contentTypeVersion="21" ma:contentTypeDescription="Crie um novo documento." ma:contentTypeScope="" ma:versionID="a0f0a53631578753e0de4c39d7473101">
  <xsd:schema xmlns:xsd="http://www.w3.org/2001/XMLSchema" xmlns:xs="http://www.w3.org/2001/XMLSchema" xmlns:p="http://schemas.microsoft.com/office/2006/metadata/properties" xmlns:ns2="5fb5f026-dc7b-485f-82fe-577aafb4abaa" xmlns:ns3="9970e0e6-68bd-454a-b013-2dc3f312d27d" targetNamespace="http://schemas.microsoft.com/office/2006/metadata/properties" ma:root="true" ma:fieldsID="1cb42779a8c523c71ef9e1ae6bb42114" ns2:_="" ns3:_="">
    <xsd:import namespace="5fb5f026-dc7b-485f-82fe-577aafb4abaa"/>
    <xsd:import namespace="9970e0e6-68bd-454a-b013-2dc3f312d2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  <xsd:element ref="ns2:Na_x0020_sua_x0020_vis_x00e3_o_x002c__x0020_qual_x0020__x00e9__x0020_o_x0020_principal_x0020_diferencial_x0020_dos_x0020_cursos_x0020_em_x0020_rela_x00e7__x00e3_o_x0020_a_x0020_outras_x0020_especializa_x00e7__x00f5_es_x0020_semelhantes_x0020_no_x0020_Brasil_x003f_"/>
                <xsd:element ref="ns2:Que_x0020_tipo_x0020_de_x0020_profissional_x0020_voc_x00ea__x0020_acredita_x0020_que_x0020_mais_x0020_se_x0020_beneficia_x0020_deste_x0020_curso_x0020_hoje_x0020__x0028_perfil_x0020_t_x00e9_cnico_x002c__x0020_momento_x0020_de_x0020_carreira_x002c__x0020_lacunas_x0020_que_x0020_o_x0020_curso_x0020_supre_x0029__x003f_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b5f026-dc7b-485f-82fe-577aafb4ab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Marcações de imagem" ma:readOnly="false" ma:fieldId="{5cf76f15-5ced-4ddc-b409-7134ff3c332f}" ma:taxonomyMulti="true" ma:sspId="aac08c5c-6fe0-4712-b828-e958a9361e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  <xsd:element name="Na_x0020_sua_x0020_vis_x00e3_o_x002c__x0020_qual_x0020__x00e9__x0020_o_x0020_principal_x0020_diferencial_x0020_dos_x0020_cursos_x0020_em_x0020_rela_x00e7__x00e3_o_x0020_a_x0020_outras_x0020_especializa_x00e7__x00f5_es_x0020_semelhantes_x0020_no_x0020_Brasil_x003f_" ma:index="26" ma:displayName="Na sua visão, qual é o principal diferencial dos cursos em relação a outras especializações semelhantes no Brasil?" ma:internalName="Na_x0020_sua_x0020_vis_x00e3_o_x002c__x0020_qual_x0020__x00e9__x0020_o_x0020_principal_x0020_diferencial_x0020_dos_x0020_cursos_x0020_em_x0020_rela_x00e7__x00e3_o_x0020_a_x0020_outras_x0020_especializa_x00e7__x00f5_es_x0020_semelhantes_x0020_no_x0020_Brasil_x003f_">
      <xsd:simpleType>
        <xsd:restriction base="dms:Note">
          <xsd:maxLength value="255"/>
        </xsd:restriction>
      </xsd:simpleType>
    </xsd:element>
    <xsd:element name="Que_x0020_tipo_x0020_de_x0020_profissional_x0020_voc_x00ea__x0020_acredita_x0020_que_x0020_mais_x0020_se_x0020_beneficia_x0020_deste_x0020_curso_x0020_hoje_x0020__x0028_perfil_x0020_t_x00e9_cnico_x002c__x0020_momento_x0020_de_x0020_carreira_x002c__x0020_lacunas_x0020_que_x0020_o_x0020_curso_x0020_supre_x0029__x003f_" ma:index="27" ma:displayName="Que tipo de profissional você acredita que mais se beneficia deste curso hoje (perfil técnico, momento de carreira, lacunas que o curso supre)?" ma:internalName="Que_x0020_tipo_x0020_de_x0020_profissional_x0020_voc_x00ea__x0020_acredita_x0020_que_x0020_mais_x0020_se_x0020_beneficia_x0020_deste_x0020_curso_x0020_hoje_x0020__x0028_perfil_x0020_t_x00e9_cnico_x002c__x0020_momento_x0020_de_x0020_carreira_x002c__x0020_lacunas_x0020_que_x0020_o_x0020_curso_x0020_supre_x0029__x003f_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70e0e6-68bd-454a-b013-2dc3f312d27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f04e90fd-b40d-4e8a-9052-aed8cdd6606b}" ma:internalName="TaxCatchAll" ma:showField="CatchAllData" ma:web="9970e0e6-68bd-454a-b013-2dc3f312d2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D329F00-2A8C-46E7-9764-248AFFF1202A}">
  <ds:schemaRefs>
    <ds:schemaRef ds:uri="http://schemas.microsoft.com/office/2006/metadata/properties"/>
    <ds:schemaRef ds:uri="5fb5f026-dc7b-485f-82fe-577aafb4abaa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purl.org/dc/dcmitype/"/>
    <ds:schemaRef ds:uri="http://schemas.openxmlformats.org/package/2006/metadata/core-properties"/>
    <ds:schemaRef ds:uri="9970e0e6-68bd-454a-b013-2dc3f312d27d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504F551-2F4B-4ED5-8A86-9AF9523DAD5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EFE6DF0-C827-427D-A5C4-577D5E296F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b5f026-dc7b-485f-82fe-577aafb4abaa"/>
    <ds:schemaRef ds:uri="9970e0e6-68bd-454a-b013-2dc3f312d2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tema unisinos</Template>
  <TotalTime>1963</TotalTime>
  <Words>1951</Words>
  <Application>Microsoft Office PowerPoint</Application>
  <PresentationFormat>Widescreen</PresentationFormat>
  <Paragraphs>249</Paragraphs>
  <Slides>24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2" baseType="lpstr">
      <vt:lpstr>Arial</vt:lpstr>
      <vt:lpstr>Calibri</vt:lpstr>
      <vt:lpstr>Roboto</vt:lpstr>
      <vt:lpstr>Roboto Black</vt:lpstr>
      <vt:lpstr>Roboto Bold</vt:lpstr>
      <vt:lpstr>Roboto Light</vt:lpstr>
      <vt:lpstr>tema unisinos</vt:lpstr>
      <vt:lpstr>Acrobat Document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SEGURANÇA SEMÂNTICA: simplificar sem perder o essencial</vt:lpstr>
      <vt:lpstr>Apresentação do PowerPoint</vt:lpstr>
      <vt:lpstr>Apresentação do PowerPoint</vt:lpstr>
      <vt:lpstr>Apresentação do PowerPoint</vt:lpstr>
      <vt:lpstr>Metodologia da avaliação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Krause de Verney</dc:creator>
  <cp:lastModifiedBy>Vitor Stüker</cp:lastModifiedBy>
  <cp:revision>28</cp:revision>
  <cp:lastPrinted>2026-10-05T19:16:03Z</cp:lastPrinted>
  <dcterms:created xsi:type="dcterms:W3CDTF">2012-07-30T23:50:35Z</dcterms:created>
  <dcterms:modified xsi:type="dcterms:W3CDTF">2026-10-20T18:36:25Z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0x010100585AD953FC666642937FCE52CC8B4A6A</vt:lpwstr>
  </property>
  <property fmtid="{D5CDD505-2E9C-101B-9397-08002B2CF9AE}" pid="3" name="MediaServiceImageTags">
    <vt:lpwstr/>
  </property>
</Properties>
</file>